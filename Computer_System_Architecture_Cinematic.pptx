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Good morning everyone. I’ll be explaining the core hardware of a computer system. Together with Vedhanth and Lochan, we will walk you through how hardware components communicate, how memory hierarchies optimize speed and capacity, and how modern multiprocessing systems scale concurrent execution.</a:t>
            </a:r>
          </a:p>
          <a:p/>
          <a:p>
            <a:r>
              <a:t>2. KEY ARCHITECTURAL CONCEPT:</a:t>
            </a:r>
          </a:p>
          <a:p>
            <a:r>
              <a:t>Computer system architecture establishes the hardware foundation for operating system process management, memory allocation, and I/O handling.</a:t>
            </a:r>
          </a:p>
          <a:p/>
          <a:p>
            <a:r>
              <a:t>3. TRANSITION TO NEXT SLIDE:</a:t>
            </a:r>
          </a:p>
          <a:p>
            <a:r>
              <a:t>Let us begin with Slide 2 by examining the three core hardware components: the CPU, main memory, and I/O devices.</a:t>
            </a:r>
          </a:p>
          <a:p/>
          <a:p>
            <a:r>
              <a:t>4. PRESENTATION CUE:</a:t>
            </a:r>
          </a:p>
          <a:p>
            <a:r>
              <a:t>Stand center, introduce team members, gesture to the presenter cards.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A computer system mainly consists of three parts: the CPU, main memory, and I/O devices. The CPU is responsible for fetching, decoding, and executing instructions. Main memory stores the data and programs that are currently being used, while I/O devices help the computer communicate with the outside world.</a:t>
            </a:r>
          </a:p>
          <a:p/>
          <a:p>
            <a:r>
              <a:t>2. KEY ARCHITECTURAL CONCEPT:</a:t>
            </a:r>
          </a:p>
          <a:p>
            <a:r>
              <a:t>The CPU, RAM, and I/O form the triad of computer architecture; the CPU cannot run code that is not first loaded into main memory.</a:t>
            </a:r>
          </a:p>
          <a:p/>
          <a:p>
            <a:r>
              <a:t>3. TRANSITION TO NEXT SLIDE:</a:t>
            </a:r>
          </a:p>
          <a:p>
            <a:r>
              <a:t>Now let's examine how these three components communicate with each other over the system bus.</a:t>
            </a:r>
          </a:p>
          <a:p/>
          <a:p>
            <a:r>
              <a:t>4. PRESENTATION CUE:</a:t>
            </a:r>
          </a:p>
          <a:p>
            <a:r>
              <a:t>Point to the 3 distinct cards highlighting CPU, Main Memory, and I/O Devices.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These components communicate through a system bus, which has three parts: the address bus, which tells where the data should go; the data bus, which carries the actual data; and the control bus, which carries control signals.</a:t>
            </a:r>
          </a:p>
          <a:p/>
          <a:p>
            <a:r>
              <a:t>2. KEY ARCHITECTURAL CONCEPT:</a:t>
            </a:r>
          </a:p>
          <a:p>
            <a:r>
              <a:t>The system bus connects CPU, memory, and I/O controllers; bus width determines addressable memory limits and throughput bandwidth.</a:t>
            </a:r>
          </a:p>
          <a:p/>
          <a:p>
            <a:r>
              <a:t>3. TRANSITION TO NEXT SLIDE:</a:t>
            </a:r>
          </a:p>
          <a:p>
            <a:r>
              <a:t>Next, let's look at two critical concepts in hardware communication: Interrupts and DMA.</a:t>
            </a:r>
          </a:p>
          <a:p/>
          <a:p>
            <a:r>
              <a:t>4. PRESENTATION CUE:</a:t>
            </a:r>
          </a:p>
          <a:p>
            <a:r>
              <a:t>Trace the Address, Data, and Control lines on the diagram.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Two important concepts are interrupts and DMA. Interrupts allow devices to get the CPU’s attention when they need it. DMA allows devices to transfer data directly to memory without making the CPU handle every piece of data.</a:t>
            </a:r>
          </a:p>
          <a:p/>
          <a:p>
            <a:r>
              <a:t>2. KEY ARCHITECTURAL CONCEPT:</a:t>
            </a:r>
          </a:p>
          <a:p>
            <a:r>
              <a:t>Interrupts eliminate busy-wait polling overhead; DMA offloads byte-by-byte data transfer from the CPU.</a:t>
            </a:r>
          </a:p>
          <a:p/>
          <a:p>
            <a:r>
              <a:t>3. TRANSITION TO NEXT SLIDE:</a:t>
            </a:r>
          </a:p>
          <a:p>
            <a:r>
              <a:t>Let us summarize how core hardware components integrate before moving to memory hierarchy.</a:t>
            </a:r>
          </a:p>
          <a:p/>
          <a:p>
            <a:r>
              <a:t>4. PRESENTATION CUE:</a:t>
            </a:r>
          </a:p>
          <a:p>
            <a:r>
              <a:t>Contrast the event-driven signal flow of interrupts with the high-throughput block stream of DMA.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That’s the basic idea of how the hardware components communicate. I will now pass the presentation to Vedhanth, who will explain the memory and storage hierarchy, locality of reference, and how the operating system manages storage tiers efficiently.</a:t>
            </a:r>
          </a:p>
          <a:p/>
          <a:p>
            <a:r>
              <a:t>2. KEY ARCHITECTURAL CONCEPT:</a:t>
            </a:r>
          </a:p>
          <a:p>
            <a:r>
              <a:t>Hardware components form a tightly synchronized system coordinated by the system bus, interrupts, and DMA.</a:t>
            </a:r>
          </a:p>
          <a:p/>
          <a:p>
            <a:r>
              <a:t>3. TRANSITION TO NEXT SLIDE:</a:t>
            </a:r>
          </a:p>
          <a:p>
            <a:r>
              <a:t>Pass presentation to Vedhanth for Act II.</a:t>
            </a:r>
          </a:p>
          <a:p/>
          <a:p>
            <a:r>
              <a:t>4. PRESENTATION CUE:</a:t>
            </a:r>
          </a:p>
          <a:p>
            <a:r>
              <a:t>Hand over clicker to Vedhanth.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Now I’ll explain memory and storage hierarchy. Computers use different types of memory because faster memory is usually smaller and more expensive, while slower memory can provide much larger capacity. The hierarchy allows the computer to approximate the speed of the fastest memory with the capacity of the largest storage.</a:t>
            </a:r>
          </a:p>
          <a:p/>
          <a:p>
            <a:r>
              <a:t>2. KEY ARCHITECTURAL CONCEPT:</a:t>
            </a:r>
          </a:p>
          <a:p>
            <a:r>
              <a:t>Trade-off between access latency, cost per bit, and storage capacity across the memory hierarchy.</a:t>
            </a:r>
          </a:p>
          <a:p/>
          <a:p>
            <a:r>
              <a:t>3. TRANSITION TO NEXT SLIDE:</a:t>
            </a:r>
          </a:p>
          <a:p>
            <a:r>
              <a:t>Let us examine each tier of the hierarchy from internal registers down to secondary storage.</a:t>
            </a:r>
          </a:p>
          <a:p/>
          <a:p>
            <a:r>
              <a:t>4. PRESENTATION CUE:</a:t>
            </a:r>
          </a:p>
          <a:p>
            <a:r>
              <a:t>Trace the pyramid from top (Registers/Cache) to bottom (RAM/SSD).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The hierarchy starts with registers, which are the fastest and smallest, followed by cache, RAM, and finally secondary storage such as SSDs and hard disks. Registers operate at processor clock speeds, cache buffers hot data, RAM holds active programs, and secondary storage provides permanent capacity.</a:t>
            </a:r>
          </a:p>
          <a:p/>
          <a:p>
            <a:r>
              <a:t>2. KEY ARCHITECTURAL CONCEPT:</a:t>
            </a:r>
          </a:p>
          <a:p>
            <a:r>
              <a:t>Step-by-step characteristics of Registers, Cache (SRAM), Main Memory (DRAM), and Secondary Storage (NVM/Disks).</a:t>
            </a:r>
          </a:p>
          <a:p/>
          <a:p>
            <a:r>
              <a:t>3. TRANSITION TO NEXT SLIDE:</a:t>
            </a:r>
          </a:p>
          <a:p>
            <a:r>
              <a:t>Next, why does caching work so effectively? Let's look at the Locality of Reference.</a:t>
            </a:r>
          </a:p>
          <a:p/>
          <a:p>
            <a:r>
              <a:t>4. PRESENTATION CUE:</a:t>
            </a:r>
          </a:p>
          <a:p>
            <a:r>
              <a:t>Point to the 4 columns from fastest (Registers) to largest (Secondary Storage).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Cache is important because programs usually show locality of reference. Temporal locality means that data used recently is likely to be used again soon. Spatial locality means that data near recently used data is likely to be needed next. Because of locality, small fast caches can satisfy the vast majority of memory accesses.</a:t>
            </a:r>
          </a:p>
          <a:p/>
          <a:p>
            <a:r>
              <a:t>2. KEY ARCHITECTURAL CONCEPT:</a:t>
            </a:r>
          </a:p>
          <a:p>
            <a:r>
              <a:t>Temporal locality (reuse in time) and Spatial locality (adjacency in space) are the core reasons caching succeeds.</a:t>
            </a:r>
          </a:p>
          <a:p/>
          <a:p>
            <a:r>
              <a:t>3. TRANSITION TO NEXT SLIDE:</a:t>
            </a:r>
          </a:p>
          <a:p>
            <a:r>
              <a:t>Now let's examine the difference between volatile and non-volatile storage.</a:t>
            </a:r>
          </a:p>
          <a:p/>
          <a:p>
            <a:r>
              <a:t>4. PRESENTATION CUE:</a:t>
            </a:r>
          </a:p>
          <a:p>
            <a:r>
              <a:t>Highlight the contrast between loop re-execution (Temporal) and sequential array scans (Spatial).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RAM is volatile, meaning it loses its contents when power is turned off. SSDs and hard disks are non-volatile, so they retain data even without power. Because RAM is volatile, all programs and data must be saved to non-volatile secondary storage to survive reboots.</a:t>
            </a:r>
          </a:p>
          <a:p/>
          <a:p>
            <a:r>
              <a:t>2. KEY ARCHITECTURAL CONCEPT:</a:t>
            </a:r>
          </a:p>
          <a:p>
            <a:r>
              <a:t>Volatile working RAM vs Non-volatile secondary storage (SSDs/HDDs) and the role of permanent file storage.</a:t>
            </a:r>
          </a:p>
          <a:p/>
          <a:p>
            <a:r>
              <a:t>3. TRANSITION TO NEXT SLIDE:</a:t>
            </a:r>
          </a:p>
          <a:p>
            <a:r>
              <a:t>Next, how does the Operating System manage this entire storage hierarchy efficiently?</a:t>
            </a:r>
          </a:p>
          <a:p/>
          <a:p>
            <a:r>
              <a:t>4. PRESENTATION CUE:</a:t>
            </a:r>
          </a:p>
          <a:p>
            <a:r>
              <a:t>Emphasize that volatile RAM provides execution speed while non-volatile SSDs provide data permanence.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The OS uses techniques such as paging, buffering, disk caching, and prefetching to use this hierarchy efficiently. Paging manages virtual address spaces, buffering smooths I/O data streams, disk caching keeps hot blocks in memory, and prefetching loads data ahead of time. That concludes Act II. I now pass to Lochan.</a:t>
            </a:r>
          </a:p>
          <a:p/>
          <a:p>
            <a:r>
              <a:t>2. KEY ARCHITECTURAL CONCEPT:</a:t>
            </a:r>
          </a:p>
          <a:p>
            <a:r>
              <a:t>Operating system storage management techniques: Paging, Buffering, Disk Caching, and Prefetching.</a:t>
            </a:r>
          </a:p>
          <a:p/>
          <a:p>
            <a:r>
              <a:t>3. TRANSITION TO NEXT SLIDE:</a:t>
            </a:r>
          </a:p>
          <a:p>
            <a:r>
              <a:t>I will now pass the presentation to Lochan, who will explain multiprocessing, modern multicore systems, and OS challenges.</a:t>
            </a:r>
          </a:p>
          <a:p/>
          <a:p>
            <a:r>
              <a:t>4. PRESENTATION CUE:</a:t>
            </a:r>
          </a:p>
          <a:p>
            <a:r>
              <a:t>Hand over clicker to Lochan.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Finally, I’ll explain multiprocessing and modern computer systems. A single-processor system has one CPU, so all instructions must pass through that CPU. A multiprocessor system has multiple CPUs, allowing the OS to run more work at the same time.</a:t>
            </a:r>
          </a:p>
          <a:p/>
          <a:p>
            <a:r>
              <a:t>2. KEY ARCHITECTURAL CONCEPT:</a:t>
            </a:r>
          </a:p>
          <a:p>
            <a:r>
              <a:t>Single-processor serial execution vs multiprocessor concurrent hardware execution.</a:t>
            </a:r>
          </a:p>
          <a:p/>
          <a:p>
            <a:r>
              <a:t>3. TRANSITION TO NEXT SLIDE:</a:t>
            </a:r>
          </a:p>
          <a:p>
            <a:r>
              <a:t>Let us examine the two primary multiprocessing architectural approaches: SMP and AMP.</a:t>
            </a:r>
          </a:p>
          <a:p/>
          <a:p>
            <a:r>
              <a:t>4. PRESENTATION CUE:</a:t>
            </a:r>
          </a:p>
          <a:p>
            <a:r>
              <a:t>Point to the single CPU path versus the multiple parallel CPU paths on the diagram.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There are two approaches: SMP and AMP. In Symmetric Multiprocessing, or SMP, all processors are treated as peers and can run different tasks. In Asymmetric Multiprocessing, or AMP, one processor acts as the main processor and assigns work to the others.</a:t>
            </a:r>
          </a:p>
          <a:p/>
          <a:p>
            <a:r>
              <a:t>2. KEY ARCHITECTURAL CONCEPT:</a:t>
            </a:r>
          </a:p>
          <a:p>
            <a:r>
              <a:t>Symmetric (peer-to-peer) vs Asymmetric (master-slave) multiprocessing models and their trade-offs.</a:t>
            </a:r>
          </a:p>
          <a:p/>
          <a:p>
            <a:r>
              <a:t>3. TRANSITION TO NEXT SLIDE:</a:t>
            </a:r>
          </a:p>
          <a:p>
            <a:r>
              <a:t>Now let's examine modern systems: Multicore chips and Clustered systems.</a:t>
            </a:r>
          </a:p>
          <a:p/>
          <a:p>
            <a:r>
              <a:t>4. PRESENTATION CUE:</a:t>
            </a:r>
          </a:p>
          <a:p>
            <a:r>
              <a:t>Contrast the decentralized peer model of SMP with the centralized master-slave model of AMP.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Modern systems can also use multicore processors, where multiple CPU cores are placed on one chip. Another approach is clustered systems, where multiple independent computers work together over a network. Multicore scales up on a single die, while clustering scales out across many networked nodes.</a:t>
            </a:r>
          </a:p>
          <a:p/>
          <a:p>
            <a:r>
              <a:t>2. KEY ARCHITECTURAL CONCEPT:</a:t>
            </a:r>
          </a:p>
          <a:p>
            <a:r>
              <a:t>Multicore processors (on-chip parallelism) and Clustered systems (distributed high-availability nodes).</a:t>
            </a:r>
          </a:p>
          <a:p/>
          <a:p>
            <a:r>
              <a:t>3. TRANSITION TO NEXT SLIDE:</a:t>
            </a:r>
          </a:p>
          <a:p>
            <a:r>
              <a:t>However, multiprocessing creates significant challenges for the operating system. Let's look at those challenges.</a:t>
            </a:r>
          </a:p>
          <a:p/>
          <a:p>
            <a:r>
              <a:t>4. PRESENTATION CUE:</a:t>
            </a:r>
          </a:p>
          <a:p>
            <a:r>
              <a:t>Contrast on-chip multicore scaling with distributed networked cluster scaling.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However, multiprocessing creates challenges for the OS, including scheduling, cache coherence, load balancing, and synchronization. So, multiprocessing allows computers to handle more work efficiently while requiring the OS to carefully coordinate everything.</a:t>
            </a:r>
          </a:p>
          <a:p/>
          <a:p>
            <a:r>
              <a:t>2. KEY ARCHITECTURAL CONCEPT:</a:t>
            </a:r>
          </a:p>
          <a:p>
            <a:r>
              <a:t>Four major OS multiprocessing challenges: Scheduling, Cache Coherence, Load Balancing, and Synchronization.</a:t>
            </a:r>
          </a:p>
          <a:p/>
          <a:p>
            <a:r>
              <a:t>3. TRANSITION TO NEXT SLIDE:</a:t>
            </a:r>
          </a:p>
          <a:p>
            <a:r>
              <a:t>Now let's bring our entire presentation together into our final synthesis and key takeaways.</a:t>
            </a:r>
          </a:p>
          <a:p/>
          <a:p>
            <a:r>
              <a:t>4. PRESENTATION CUE:</a:t>
            </a:r>
          </a:p>
          <a:p>
            <a:r>
              <a:t>Review each of the four challenges and explain why hardware parallelism demands sophisticated OS coordination.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SCRIPT ===</a:t>
            </a:r>
          </a:p>
          <a:p/>
          <a:p>
            <a:r>
              <a:t>1. WHAT TO SAY (Spoken Script):</a:t>
            </a:r>
          </a:p>
          <a:p>
            <a:r>
              <a:t>To summarize our complete presentation: Ram Charan walked us through the core hardware and 3-part system bus; Vedhanth explained the storage hierarchy, locality of reference, and OS caching optimizations; and Lochan covered multiprocessing architectures, SMP vs AMP, multicore, clustering, and OS coordination challenges. On behalf of Ram Charan, Vedhanth, and Lochan, thank you for your attention. We are now open for questions.</a:t>
            </a:r>
          </a:p>
          <a:p/>
          <a:p>
            <a:r>
              <a:t>2. KEY ARCHITECTURAL CONCEPT:</a:t>
            </a:r>
          </a:p>
          <a:p>
            <a:r>
              <a:t>Comprehensive architectural synthesis covering core hardware, system bus, storage hierarchy, locality, multiprocessing, and OS coordination.</a:t>
            </a:r>
          </a:p>
          <a:p/>
          <a:p>
            <a:r>
              <a:t>3. TRANSITION TO NEXT SLIDE:</a:t>
            </a:r>
          </a:p>
          <a:p>
            <a:r>
              <a:t>End of presentation — open floor for Q&amp;A.</a:t>
            </a:r>
          </a:p>
          <a:p/>
          <a:p>
            <a:r>
              <a:t>4. PRESENTATION CUE:</a:t>
            </a:r>
          </a:p>
          <a:p>
            <a:r>
              <a:t>All three presenters step forward together, smile, and invite questions from the professor and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6400800" cy="2011680"/>
          </a:xfrm>
          <a:prstGeom prst="rect">
            <a:avLst/>
          </a:prstGeom>
          <a:noFill/>
        </p:spPr>
        <p:txBody>
          <a:bodyPr wrap="square">
            <a:spAutoFit/>
          </a:bodyPr>
          <a:lstStyle/>
          <a:p>
            <a:pPr>
              <a:defRPr sz="3200" b="1">
                <a:solidFill>
                  <a:srgbClr val="FFFFFF"/>
                </a:solidFill>
                <a:latin typeface="Segoe UI"/>
              </a:defRPr>
            </a:pPr>
            <a:r>
              <a:t>Computer System Architecture</a:t>
            </a:r>
          </a:p>
          <a:p>
            <a:pPr>
              <a:spcBef>
                <a:spcPts val="600"/>
              </a:spcBef>
              <a:defRPr sz="1400" b="1">
                <a:solidFill>
                  <a:srgbClr val="38BDF8"/>
                </a:solidFill>
                <a:latin typeface="Segoe UI"/>
              </a:defRPr>
            </a:pPr>
            <a:r>
              <a:t>Core Hardware, Storage Hierarchies &amp; Modern Multiprocessing</a:t>
            </a:r>
          </a:p>
          <a:p>
            <a:pPr>
              <a:spcBef>
                <a:spcPts val="400"/>
              </a:spcBef>
              <a:defRPr sz="1100">
                <a:solidFill>
                  <a:srgbClr val="A0AFC8"/>
                </a:solidFill>
                <a:latin typeface="Segoe UI"/>
              </a:defRPr>
            </a:pPr>
            <a:r>
              <a:t>Operating Systems — System Architecture &amp; Execution Foundations</a:t>
            </a:r>
          </a:p>
        </p:txBody>
      </p:sp>
      <p:sp>
        <p:nvSpPr>
          <p:cNvPr id="4" name="Oval 3"/>
          <p:cNvSpPr/>
          <p:nvPr/>
        </p:nvSpPr>
        <p:spPr>
          <a:xfrm>
            <a:off x="731520" y="3017520"/>
            <a:ext cx="640080" cy="640080"/>
          </a:xfrm>
          <a:prstGeom prst="ellipse">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a:t>
            </a:r>
          </a:p>
        </p:txBody>
      </p:sp>
      <p:sp>
        <p:nvSpPr>
          <p:cNvPr id="5" name="TextBox 4"/>
          <p:cNvSpPr txBox="1"/>
          <p:nvPr/>
        </p:nvSpPr>
        <p:spPr>
          <a:xfrm>
            <a:off x="1508760" y="3063239"/>
            <a:ext cx="5029200" cy="548640"/>
          </a:xfrm>
          <a:prstGeom prst="rect">
            <a:avLst/>
          </a:prstGeom>
          <a:noFill/>
        </p:spPr>
        <p:txBody>
          <a:bodyPr wrap="none">
            <a:spAutoFit/>
          </a:bodyPr>
          <a:lstStyle/>
          <a:p>
            <a:pPr>
              <a:defRPr sz="1400" b="1">
                <a:solidFill>
                  <a:srgbClr val="FFFFFF"/>
                </a:solidFill>
                <a:latin typeface="Segoe UI"/>
              </a:defRPr>
            </a:pPr>
            <a:r>
              <a:t>V. Ram Charan</a:t>
            </a:r>
          </a:p>
          <a:p>
            <a:pPr>
              <a:defRPr sz="1000">
                <a:solidFill>
                  <a:srgbClr val="38BDF8"/>
                </a:solidFill>
                <a:latin typeface="Segoe UI"/>
              </a:defRPr>
            </a:pPr>
            <a:r>
              <a:t>Act I Lead — Core Hardware &amp; System Bus</a:t>
            </a:r>
          </a:p>
        </p:txBody>
      </p:sp>
      <p:sp>
        <p:nvSpPr>
          <p:cNvPr id="6" name="Oval 5"/>
          <p:cNvSpPr/>
          <p:nvPr/>
        </p:nvSpPr>
        <p:spPr>
          <a:xfrm>
            <a:off x="731520" y="3886200"/>
            <a:ext cx="640080" cy="640080"/>
          </a:xfrm>
          <a:prstGeom prst="ellipse">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a:t>
            </a:r>
          </a:p>
        </p:txBody>
      </p:sp>
      <p:sp>
        <p:nvSpPr>
          <p:cNvPr id="7" name="TextBox 6"/>
          <p:cNvSpPr txBox="1"/>
          <p:nvPr/>
        </p:nvSpPr>
        <p:spPr>
          <a:xfrm>
            <a:off x="1508760" y="3931920"/>
            <a:ext cx="5029200" cy="548640"/>
          </a:xfrm>
          <a:prstGeom prst="rect">
            <a:avLst/>
          </a:prstGeom>
          <a:noFill/>
        </p:spPr>
        <p:txBody>
          <a:bodyPr wrap="none">
            <a:spAutoFit/>
          </a:bodyPr>
          <a:lstStyle/>
          <a:p>
            <a:pPr>
              <a:defRPr sz="1400" b="1">
                <a:solidFill>
                  <a:srgbClr val="FFFFFF"/>
                </a:solidFill>
                <a:latin typeface="Segoe UI"/>
              </a:defRPr>
            </a:pPr>
            <a:r>
              <a:t>Vedhanth</a:t>
            </a:r>
          </a:p>
          <a:p>
            <a:pPr>
              <a:defRPr sz="1000">
                <a:solidFill>
                  <a:srgbClr val="818CF8"/>
                </a:solidFill>
                <a:latin typeface="Segoe UI"/>
              </a:defRPr>
            </a:pPr>
            <a:r>
              <a:t>Act II Lead — Memory &amp; Storage Hierarchy</a:t>
            </a:r>
          </a:p>
        </p:txBody>
      </p:sp>
      <p:sp>
        <p:nvSpPr>
          <p:cNvPr id="8" name="Oval 7"/>
          <p:cNvSpPr/>
          <p:nvPr/>
        </p:nvSpPr>
        <p:spPr>
          <a:xfrm>
            <a:off x="731520" y="4754879"/>
            <a:ext cx="640080" cy="640080"/>
          </a:xfrm>
          <a:prstGeom prst="ellipse">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a:t>
            </a:r>
          </a:p>
        </p:txBody>
      </p:sp>
      <p:sp>
        <p:nvSpPr>
          <p:cNvPr id="9" name="TextBox 8"/>
          <p:cNvSpPr txBox="1"/>
          <p:nvPr/>
        </p:nvSpPr>
        <p:spPr>
          <a:xfrm>
            <a:off x="1508760" y="4800599"/>
            <a:ext cx="5029200" cy="548640"/>
          </a:xfrm>
          <a:prstGeom prst="rect">
            <a:avLst/>
          </a:prstGeom>
          <a:noFill/>
        </p:spPr>
        <p:txBody>
          <a:bodyPr wrap="none">
            <a:spAutoFit/>
          </a:bodyPr>
          <a:lstStyle/>
          <a:p>
            <a:pPr>
              <a:defRPr sz="1400" b="1">
                <a:solidFill>
                  <a:srgbClr val="FFFFFF"/>
                </a:solidFill>
                <a:latin typeface="Segoe UI"/>
              </a:defRPr>
            </a:pPr>
            <a:r>
              <a:t>Lochan</a:t>
            </a:r>
          </a:p>
          <a:p>
            <a:pPr>
              <a:defRPr sz="1000">
                <a:solidFill>
                  <a:srgbClr val="34D399"/>
                </a:solidFill>
                <a:latin typeface="Segoe UI"/>
              </a:defRPr>
            </a:pPr>
            <a:r>
              <a:t>Act III Lead — Multiprocessing &amp; Modern Architectures</a:t>
            </a:r>
          </a:p>
        </p:txBody>
      </p:sp>
      <p:sp>
        <p:nvSpPr>
          <p:cNvPr id="10" name="Rectangle 9"/>
          <p:cNvSpPr/>
          <p:nvPr/>
        </p:nvSpPr>
        <p:spPr>
          <a:xfrm>
            <a:off x="731520" y="5760720"/>
            <a:ext cx="54864" cy="5943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60720"/>
            <a:ext cx="6217920" cy="594360"/>
          </a:xfrm>
          <a:prstGeom prst="rect">
            <a:avLst/>
          </a:prstGeom>
          <a:noFill/>
        </p:spPr>
        <p:txBody>
          <a:bodyPr wrap="square">
            <a:spAutoFit/>
          </a:bodyPr>
          <a:lstStyle/>
          <a:p>
            <a:pPr>
              <a:defRPr sz="1100" i="1">
                <a:solidFill>
                  <a:srgbClr val="A0AFC8"/>
                </a:solidFill>
                <a:latin typeface="Segoe UI"/>
              </a:defRPr>
            </a:pPr>
            <a:r>
              <a:t>"The operating system is the software most intimately involved with computer hardware."</a:t>
            </a:r>
          </a:p>
        </p:txBody>
      </p:sp>
      <p:pic>
        <p:nvPicPr>
          <p:cNvPr id="12" name="Picture 11" descr="iso_motherboard.png"/>
          <p:cNvPicPr>
            <a:picLocks noChangeAspect="1"/>
          </p:cNvPicPr>
          <p:nvPr/>
        </p:nvPicPr>
        <p:blipFill>
          <a:blip r:embed="rId2"/>
          <a:stretch>
            <a:fillRect/>
          </a:stretch>
        </p:blipFill>
        <p:spPr>
          <a:xfrm>
            <a:off x="6583680" y="1188720"/>
            <a:ext cx="4937760" cy="2755959"/>
          </a:xfrm>
          <a:prstGeom prst="rect">
            <a:avLst/>
          </a:prstGeom>
        </p:spPr>
      </p:pic>
    </p:spTree>
  </p:cSld>
  <p:clrMapOvr>
    <a:masterClrMapping/>
  </p:clrMapOvr>
  <p:transition xmlns:p14="http://schemas.microsoft.com/office/powerpoint/2010/main" spd="med" dur="1500">
    <p14:morph option="byObject"/>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 CORE HARDWARE</a:t>
            </a:r>
          </a:p>
        </p:txBody>
      </p:sp>
      <p:sp>
        <p:nvSpPr>
          <p:cNvPr id="4" name="Rounded Rectangle 3"/>
          <p:cNvSpPr/>
          <p:nvPr/>
        </p:nvSpPr>
        <p:spPr>
          <a:xfrm>
            <a:off x="786384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 RAM CHARAN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02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Core Hardware of a Computer System</a:t>
            </a:r>
          </a:p>
          <a:p>
            <a:pPr>
              <a:spcBef>
                <a:spcPts val="200"/>
              </a:spcBef>
              <a:defRPr sz="1150">
                <a:solidFill>
                  <a:srgbClr val="A0AFC8"/>
                </a:solidFill>
                <a:latin typeface="Segoe UI"/>
              </a:defRPr>
            </a:pPr>
            <a:r>
              <a:t>The Three Fundamental Hardware Pillars Powering Execution</a:t>
            </a:r>
          </a:p>
        </p:txBody>
      </p:sp>
      <p:sp>
        <p:nvSpPr>
          <p:cNvPr id="7" name="Rounded Rectangle 6"/>
          <p:cNvSpPr/>
          <p:nvPr/>
        </p:nvSpPr>
        <p:spPr>
          <a:xfrm>
            <a:off x="731520" y="1463040"/>
            <a:ext cx="33832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402336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8620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3017520" cy="320040"/>
          </a:xfrm>
          <a:prstGeom prst="rect">
            <a:avLst/>
          </a:prstGeom>
          <a:noFill/>
        </p:spPr>
        <p:txBody>
          <a:bodyPr wrap="square" lIns="0" tIns="0" rIns="0" bIns="0">
            <a:spAutoFit/>
          </a:bodyPr>
          <a:lstStyle/>
          <a:p>
            <a:pPr>
              <a:defRPr sz="1300" b="1">
                <a:solidFill>
                  <a:srgbClr val="FFFFFF"/>
                </a:solidFill>
                <a:latin typeface="Segoe UI"/>
              </a:defRPr>
            </a:pPr>
            <a:r>
              <a:t>The CPU (Processor)</a:t>
            </a:r>
          </a:p>
        </p:txBody>
      </p:sp>
      <p:sp>
        <p:nvSpPr>
          <p:cNvPr id="11" name="TextBox 10"/>
          <p:cNvSpPr txBox="1"/>
          <p:nvPr/>
        </p:nvSpPr>
        <p:spPr>
          <a:xfrm>
            <a:off x="950976" y="1920240"/>
            <a:ext cx="2971800" cy="3383280"/>
          </a:xfrm>
          <a:prstGeom prst="rect">
            <a:avLst/>
          </a:prstGeom>
          <a:noFill/>
        </p:spPr>
        <p:txBody>
          <a:bodyPr wrap="square">
            <a:spAutoFit/>
          </a:bodyPr>
          <a:lstStyle/>
          <a:p>
            <a:pPr>
              <a:defRPr sz="1100" b="1">
                <a:solidFill>
                  <a:srgbClr val="FFFFFF"/>
                </a:solidFill>
                <a:latin typeface="Segoe UI"/>
              </a:defRPr>
            </a:pPr>
            <a:r>
              <a:t>• Instruction Cycle: </a:t>
            </a:r>
            <a:r>
              <a:rPr sz="1050" b="0">
                <a:solidFill>
                  <a:srgbClr val="A0AFC8"/>
                </a:solidFill>
                <a:latin typeface="Segoe UI"/>
              </a:rPr>
              <a:t>Responsible for fetching, decoding, and executing instructions from memory.</a:t>
            </a:r>
          </a:p>
          <a:p>
            <a:pPr>
              <a:spcBef>
                <a:spcPts val="600"/>
              </a:spcBef>
              <a:defRPr sz="1100" b="1">
                <a:solidFill>
                  <a:srgbClr val="FFFFFF"/>
                </a:solidFill>
                <a:latin typeface="Segoe UI"/>
              </a:defRPr>
            </a:pPr>
            <a:r>
              <a:t>• Core Units: </a:t>
            </a:r>
            <a:r>
              <a:rPr sz="1050" b="0">
                <a:solidFill>
                  <a:srgbClr val="A0AFC8"/>
                </a:solidFill>
                <a:latin typeface="Segoe UI"/>
              </a:rPr>
              <a:t>Contains the Arithmetic Logic Unit (ALU), Control Unit (CU), and internal registers.</a:t>
            </a:r>
          </a:p>
          <a:p>
            <a:pPr>
              <a:spcBef>
                <a:spcPts val="600"/>
              </a:spcBef>
              <a:defRPr sz="1100" b="1">
                <a:solidFill>
                  <a:srgbClr val="FFFFFF"/>
                </a:solidFill>
                <a:latin typeface="Segoe UI"/>
              </a:defRPr>
            </a:pPr>
            <a:r>
              <a:t>• System Driver: </a:t>
            </a:r>
            <a:r>
              <a:rPr sz="1050" b="0">
                <a:solidFill>
                  <a:srgbClr val="A0AFC8"/>
                </a:solidFill>
                <a:latin typeface="Segoe UI"/>
              </a:rPr>
              <a:t>Directs computation and orchestrates data flow across all subsystems.</a:t>
            </a:r>
          </a:p>
        </p:txBody>
      </p:sp>
      <p:sp>
        <p:nvSpPr>
          <p:cNvPr id="12" name="Rounded Rectangle 11"/>
          <p:cNvSpPr/>
          <p:nvPr/>
        </p:nvSpPr>
        <p:spPr>
          <a:xfrm>
            <a:off x="4389120" y="1463040"/>
            <a:ext cx="33832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89120" y="1463040"/>
            <a:ext cx="73152" cy="402336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43800" y="153619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1600200"/>
            <a:ext cx="3017520" cy="320040"/>
          </a:xfrm>
          <a:prstGeom prst="rect">
            <a:avLst/>
          </a:prstGeom>
          <a:noFill/>
        </p:spPr>
        <p:txBody>
          <a:bodyPr wrap="square" lIns="0" tIns="0" rIns="0" bIns="0">
            <a:spAutoFit/>
          </a:bodyPr>
          <a:lstStyle/>
          <a:p>
            <a:pPr>
              <a:defRPr sz="1300" b="1">
                <a:solidFill>
                  <a:srgbClr val="FFFFFF"/>
                </a:solidFill>
                <a:latin typeface="Segoe UI"/>
              </a:defRPr>
            </a:pPr>
            <a:r>
              <a:t>Main Memory (RAM)</a:t>
            </a:r>
          </a:p>
        </p:txBody>
      </p:sp>
      <p:sp>
        <p:nvSpPr>
          <p:cNvPr id="16" name="TextBox 15"/>
          <p:cNvSpPr txBox="1"/>
          <p:nvPr/>
        </p:nvSpPr>
        <p:spPr>
          <a:xfrm>
            <a:off x="4608576" y="1920240"/>
            <a:ext cx="2971800" cy="3383280"/>
          </a:xfrm>
          <a:prstGeom prst="rect">
            <a:avLst/>
          </a:prstGeom>
          <a:noFill/>
        </p:spPr>
        <p:txBody>
          <a:bodyPr wrap="square">
            <a:spAutoFit/>
          </a:bodyPr>
          <a:lstStyle/>
          <a:p>
            <a:pPr>
              <a:defRPr sz="1100" b="1">
                <a:solidFill>
                  <a:srgbClr val="FFFFFF"/>
                </a:solidFill>
                <a:latin typeface="Segoe UI"/>
              </a:defRPr>
            </a:pPr>
            <a:r>
              <a:t>• Primary Storage: </a:t>
            </a:r>
            <a:r>
              <a:rPr sz="1050" b="0">
                <a:solidFill>
                  <a:srgbClr val="A0AFC8"/>
                </a:solidFill>
                <a:latin typeface="Segoe UI"/>
              </a:rPr>
              <a:t>Stores data and active programs that are currently being used by the system.</a:t>
            </a:r>
          </a:p>
          <a:p>
            <a:pPr>
              <a:spcBef>
                <a:spcPts val="600"/>
              </a:spcBef>
              <a:defRPr sz="1100" b="1">
                <a:solidFill>
                  <a:srgbClr val="FFFFFF"/>
                </a:solidFill>
                <a:latin typeface="Segoe UI"/>
              </a:defRPr>
            </a:pPr>
            <a:r>
              <a:t>• Direct Access: </a:t>
            </a:r>
            <a:r>
              <a:rPr sz="1050" b="0">
                <a:solidFill>
                  <a:srgbClr val="A0AFC8"/>
                </a:solidFill>
                <a:latin typeface="Segoe UI"/>
              </a:rPr>
              <a:t>The only large memory directly addressable and executable by the CPU.</a:t>
            </a:r>
          </a:p>
          <a:p>
            <a:pPr>
              <a:spcBef>
                <a:spcPts val="600"/>
              </a:spcBef>
              <a:defRPr sz="1100" b="1">
                <a:solidFill>
                  <a:srgbClr val="FFFFFF"/>
                </a:solidFill>
                <a:latin typeface="Segoe UI"/>
              </a:defRPr>
            </a:pPr>
            <a:r>
              <a:t>• Volatile Nature: </a:t>
            </a:r>
            <a:r>
              <a:rPr sz="1050" b="0">
                <a:solidFill>
                  <a:srgbClr val="A0AFC8"/>
                </a:solidFill>
                <a:latin typeface="Segoe UI"/>
              </a:rPr>
              <a:t>Provides high-speed working storage for active runtime processes.</a:t>
            </a:r>
          </a:p>
        </p:txBody>
      </p:sp>
      <p:sp>
        <p:nvSpPr>
          <p:cNvPr id="17" name="Rounded Rectangle 16"/>
          <p:cNvSpPr/>
          <p:nvPr/>
        </p:nvSpPr>
        <p:spPr>
          <a:xfrm>
            <a:off x="8046720" y="1463040"/>
            <a:ext cx="33832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0" y="1463040"/>
            <a:ext cx="73152" cy="402336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201400" y="153619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66176" y="1600200"/>
            <a:ext cx="3017520" cy="320040"/>
          </a:xfrm>
          <a:prstGeom prst="rect">
            <a:avLst/>
          </a:prstGeom>
          <a:noFill/>
        </p:spPr>
        <p:txBody>
          <a:bodyPr wrap="square" lIns="0" tIns="0" rIns="0" bIns="0">
            <a:spAutoFit/>
          </a:bodyPr>
          <a:lstStyle/>
          <a:p>
            <a:pPr>
              <a:defRPr sz="1300" b="1">
                <a:solidFill>
                  <a:srgbClr val="FFFFFF"/>
                </a:solidFill>
                <a:latin typeface="Segoe UI"/>
              </a:defRPr>
            </a:pPr>
            <a:r>
              <a:t>I/O Devices &amp; Controllers</a:t>
            </a:r>
          </a:p>
        </p:txBody>
      </p:sp>
      <p:sp>
        <p:nvSpPr>
          <p:cNvPr id="21" name="TextBox 20"/>
          <p:cNvSpPr txBox="1"/>
          <p:nvPr/>
        </p:nvSpPr>
        <p:spPr>
          <a:xfrm>
            <a:off x="8266176" y="1920240"/>
            <a:ext cx="2971800" cy="3383280"/>
          </a:xfrm>
          <a:prstGeom prst="rect">
            <a:avLst/>
          </a:prstGeom>
          <a:noFill/>
        </p:spPr>
        <p:txBody>
          <a:bodyPr wrap="square">
            <a:spAutoFit/>
          </a:bodyPr>
          <a:lstStyle/>
          <a:p>
            <a:pPr>
              <a:defRPr sz="1100" b="1">
                <a:solidFill>
                  <a:srgbClr val="FFFFFF"/>
                </a:solidFill>
                <a:latin typeface="Segoe UI"/>
              </a:defRPr>
            </a:pPr>
            <a:r>
              <a:t>• External Bridge: </a:t>
            </a:r>
            <a:r>
              <a:rPr sz="1050" b="0">
                <a:solidFill>
                  <a:srgbClr val="A0AFC8"/>
                </a:solidFill>
                <a:latin typeface="Segoe UI"/>
              </a:rPr>
              <a:t>Helps the computer communicate with the outside world and users.</a:t>
            </a:r>
          </a:p>
          <a:p>
            <a:pPr>
              <a:spcBef>
                <a:spcPts val="600"/>
              </a:spcBef>
              <a:defRPr sz="1100" b="1">
                <a:solidFill>
                  <a:srgbClr val="FFFFFF"/>
                </a:solidFill>
                <a:latin typeface="Segoe UI"/>
              </a:defRPr>
            </a:pPr>
            <a:r>
              <a:t>• Device Categories: </a:t>
            </a:r>
            <a:r>
              <a:rPr sz="1050" b="0">
                <a:solidFill>
                  <a:srgbClr val="A0AFC8"/>
                </a:solidFill>
                <a:latin typeface="Segoe UI"/>
              </a:rPr>
              <a:t>Displays, keyboards, network interfaces, and secondary storage.</a:t>
            </a:r>
          </a:p>
          <a:p>
            <a:pPr>
              <a:spcBef>
                <a:spcPts val="600"/>
              </a:spcBef>
              <a:defRPr sz="1100" b="1">
                <a:solidFill>
                  <a:srgbClr val="FFFFFF"/>
                </a:solidFill>
                <a:latin typeface="Segoe UI"/>
              </a:defRPr>
            </a:pPr>
            <a:r>
              <a:t>• Dedicated Hardware: </a:t>
            </a:r>
            <a:r>
              <a:rPr sz="1050" b="0">
                <a:solidFill>
                  <a:srgbClr val="A0AFC8"/>
                </a:solidFill>
                <a:latin typeface="Segoe UI"/>
              </a:rPr>
              <a:t>Device controllers manage physical hardware protocols autonomously.</a:t>
            </a:r>
          </a:p>
        </p:txBody>
      </p:sp>
      <p:sp>
        <p:nvSpPr>
          <p:cNvPr id="22" name="Rounded Rectangle 21"/>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897880"/>
            <a:ext cx="10332720" cy="411480"/>
          </a:xfrm>
          <a:prstGeom prst="rect">
            <a:avLst/>
          </a:prstGeom>
          <a:noFill/>
        </p:spPr>
        <p:txBody>
          <a:bodyPr wrap="square" lIns="0" tIns="0" rIns="0" bIns="0">
            <a:spAutoFit/>
          </a:bodyPr>
          <a:lstStyle/>
          <a:p>
            <a:r>
              <a:rPr sz="1050" b="1">
                <a:solidFill>
                  <a:srgbClr val="38BDF8"/>
                </a:solidFill>
                <a:latin typeface="Segoe UI"/>
              </a:rPr>
              <a:t>□ Execution Foundation: </a:t>
            </a:r>
            <a:r>
              <a:rPr sz="1050">
                <a:solidFill>
                  <a:srgbClr val="FFFFFF"/>
                </a:solidFill>
                <a:latin typeface="Segoe UI"/>
              </a:rPr>
              <a:t>The CPU continuously executes the Fetch-Decode-Execute cycle on programs held in Main Memory, communicating results via I/O.</a:t>
            </a:r>
          </a:p>
        </p:txBody>
      </p:sp>
    </p:spTree>
  </p:cSld>
  <p:clrMapOvr>
    <a:masterClrMapping/>
  </p:clrMapOvr>
  <p:transition xmlns:p14="http://schemas.microsoft.com/office/powerpoint/2010/main" spd="med" dur="1500">
    <p14:morph option="byObject"/>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 CORE HARDWARE</a:t>
            </a:r>
          </a:p>
        </p:txBody>
      </p:sp>
      <p:sp>
        <p:nvSpPr>
          <p:cNvPr id="4" name="Rounded Rectangle 3"/>
          <p:cNvSpPr/>
          <p:nvPr/>
        </p:nvSpPr>
        <p:spPr>
          <a:xfrm>
            <a:off x="786384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 RAM CHARAN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03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The System Bus Architecture</a:t>
            </a:r>
          </a:p>
          <a:p>
            <a:pPr>
              <a:spcBef>
                <a:spcPts val="200"/>
              </a:spcBef>
              <a:defRPr sz="1150">
                <a:solidFill>
                  <a:srgbClr val="A0AFC8"/>
                </a:solidFill>
                <a:latin typeface="Segoe UI"/>
              </a:defRPr>
            </a:pPr>
            <a:r>
              <a:t>Three Specialized High-Speed Communication Channels</a:t>
            </a:r>
          </a:p>
        </p:txBody>
      </p:sp>
      <p:sp>
        <p:nvSpPr>
          <p:cNvPr id="7" name="Rounded Rectangle 6"/>
          <p:cNvSpPr/>
          <p:nvPr/>
        </p:nvSpPr>
        <p:spPr>
          <a:xfrm>
            <a:off x="731520" y="1463040"/>
            <a:ext cx="5303520" cy="12344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123444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0644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4937759" cy="320040"/>
          </a:xfrm>
          <a:prstGeom prst="rect">
            <a:avLst/>
          </a:prstGeom>
          <a:noFill/>
        </p:spPr>
        <p:txBody>
          <a:bodyPr wrap="square" lIns="0" tIns="0" rIns="0" bIns="0">
            <a:spAutoFit/>
          </a:bodyPr>
          <a:lstStyle/>
          <a:p>
            <a:pPr>
              <a:defRPr sz="1300" b="1">
                <a:solidFill>
                  <a:srgbClr val="FFFFFF"/>
                </a:solidFill>
                <a:latin typeface="Segoe UI"/>
              </a:defRPr>
            </a:pPr>
            <a:r>
              <a:t>1. Address Bus</a:t>
            </a:r>
          </a:p>
        </p:txBody>
      </p:sp>
      <p:sp>
        <p:nvSpPr>
          <p:cNvPr id="11" name="TextBox 10"/>
          <p:cNvSpPr txBox="1"/>
          <p:nvPr/>
        </p:nvSpPr>
        <p:spPr>
          <a:xfrm>
            <a:off x="960120" y="1874520"/>
            <a:ext cx="4846320" cy="731520"/>
          </a:xfrm>
          <a:prstGeom prst="rect">
            <a:avLst/>
          </a:prstGeom>
          <a:noFill/>
        </p:spPr>
        <p:txBody>
          <a:bodyPr wrap="square">
            <a:spAutoFit/>
          </a:bodyPr>
          <a:lstStyle/>
          <a:p>
            <a:pPr>
              <a:defRPr sz="1050">
                <a:solidFill>
                  <a:srgbClr val="A0AFC8"/>
                </a:solidFill>
                <a:latin typeface="Segoe UI"/>
              </a:defRPr>
            </a:pPr>
            <a:r>
              <a:t>Tells WHERE the data should go by carrying physical memory addresses and I/O port numbers (Unidirectional from CPU/DMA).</a:t>
            </a:r>
          </a:p>
        </p:txBody>
      </p:sp>
      <p:sp>
        <p:nvSpPr>
          <p:cNvPr id="12" name="Rounded Rectangle 11"/>
          <p:cNvSpPr/>
          <p:nvPr/>
        </p:nvSpPr>
        <p:spPr>
          <a:xfrm>
            <a:off x="731520" y="2834640"/>
            <a:ext cx="5303520" cy="12344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2834640"/>
            <a:ext cx="73152" cy="123444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06440" y="290779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2971800"/>
            <a:ext cx="4937759" cy="320040"/>
          </a:xfrm>
          <a:prstGeom prst="rect">
            <a:avLst/>
          </a:prstGeom>
          <a:noFill/>
        </p:spPr>
        <p:txBody>
          <a:bodyPr wrap="square" lIns="0" tIns="0" rIns="0" bIns="0">
            <a:spAutoFit/>
          </a:bodyPr>
          <a:lstStyle/>
          <a:p>
            <a:pPr>
              <a:defRPr sz="1300" b="1">
                <a:solidFill>
                  <a:srgbClr val="FFFFFF"/>
                </a:solidFill>
                <a:latin typeface="Segoe UI"/>
              </a:defRPr>
            </a:pPr>
            <a:r>
              <a:t>2. Data Bus</a:t>
            </a:r>
          </a:p>
        </p:txBody>
      </p:sp>
      <p:sp>
        <p:nvSpPr>
          <p:cNvPr id="16" name="TextBox 15"/>
          <p:cNvSpPr txBox="1"/>
          <p:nvPr/>
        </p:nvSpPr>
        <p:spPr>
          <a:xfrm>
            <a:off x="960120" y="3246120"/>
            <a:ext cx="4846320" cy="731520"/>
          </a:xfrm>
          <a:prstGeom prst="rect">
            <a:avLst/>
          </a:prstGeom>
          <a:noFill/>
        </p:spPr>
        <p:txBody>
          <a:bodyPr wrap="square">
            <a:spAutoFit/>
          </a:bodyPr>
          <a:lstStyle/>
          <a:p>
            <a:pPr>
              <a:defRPr sz="1050">
                <a:solidFill>
                  <a:srgbClr val="A0AFC8"/>
                </a:solidFill>
                <a:latin typeface="Segoe UI"/>
              </a:defRPr>
            </a:pPr>
            <a:r>
              <a:t>Carries the ACTUAL DATA and binary instructions between the CPU, main memory, and device controllers (Bidirectional).</a:t>
            </a:r>
          </a:p>
        </p:txBody>
      </p:sp>
      <p:sp>
        <p:nvSpPr>
          <p:cNvPr id="17" name="Rounded Rectangle 16"/>
          <p:cNvSpPr/>
          <p:nvPr/>
        </p:nvSpPr>
        <p:spPr>
          <a:xfrm>
            <a:off x="731520" y="4206240"/>
            <a:ext cx="5303520" cy="12344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4206240"/>
            <a:ext cx="73152" cy="123444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06440" y="427939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343400"/>
            <a:ext cx="4937759" cy="320040"/>
          </a:xfrm>
          <a:prstGeom prst="rect">
            <a:avLst/>
          </a:prstGeom>
          <a:noFill/>
        </p:spPr>
        <p:txBody>
          <a:bodyPr wrap="square" lIns="0" tIns="0" rIns="0" bIns="0">
            <a:spAutoFit/>
          </a:bodyPr>
          <a:lstStyle/>
          <a:p>
            <a:pPr>
              <a:defRPr sz="1300" b="1">
                <a:solidFill>
                  <a:srgbClr val="FFFFFF"/>
                </a:solidFill>
                <a:latin typeface="Segoe UI"/>
              </a:defRPr>
            </a:pPr>
            <a:r>
              <a:t>3. Control Bus</a:t>
            </a:r>
          </a:p>
        </p:txBody>
      </p:sp>
      <p:sp>
        <p:nvSpPr>
          <p:cNvPr id="21" name="TextBox 20"/>
          <p:cNvSpPr txBox="1"/>
          <p:nvPr/>
        </p:nvSpPr>
        <p:spPr>
          <a:xfrm>
            <a:off x="960120" y="4617720"/>
            <a:ext cx="4846320" cy="731520"/>
          </a:xfrm>
          <a:prstGeom prst="rect">
            <a:avLst/>
          </a:prstGeom>
          <a:noFill/>
        </p:spPr>
        <p:txBody>
          <a:bodyPr wrap="square">
            <a:spAutoFit/>
          </a:bodyPr>
          <a:lstStyle/>
          <a:p>
            <a:pPr>
              <a:defRPr sz="1050">
                <a:solidFill>
                  <a:srgbClr val="A0AFC8"/>
                </a:solidFill>
                <a:latin typeface="Segoe UI"/>
              </a:defRPr>
            </a:pPr>
            <a:r>
              <a:t>Carries CONTROL SIGNALS and timing clocks — such as Memory Read/Write, I/O Read/Write, and Bus Grant commands (Bidirectional).</a:t>
            </a:r>
          </a:p>
        </p:txBody>
      </p:sp>
      <p:pic>
        <p:nvPicPr>
          <p:cNvPr id="22" name="Picture 21" descr="iso_system_bus.png"/>
          <p:cNvPicPr>
            <a:picLocks noChangeAspect="1"/>
          </p:cNvPicPr>
          <p:nvPr/>
        </p:nvPicPr>
        <p:blipFill>
          <a:blip r:embed="rId2"/>
          <a:stretch>
            <a:fillRect/>
          </a:stretch>
        </p:blipFill>
        <p:spPr>
          <a:xfrm>
            <a:off x="6400800" y="1371600"/>
            <a:ext cx="5029200" cy="2806995"/>
          </a:xfrm>
          <a:prstGeom prst="rect">
            <a:avLst/>
          </a:prstGeom>
        </p:spPr>
      </p:pic>
      <p:sp>
        <p:nvSpPr>
          <p:cNvPr id="23" name="Rounded Rectangle 22"/>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897880"/>
            <a:ext cx="10332720" cy="411480"/>
          </a:xfrm>
          <a:prstGeom prst="rect">
            <a:avLst/>
          </a:prstGeom>
          <a:noFill/>
        </p:spPr>
        <p:txBody>
          <a:bodyPr wrap="square" lIns="0" tIns="0" rIns="0" bIns="0">
            <a:spAutoFit/>
          </a:bodyPr>
          <a:lstStyle/>
          <a:p>
            <a:r>
              <a:rPr sz="1050" b="1">
                <a:solidFill>
                  <a:srgbClr val="38BDF8"/>
                </a:solidFill>
                <a:latin typeface="Segoe UI"/>
              </a:rPr>
              <a:t>□ System Bus Synchronization: </a:t>
            </a:r>
            <a:r>
              <a:rPr sz="1050">
                <a:solidFill>
                  <a:srgbClr val="FFFFFF"/>
                </a:solidFill>
                <a:latin typeface="Segoe UI"/>
              </a:rPr>
              <a:t>These three buses work synchronously to coordinate all instruction fetching, operand reads, and device data transfers.</a:t>
            </a:r>
          </a:p>
        </p:txBody>
      </p:sp>
    </p:spTree>
  </p:cSld>
  <p:clrMapOvr>
    <a:masterClrMapping/>
  </p:clrMapOvr>
  <p:transition xmlns:p14="http://schemas.microsoft.com/office/powerpoint/2010/main" spd="med" dur="1500">
    <p14:morph option="byObject"/>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 CORE HARDWARE</a:t>
            </a:r>
          </a:p>
        </p:txBody>
      </p:sp>
      <p:sp>
        <p:nvSpPr>
          <p:cNvPr id="4" name="Rounded Rectangle 3"/>
          <p:cNvSpPr/>
          <p:nvPr/>
        </p:nvSpPr>
        <p:spPr>
          <a:xfrm>
            <a:off x="786384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 RAM CHARAN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04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Hardware Communication: Interrupts &amp; DMA</a:t>
            </a:r>
          </a:p>
          <a:p>
            <a:pPr>
              <a:spcBef>
                <a:spcPts val="200"/>
              </a:spcBef>
              <a:defRPr sz="1150">
                <a:solidFill>
                  <a:srgbClr val="A0AFC8"/>
                </a:solidFill>
                <a:latin typeface="Segoe UI"/>
              </a:defRPr>
            </a:pPr>
            <a:r>
              <a:t>Asynchronous Event Signaling &amp; High-Speed Memory Transfers</a:t>
            </a:r>
          </a:p>
        </p:txBody>
      </p:sp>
      <p:sp>
        <p:nvSpPr>
          <p:cNvPr id="7" name="Rounded Rectangle 6"/>
          <p:cNvSpPr/>
          <p:nvPr/>
        </p:nvSpPr>
        <p:spPr>
          <a:xfrm>
            <a:off x="731520" y="1463040"/>
            <a:ext cx="52120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402336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Interrupt Mechanism</a:t>
            </a:r>
          </a:p>
        </p:txBody>
      </p:sp>
      <p:sp>
        <p:nvSpPr>
          <p:cNvPr id="11" name="TextBox 10"/>
          <p:cNvSpPr txBox="1"/>
          <p:nvPr/>
        </p:nvSpPr>
        <p:spPr>
          <a:xfrm>
            <a:off x="960120" y="1920240"/>
            <a:ext cx="4754880" cy="3383280"/>
          </a:xfrm>
          <a:prstGeom prst="rect">
            <a:avLst/>
          </a:prstGeom>
          <a:noFill/>
        </p:spPr>
        <p:txBody>
          <a:bodyPr wrap="square">
            <a:spAutoFit/>
          </a:bodyPr>
          <a:lstStyle/>
          <a:p>
            <a:pPr>
              <a:defRPr sz="1100" b="1">
                <a:solidFill>
                  <a:srgbClr val="FFFFFF"/>
                </a:solidFill>
                <a:latin typeface="Segoe UI"/>
              </a:defRPr>
            </a:pPr>
            <a:r>
              <a:t>• Purpose: </a:t>
            </a:r>
            <a:r>
              <a:rPr sz="1000" b="0">
                <a:solidFill>
                  <a:srgbClr val="A0AFC8"/>
                </a:solidFill>
                <a:latin typeface="Segoe UI"/>
              </a:rPr>
              <a:t>Allows devices to get the CPU’s attention asynchronously whenever they need it.</a:t>
            </a:r>
          </a:p>
          <a:p>
            <a:pPr>
              <a:spcBef>
                <a:spcPts val="400"/>
              </a:spcBef>
              <a:defRPr sz="1100" b="1">
                <a:solidFill>
                  <a:srgbClr val="FFFFFF"/>
                </a:solidFill>
                <a:latin typeface="Segoe UI"/>
              </a:defRPr>
            </a:pPr>
            <a:r>
              <a:t>• Eliminates Polling: </a:t>
            </a:r>
            <a:r>
              <a:rPr sz="1000" b="0">
                <a:solidFill>
                  <a:srgbClr val="A0AFC8"/>
                </a:solidFill>
                <a:latin typeface="Segoe UI"/>
              </a:rPr>
              <a:t>CPU avoids wasting billions of clock cycles in busy-waiting polling loops.</a:t>
            </a:r>
          </a:p>
          <a:p>
            <a:pPr>
              <a:spcBef>
                <a:spcPts val="400"/>
              </a:spcBef>
              <a:defRPr sz="1100" b="1">
                <a:solidFill>
                  <a:srgbClr val="FFFFFF"/>
                </a:solidFill>
                <a:latin typeface="Segoe UI"/>
              </a:defRPr>
            </a:pPr>
            <a:r>
              <a:t>• Vector Table Dispatch: </a:t>
            </a:r>
            <a:r>
              <a:rPr sz="1000" b="0">
                <a:solidFill>
                  <a:srgbClr val="A0AFC8"/>
                </a:solidFill>
                <a:latin typeface="Segoe UI"/>
              </a:rPr>
              <a:t>CPU pushes state to stack and branches instantly to the Interrupt Service Routine (ISR).</a:t>
            </a:r>
          </a:p>
          <a:p>
            <a:pPr>
              <a:spcBef>
                <a:spcPts val="400"/>
              </a:spcBef>
              <a:defRPr sz="1100" b="1">
                <a:solidFill>
                  <a:srgbClr val="FFFFFF"/>
                </a:solidFill>
                <a:latin typeface="Segoe UI"/>
              </a:defRPr>
            </a:pPr>
            <a:r>
              <a:t>• Seamless Resumption: </a:t>
            </a:r>
            <a:r>
              <a:rPr sz="1000" b="0">
                <a:solidFill>
                  <a:srgbClr val="A0AFC8"/>
                </a:solidFill>
                <a:latin typeface="Segoe UI"/>
              </a:rPr>
              <a:t>User execution resumes immediately after device service completes.</a:t>
            </a:r>
          </a:p>
        </p:txBody>
      </p:sp>
      <p:sp>
        <p:nvSpPr>
          <p:cNvPr id="12" name="Rounded Rectangle 11"/>
          <p:cNvSpPr/>
          <p:nvPr/>
        </p:nvSpPr>
        <p:spPr>
          <a:xfrm>
            <a:off x="6217920" y="1463040"/>
            <a:ext cx="52120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63040"/>
            <a:ext cx="73152" cy="402336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01400" y="153619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73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Direct Memory Access (DMA)</a:t>
            </a:r>
          </a:p>
        </p:txBody>
      </p:sp>
      <p:sp>
        <p:nvSpPr>
          <p:cNvPr id="16" name="TextBox 15"/>
          <p:cNvSpPr txBox="1"/>
          <p:nvPr/>
        </p:nvSpPr>
        <p:spPr>
          <a:xfrm>
            <a:off x="6446520" y="1920240"/>
            <a:ext cx="4754880" cy="3383280"/>
          </a:xfrm>
          <a:prstGeom prst="rect">
            <a:avLst/>
          </a:prstGeom>
          <a:noFill/>
        </p:spPr>
        <p:txBody>
          <a:bodyPr wrap="square">
            <a:spAutoFit/>
          </a:bodyPr>
          <a:lstStyle/>
          <a:p>
            <a:pPr>
              <a:defRPr sz="1100" b="1">
                <a:solidFill>
                  <a:srgbClr val="FFFFFF"/>
                </a:solidFill>
                <a:latin typeface="Segoe UI"/>
              </a:defRPr>
            </a:pPr>
            <a:r>
              <a:t>• Purpose: </a:t>
            </a:r>
            <a:r>
              <a:rPr sz="1000" b="0">
                <a:solidFill>
                  <a:srgbClr val="A0AFC8"/>
                </a:solidFill>
                <a:latin typeface="Segoe UI"/>
              </a:rPr>
              <a:t>Allows devices to transfer data directly to memory without making the CPU handle every piece of data.</a:t>
            </a:r>
          </a:p>
          <a:p>
            <a:pPr>
              <a:spcBef>
                <a:spcPts val="400"/>
              </a:spcBef>
              <a:defRPr sz="1100" b="1">
                <a:solidFill>
                  <a:srgbClr val="FFFFFF"/>
                </a:solidFill>
                <a:latin typeface="Segoe UI"/>
              </a:defRPr>
            </a:pPr>
            <a:r>
              <a:t>• High-Speed Channels: </a:t>
            </a:r>
            <a:r>
              <a:rPr sz="1000" b="0">
                <a:solidFill>
                  <a:srgbClr val="A0AFC8"/>
                </a:solidFill>
                <a:latin typeface="Segoe UI"/>
              </a:rPr>
              <a:t>Essential for disk controllers, SSDs, graphics, and Gigabit network interfaces.</a:t>
            </a:r>
          </a:p>
          <a:p>
            <a:pPr>
              <a:spcBef>
                <a:spcPts val="400"/>
              </a:spcBef>
              <a:defRPr sz="1100" b="1">
                <a:solidFill>
                  <a:srgbClr val="FFFFFF"/>
                </a:solidFill>
                <a:latin typeface="Segoe UI"/>
              </a:defRPr>
            </a:pPr>
            <a:r>
              <a:t>• Single Interrupt per Block: </a:t>
            </a:r>
            <a:r>
              <a:rPr sz="1000" b="0">
                <a:solidFill>
                  <a:srgbClr val="A0AFC8"/>
                </a:solidFill>
                <a:latin typeface="Segoe UI"/>
              </a:rPr>
              <a:t>Transfers entire data blocks directly between device buffer and RAM; emits only 1 interrupt per block.</a:t>
            </a:r>
          </a:p>
          <a:p>
            <a:pPr>
              <a:spcBef>
                <a:spcPts val="400"/>
              </a:spcBef>
              <a:defRPr sz="1100" b="1">
                <a:solidFill>
                  <a:srgbClr val="FFFFFF"/>
                </a:solidFill>
                <a:latin typeface="Segoe UI"/>
              </a:defRPr>
            </a:pPr>
            <a:r>
              <a:t>• CPU Offloading: </a:t>
            </a:r>
            <a:r>
              <a:rPr sz="1000" b="0">
                <a:solidFill>
                  <a:srgbClr val="A0AFC8"/>
                </a:solidFill>
                <a:latin typeface="Segoe UI"/>
              </a:rPr>
              <a:t>Frees the CPU to execute user computation while memory transfers proceed in parallel.</a:t>
            </a:r>
          </a:p>
        </p:txBody>
      </p:sp>
      <p:sp>
        <p:nvSpPr>
          <p:cNvPr id="17" name="Rounded Rectangle 16"/>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897880"/>
            <a:ext cx="10332720" cy="411480"/>
          </a:xfrm>
          <a:prstGeom prst="rect">
            <a:avLst/>
          </a:prstGeom>
          <a:noFill/>
        </p:spPr>
        <p:txBody>
          <a:bodyPr wrap="square" lIns="0" tIns="0" rIns="0" bIns="0">
            <a:spAutoFit/>
          </a:bodyPr>
          <a:lstStyle/>
          <a:p>
            <a:r>
              <a:rPr sz="1050" b="1">
                <a:solidFill>
                  <a:srgbClr val="34D399"/>
                </a:solidFill>
                <a:latin typeface="Segoe UI"/>
              </a:rPr>
              <a:t>□ Core Takeaway: </a:t>
            </a:r>
            <a:r>
              <a:rPr sz="1050">
                <a:solidFill>
                  <a:srgbClr val="FFFFFF"/>
                </a:solidFill>
                <a:latin typeface="Segoe UI"/>
              </a:rPr>
              <a:t>Interrupts provide asynchronous control signaling, while DMA provides high-throughput direct data movement.</a:t>
            </a:r>
          </a:p>
        </p:txBody>
      </p:sp>
    </p:spTree>
  </p:cSld>
  <p:clrMapOvr>
    <a:masterClrMapping/>
  </p:clrMapOvr>
  <p:transition xmlns:p14="http://schemas.microsoft.com/office/powerpoint/2010/main" spd="med" dur="1500">
    <p14:morph option="byObject"/>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 CORE HARDWARE</a:t>
            </a:r>
          </a:p>
        </p:txBody>
      </p:sp>
      <p:sp>
        <p:nvSpPr>
          <p:cNvPr id="4" name="Rounded Rectangle 3"/>
          <p:cNvSpPr/>
          <p:nvPr/>
        </p:nvSpPr>
        <p:spPr>
          <a:xfrm>
            <a:off x="786384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 RAM CHARAN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05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Core Hardware Integration Summary</a:t>
            </a:r>
          </a:p>
          <a:p>
            <a:pPr>
              <a:spcBef>
                <a:spcPts val="200"/>
              </a:spcBef>
              <a:defRPr sz="1150">
                <a:solidFill>
                  <a:srgbClr val="A0AFC8"/>
                </a:solidFill>
                <a:latin typeface="Segoe UI"/>
              </a:defRPr>
            </a:pPr>
            <a:r>
              <a:t>Cohesive Operation Across Processor, Memory, Bus &amp; Controllers</a:t>
            </a:r>
          </a:p>
        </p:txBody>
      </p:sp>
      <p:sp>
        <p:nvSpPr>
          <p:cNvPr id="7" name="Rounded Rectangle 6"/>
          <p:cNvSpPr/>
          <p:nvPr/>
        </p:nvSpPr>
        <p:spPr>
          <a:xfrm>
            <a:off x="731520" y="1463040"/>
            <a:ext cx="33832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402336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8620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3017520" cy="320040"/>
          </a:xfrm>
          <a:prstGeom prst="rect">
            <a:avLst/>
          </a:prstGeom>
          <a:noFill/>
        </p:spPr>
        <p:txBody>
          <a:bodyPr wrap="square" lIns="0" tIns="0" rIns="0" bIns="0">
            <a:spAutoFit/>
          </a:bodyPr>
          <a:lstStyle/>
          <a:p>
            <a:pPr>
              <a:defRPr sz="1300" b="1">
                <a:solidFill>
                  <a:srgbClr val="FFFFFF"/>
                </a:solidFill>
                <a:latin typeface="Segoe UI"/>
              </a:defRPr>
            </a:pPr>
            <a:r>
              <a:t>1. Triad Organization</a:t>
            </a:r>
          </a:p>
        </p:txBody>
      </p:sp>
      <p:sp>
        <p:nvSpPr>
          <p:cNvPr id="11" name="TextBox 10"/>
          <p:cNvSpPr txBox="1"/>
          <p:nvPr/>
        </p:nvSpPr>
        <p:spPr>
          <a:xfrm>
            <a:off x="950976" y="2011680"/>
            <a:ext cx="2971800" cy="3200400"/>
          </a:xfrm>
          <a:prstGeom prst="rect">
            <a:avLst/>
          </a:prstGeom>
          <a:noFill/>
        </p:spPr>
        <p:txBody>
          <a:bodyPr wrap="square">
            <a:spAutoFit/>
          </a:bodyPr>
          <a:lstStyle/>
          <a:p>
            <a:pPr>
              <a:spcBef>
                <a:spcPts val="400"/>
              </a:spcBef>
              <a:defRPr sz="1100">
                <a:solidFill>
                  <a:srgbClr val="A0AFC8"/>
                </a:solidFill>
                <a:latin typeface="Segoe UI"/>
              </a:defRPr>
            </a:pPr>
            <a:r>
              <a:t>CPU fetches, decodes, and executes. Main memory holds active tasks. I/O bridges external devices into the system.</a:t>
            </a:r>
          </a:p>
        </p:txBody>
      </p:sp>
      <p:sp>
        <p:nvSpPr>
          <p:cNvPr id="12" name="Rounded Rectangle 11"/>
          <p:cNvSpPr/>
          <p:nvPr/>
        </p:nvSpPr>
        <p:spPr>
          <a:xfrm>
            <a:off x="4389120" y="1463040"/>
            <a:ext cx="33832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89120" y="1463040"/>
            <a:ext cx="73152" cy="402336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43800" y="153619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1600200"/>
            <a:ext cx="3017520" cy="320040"/>
          </a:xfrm>
          <a:prstGeom prst="rect">
            <a:avLst/>
          </a:prstGeom>
          <a:noFill/>
        </p:spPr>
        <p:txBody>
          <a:bodyPr wrap="square" lIns="0" tIns="0" rIns="0" bIns="0">
            <a:spAutoFit/>
          </a:bodyPr>
          <a:lstStyle/>
          <a:p>
            <a:pPr>
              <a:defRPr sz="1300" b="1">
                <a:solidFill>
                  <a:srgbClr val="FFFFFF"/>
                </a:solidFill>
                <a:latin typeface="Segoe UI"/>
              </a:defRPr>
            </a:pPr>
            <a:r>
              <a:t>2. Tri-Bus Highway</a:t>
            </a:r>
          </a:p>
        </p:txBody>
      </p:sp>
      <p:sp>
        <p:nvSpPr>
          <p:cNvPr id="16" name="TextBox 15"/>
          <p:cNvSpPr txBox="1"/>
          <p:nvPr/>
        </p:nvSpPr>
        <p:spPr>
          <a:xfrm>
            <a:off x="4608576" y="2011680"/>
            <a:ext cx="2971800" cy="3200400"/>
          </a:xfrm>
          <a:prstGeom prst="rect">
            <a:avLst/>
          </a:prstGeom>
          <a:noFill/>
        </p:spPr>
        <p:txBody>
          <a:bodyPr wrap="square">
            <a:spAutoFit/>
          </a:bodyPr>
          <a:lstStyle/>
          <a:p>
            <a:pPr>
              <a:spcBef>
                <a:spcPts val="400"/>
              </a:spcBef>
              <a:defRPr sz="1100">
                <a:solidFill>
                  <a:srgbClr val="A0AFC8"/>
                </a:solidFill>
                <a:latin typeface="Segoe UI"/>
              </a:defRPr>
            </a:pPr>
            <a:r>
              <a:t>Address bus routes destinations, data bus transmits operands/code, and control bus synchronizes read/write timing.</a:t>
            </a:r>
          </a:p>
        </p:txBody>
      </p:sp>
      <p:sp>
        <p:nvSpPr>
          <p:cNvPr id="17" name="Rounded Rectangle 16"/>
          <p:cNvSpPr/>
          <p:nvPr/>
        </p:nvSpPr>
        <p:spPr>
          <a:xfrm>
            <a:off x="8046720" y="1463040"/>
            <a:ext cx="33832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0" y="1463040"/>
            <a:ext cx="73152" cy="402336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201400" y="153619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66176" y="1600200"/>
            <a:ext cx="3017520" cy="320040"/>
          </a:xfrm>
          <a:prstGeom prst="rect">
            <a:avLst/>
          </a:prstGeom>
          <a:noFill/>
        </p:spPr>
        <p:txBody>
          <a:bodyPr wrap="square" lIns="0" tIns="0" rIns="0" bIns="0">
            <a:spAutoFit/>
          </a:bodyPr>
          <a:lstStyle/>
          <a:p>
            <a:pPr>
              <a:defRPr sz="1300" b="1">
                <a:solidFill>
                  <a:srgbClr val="FFFFFF"/>
                </a:solidFill>
                <a:latin typeface="Segoe UI"/>
              </a:defRPr>
            </a:pPr>
            <a:r>
              <a:t>3. Event &amp; Data Flow</a:t>
            </a:r>
          </a:p>
        </p:txBody>
      </p:sp>
      <p:sp>
        <p:nvSpPr>
          <p:cNvPr id="21" name="TextBox 20"/>
          <p:cNvSpPr txBox="1"/>
          <p:nvPr/>
        </p:nvSpPr>
        <p:spPr>
          <a:xfrm>
            <a:off x="8266176" y="2011680"/>
            <a:ext cx="2971800" cy="3200400"/>
          </a:xfrm>
          <a:prstGeom prst="rect">
            <a:avLst/>
          </a:prstGeom>
          <a:noFill/>
        </p:spPr>
        <p:txBody>
          <a:bodyPr wrap="square">
            <a:spAutoFit/>
          </a:bodyPr>
          <a:lstStyle/>
          <a:p>
            <a:pPr>
              <a:spcBef>
                <a:spcPts val="400"/>
              </a:spcBef>
              <a:defRPr sz="1100">
                <a:solidFill>
                  <a:srgbClr val="A0AFC8"/>
                </a:solidFill>
                <a:latin typeface="Segoe UI"/>
              </a:defRPr>
            </a:pPr>
            <a:r>
              <a:t>Interrupts notify the CPU on demand, while DMA streams high-speed data directly to RAM without processor bottlenecks.</a:t>
            </a:r>
          </a:p>
        </p:txBody>
      </p:sp>
      <p:sp>
        <p:nvSpPr>
          <p:cNvPr id="22" name="Rounded Rectangle 21"/>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897880"/>
            <a:ext cx="10332720" cy="411480"/>
          </a:xfrm>
          <a:prstGeom prst="rect">
            <a:avLst/>
          </a:prstGeom>
          <a:noFill/>
        </p:spPr>
        <p:txBody>
          <a:bodyPr wrap="square" lIns="0" tIns="0" rIns="0" bIns="0">
            <a:spAutoFit/>
          </a:bodyPr>
          <a:lstStyle/>
          <a:p>
            <a:r>
              <a:rPr sz="1050" b="1">
                <a:solidFill>
                  <a:srgbClr val="38BDF8"/>
                </a:solidFill>
                <a:latin typeface="Segoe UI"/>
              </a:rPr>
              <a:t>□ Act I Transition: </a:t>
            </a:r>
            <a:r>
              <a:rPr sz="1050">
                <a:solidFill>
                  <a:srgbClr val="FFFFFF"/>
                </a:solidFill>
                <a:latin typeface="Segoe UI"/>
              </a:rPr>
              <a:t>That’s the basic idea of how the hardware components communicate. Next: Memory &amp; Storage Hierarchy.</a:t>
            </a:r>
          </a:p>
        </p:txBody>
      </p:sp>
    </p:spTree>
  </p:cSld>
  <p:clrMapOvr>
    <a:masterClrMapping/>
  </p:clrMapOvr>
  <p:transition xmlns:p14="http://schemas.microsoft.com/office/powerpoint/2010/main" spd="med" dur="1500">
    <p14:morph option="byObject"/>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 MEMORY &amp; STORAGE</a:t>
            </a:r>
          </a:p>
        </p:txBody>
      </p:sp>
      <p:sp>
        <p:nvSpPr>
          <p:cNvPr id="4" name="Rounded Rectangle 3"/>
          <p:cNvSpPr/>
          <p:nvPr/>
        </p:nvSpPr>
        <p:spPr>
          <a:xfrm>
            <a:off x="786384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VEDHANTH</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06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Memory and Storage Hierarchy</a:t>
            </a:r>
          </a:p>
          <a:p>
            <a:pPr>
              <a:spcBef>
                <a:spcPts val="200"/>
              </a:spcBef>
              <a:defRPr sz="1150">
                <a:solidFill>
                  <a:srgbClr val="A0AFC8"/>
                </a:solidFill>
                <a:latin typeface="Segoe UI"/>
              </a:defRPr>
            </a:pPr>
            <a:r>
              <a:t>Balancing Speed, Cost, and Capacity Across Storage Tiers</a:t>
            </a:r>
          </a:p>
        </p:txBody>
      </p:sp>
      <p:sp>
        <p:nvSpPr>
          <p:cNvPr id="7" name="TextBox 6"/>
          <p:cNvSpPr txBox="1"/>
          <p:nvPr/>
        </p:nvSpPr>
        <p:spPr>
          <a:xfrm>
            <a:off x="731520" y="1463040"/>
            <a:ext cx="5303520" cy="4114800"/>
          </a:xfrm>
          <a:prstGeom prst="rect">
            <a:avLst/>
          </a:prstGeom>
          <a:noFill/>
        </p:spPr>
        <p:txBody>
          <a:bodyPr wrap="square">
            <a:spAutoFit/>
          </a:bodyPr>
          <a:lstStyle/>
          <a:p>
            <a:pPr>
              <a:defRPr sz="1500" b="1">
                <a:solidFill>
                  <a:srgbClr val="FFFFFF"/>
                </a:solidFill>
                <a:latin typeface="Segoe UI"/>
              </a:defRPr>
            </a:pPr>
            <a:r>
              <a:t>Why Do Computers Use Different Types of Memory?</a:t>
            </a:r>
          </a:p>
          <a:p>
            <a:pPr>
              <a:spcBef>
                <a:spcPts val="600"/>
              </a:spcBef>
              <a:defRPr sz="1100">
                <a:solidFill>
                  <a:srgbClr val="38BDF8"/>
                </a:solidFill>
                <a:latin typeface="Segoe UI"/>
              </a:defRPr>
            </a:pPr>
            <a:r>
              <a:t>Computers use different types of memory because faster memory is usually smaller and more expensive, while slower memory can provide much larger capacity.</a:t>
            </a:r>
          </a:p>
        </p:txBody>
      </p:sp>
      <p:sp>
        <p:nvSpPr>
          <p:cNvPr id="8" name="Rounded Rectangle 7"/>
          <p:cNvSpPr/>
          <p:nvPr/>
        </p:nvSpPr>
        <p:spPr>
          <a:xfrm>
            <a:off x="731520" y="2834640"/>
            <a:ext cx="5303520" cy="12801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2834640"/>
            <a:ext cx="73152" cy="128016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06440" y="29077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971800"/>
            <a:ext cx="4937759" cy="320040"/>
          </a:xfrm>
          <a:prstGeom prst="rect">
            <a:avLst/>
          </a:prstGeom>
          <a:noFill/>
        </p:spPr>
        <p:txBody>
          <a:bodyPr wrap="square" lIns="0" tIns="0" rIns="0" bIns="0">
            <a:spAutoFit/>
          </a:bodyPr>
          <a:lstStyle/>
          <a:p>
            <a:pPr>
              <a:defRPr sz="1300" b="1">
                <a:solidFill>
                  <a:srgbClr val="FFFFFF"/>
                </a:solidFill>
                <a:latin typeface="Segoe UI"/>
              </a:defRPr>
            </a:pPr>
            <a:r>
              <a:t>High-Speed Tier (Top)</a:t>
            </a:r>
          </a:p>
        </p:txBody>
      </p:sp>
      <p:sp>
        <p:nvSpPr>
          <p:cNvPr id="12" name="TextBox 11"/>
          <p:cNvSpPr txBox="1"/>
          <p:nvPr/>
        </p:nvSpPr>
        <p:spPr>
          <a:xfrm>
            <a:off x="960120" y="3246120"/>
            <a:ext cx="4846320" cy="777240"/>
          </a:xfrm>
          <a:prstGeom prst="rect">
            <a:avLst/>
          </a:prstGeom>
          <a:noFill/>
        </p:spPr>
        <p:txBody>
          <a:bodyPr wrap="none">
            <a:spAutoFit/>
          </a:bodyPr>
          <a:lstStyle/>
          <a:p>
            <a:pPr>
              <a:defRPr sz="1000">
                <a:solidFill>
                  <a:srgbClr val="A0AFC8"/>
                </a:solidFill>
                <a:latin typeface="Segoe UI"/>
              </a:defRPr>
            </a:pPr>
            <a:r>
              <a:t>Registers and CPU caches provide sub-nanosecond access speeds to keep the execution pipeline fed, but are limited in physical capacity.</a:t>
            </a:r>
          </a:p>
        </p:txBody>
      </p:sp>
      <p:sp>
        <p:nvSpPr>
          <p:cNvPr id="13" name="Rounded Rectangle 12"/>
          <p:cNvSpPr/>
          <p:nvPr/>
        </p:nvSpPr>
        <p:spPr>
          <a:xfrm>
            <a:off x="731520" y="4251960"/>
            <a:ext cx="5303520" cy="12801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4251960"/>
            <a:ext cx="73152" cy="12801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06440" y="4325112"/>
            <a:ext cx="13716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6" y="4389120"/>
            <a:ext cx="4937759" cy="320040"/>
          </a:xfrm>
          <a:prstGeom prst="rect">
            <a:avLst/>
          </a:prstGeom>
          <a:noFill/>
        </p:spPr>
        <p:txBody>
          <a:bodyPr wrap="square" lIns="0" tIns="0" rIns="0" bIns="0">
            <a:spAutoFit/>
          </a:bodyPr>
          <a:lstStyle/>
          <a:p>
            <a:pPr>
              <a:defRPr sz="1300" b="1">
                <a:solidFill>
                  <a:srgbClr val="FFFFFF"/>
                </a:solidFill>
                <a:latin typeface="Segoe UI"/>
              </a:defRPr>
            </a:pPr>
            <a:r>
              <a:t>High-Capacity Tier (Bottom)</a:t>
            </a:r>
          </a:p>
        </p:txBody>
      </p:sp>
      <p:sp>
        <p:nvSpPr>
          <p:cNvPr id="17" name="TextBox 16"/>
          <p:cNvSpPr txBox="1"/>
          <p:nvPr/>
        </p:nvSpPr>
        <p:spPr>
          <a:xfrm>
            <a:off x="960120" y="4663440"/>
            <a:ext cx="4846320" cy="777240"/>
          </a:xfrm>
          <a:prstGeom prst="rect">
            <a:avLst/>
          </a:prstGeom>
          <a:noFill/>
        </p:spPr>
        <p:txBody>
          <a:bodyPr wrap="none">
            <a:spAutoFit/>
          </a:bodyPr>
          <a:lstStyle/>
          <a:p>
            <a:pPr>
              <a:defRPr sz="1000">
                <a:solidFill>
                  <a:srgbClr val="A0AFC8"/>
                </a:solidFill>
                <a:latin typeface="Segoe UI"/>
              </a:defRPr>
            </a:pPr>
            <a:r>
              <a:t>Main memory and secondary storage (SSDs/HDDs) provide gigabytes to terabytes of storage at low cost per bit.</a:t>
            </a:r>
          </a:p>
        </p:txBody>
      </p:sp>
      <p:pic>
        <p:nvPicPr>
          <p:cNvPr id="18" name="Picture 17" descr="iso_storage_pyramid.png"/>
          <p:cNvPicPr>
            <a:picLocks noChangeAspect="1"/>
          </p:cNvPicPr>
          <p:nvPr/>
        </p:nvPicPr>
        <p:blipFill>
          <a:blip r:embed="rId2"/>
          <a:stretch>
            <a:fillRect/>
          </a:stretch>
        </p:blipFill>
        <p:spPr>
          <a:xfrm>
            <a:off x="6400800" y="1371600"/>
            <a:ext cx="5029200" cy="2806995"/>
          </a:xfrm>
          <a:prstGeom prst="rect">
            <a:avLst/>
          </a:prstGeom>
        </p:spPr>
      </p:pic>
      <p:sp>
        <p:nvSpPr>
          <p:cNvPr id="19" name="Rounded Rectangle 18"/>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897880"/>
            <a:ext cx="10332720" cy="411480"/>
          </a:xfrm>
          <a:prstGeom prst="rect">
            <a:avLst/>
          </a:prstGeom>
          <a:noFill/>
        </p:spPr>
        <p:txBody>
          <a:bodyPr wrap="square" lIns="0" tIns="0" rIns="0" bIns="0">
            <a:spAutoFit/>
          </a:bodyPr>
          <a:lstStyle/>
          <a:p>
            <a:r>
              <a:rPr sz="1050" b="1">
                <a:solidFill>
                  <a:srgbClr val="38BDF8"/>
                </a:solidFill>
                <a:latin typeface="Segoe UI"/>
              </a:rPr>
              <a:t>□ Fundamental Trade-off: </a:t>
            </a:r>
            <a:r>
              <a:rPr sz="1050">
                <a:solidFill>
                  <a:srgbClr val="FFFFFF"/>
                </a:solidFill>
                <a:latin typeface="Segoe UI"/>
              </a:rPr>
              <a:t>Faster memory is smaller and expensive; slower storage is large and economical. The hierarchy balances both.</a:t>
            </a:r>
          </a:p>
        </p:txBody>
      </p:sp>
    </p:spTree>
  </p:cSld>
  <p:clrMapOvr>
    <a:masterClrMapping/>
  </p:clrMapOvr>
  <p:transition xmlns:p14="http://schemas.microsoft.com/office/powerpoint/2010/main" spd="med" dur="1500">
    <p14:morph option="byObject"/>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 MEMORY &amp; STORAGE</a:t>
            </a:r>
          </a:p>
        </p:txBody>
      </p:sp>
      <p:sp>
        <p:nvSpPr>
          <p:cNvPr id="4" name="Rounded Rectangle 3"/>
          <p:cNvSpPr/>
          <p:nvPr/>
        </p:nvSpPr>
        <p:spPr>
          <a:xfrm>
            <a:off x="786384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VEDHANTH</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07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The Hierarchy Tiers: Registers to Secondary Storage</a:t>
            </a:r>
          </a:p>
          <a:p>
            <a:pPr>
              <a:spcBef>
                <a:spcPts val="200"/>
              </a:spcBef>
              <a:defRPr sz="1150">
                <a:solidFill>
                  <a:srgbClr val="A0AFC8"/>
                </a:solidFill>
                <a:latin typeface="Segoe UI"/>
              </a:defRPr>
            </a:pPr>
            <a:r>
              <a:t>Speed, Capacity, and Access Latency Across the Four Levels</a:t>
            </a:r>
          </a:p>
        </p:txBody>
      </p:sp>
      <p:sp>
        <p:nvSpPr>
          <p:cNvPr id="7" name="Rounded Rectangle 6"/>
          <p:cNvSpPr/>
          <p:nvPr/>
        </p:nvSpPr>
        <p:spPr>
          <a:xfrm>
            <a:off x="731520" y="1463040"/>
            <a:ext cx="251460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402336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01752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2148840" cy="320040"/>
          </a:xfrm>
          <a:prstGeom prst="rect">
            <a:avLst/>
          </a:prstGeom>
          <a:noFill/>
        </p:spPr>
        <p:txBody>
          <a:bodyPr wrap="square" lIns="0" tIns="0" rIns="0" bIns="0">
            <a:spAutoFit/>
          </a:bodyPr>
          <a:lstStyle/>
          <a:p>
            <a:pPr>
              <a:defRPr sz="1300" b="1">
                <a:solidFill>
                  <a:srgbClr val="FFFFFF"/>
                </a:solidFill>
                <a:latin typeface="Segoe UI"/>
              </a:defRPr>
            </a:pPr>
            <a:r>
              <a:t>1. Registers</a:t>
            </a:r>
          </a:p>
        </p:txBody>
      </p:sp>
      <p:sp>
        <p:nvSpPr>
          <p:cNvPr id="11" name="TextBox 10"/>
          <p:cNvSpPr txBox="1"/>
          <p:nvPr/>
        </p:nvSpPr>
        <p:spPr>
          <a:xfrm>
            <a:off x="914400" y="1920240"/>
            <a:ext cx="2148840" cy="731520"/>
          </a:xfrm>
          <a:prstGeom prst="rect">
            <a:avLst/>
          </a:prstGeom>
          <a:noFill/>
        </p:spPr>
        <p:txBody>
          <a:bodyPr wrap="none">
            <a:spAutoFit/>
          </a:bodyPr>
          <a:lstStyle/>
          <a:p>
            <a:pPr>
              <a:defRPr sz="1000" b="1">
                <a:solidFill>
                  <a:srgbClr val="38BDF8"/>
                </a:solidFill>
                <a:latin typeface="Segoe UI"/>
              </a:defRPr>
            </a:pPr>
            <a:r>
              <a:t>Speed: &lt; 1 ns</a:t>
            </a:r>
          </a:p>
          <a:p>
            <a:pPr>
              <a:defRPr sz="950">
                <a:solidFill>
                  <a:srgbClr val="FFFFFF"/>
                </a:solidFill>
                <a:latin typeface="Segoe UI"/>
              </a:defRPr>
            </a:pPr>
            <a:r>
              <a:t>Capacity: Bytes / KB</a:t>
            </a:r>
          </a:p>
        </p:txBody>
      </p:sp>
      <p:sp>
        <p:nvSpPr>
          <p:cNvPr id="12" name="TextBox 11"/>
          <p:cNvSpPr txBox="1"/>
          <p:nvPr/>
        </p:nvSpPr>
        <p:spPr>
          <a:xfrm>
            <a:off x="914400" y="2743200"/>
            <a:ext cx="2148840" cy="2560320"/>
          </a:xfrm>
          <a:prstGeom prst="rect">
            <a:avLst/>
          </a:prstGeom>
          <a:noFill/>
        </p:spPr>
        <p:txBody>
          <a:bodyPr wrap="square">
            <a:spAutoFit/>
          </a:bodyPr>
          <a:lstStyle/>
          <a:p>
            <a:pPr>
              <a:defRPr sz="1000">
                <a:solidFill>
                  <a:srgbClr val="A0AFC8"/>
                </a:solidFill>
                <a:latin typeface="Segoe UI"/>
              </a:defRPr>
            </a:pPr>
            <a:r>
              <a:t>Fastest &amp; smallest storage; located directly inside the CPU; holds immediate operands.</a:t>
            </a:r>
          </a:p>
        </p:txBody>
      </p:sp>
      <p:sp>
        <p:nvSpPr>
          <p:cNvPr id="13" name="Rounded Rectangle 12"/>
          <p:cNvSpPr/>
          <p:nvPr/>
        </p:nvSpPr>
        <p:spPr>
          <a:xfrm>
            <a:off x="3474720" y="1463040"/>
            <a:ext cx="251460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74720" y="1463040"/>
            <a:ext cx="73152" cy="402336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60720" y="153619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94176" y="1600200"/>
            <a:ext cx="2148840" cy="320040"/>
          </a:xfrm>
          <a:prstGeom prst="rect">
            <a:avLst/>
          </a:prstGeom>
          <a:noFill/>
        </p:spPr>
        <p:txBody>
          <a:bodyPr wrap="square" lIns="0" tIns="0" rIns="0" bIns="0">
            <a:spAutoFit/>
          </a:bodyPr>
          <a:lstStyle/>
          <a:p>
            <a:pPr>
              <a:defRPr sz="1300" b="1">
                <a:solidFill>
                  <a:srgbClr val="FFFFFF"/>
                </a:solidFill>
                <a:latin typeface="Segoe UI"/>
              </a:defRPr>
            </a:pPr>
            <a:r>
              <a:t>2. Cache (L1/L2/L3)</a:t>
            </a:r>
          </a:p>
        </p:txBody>
      </p:sp>
      <p:sp>
        <p:nvSpPr>
          <p:cNvPr id="17" name="TextBox 16"/>
          <p:cNvSpPr txBox="1"/>
          <p:nvPr/>
        </p:nvSpPr>
        <p:spPr>
          <a:xfrm>
            <a:off x="3657600" y="1920240"/>
            <a:ext cx="2148840" cy="731520"/>
          </a:xfrm>
          <a:prstGeom prst="rect">
            <a:avLst/>
          </a:prstGeom>
          <a:noFill/>
        </p:spPr>
        <p:txBody>
          <a:bodyPr wrap="none">
            <a:spAutoFit/>
          </a:bodyPr>
          <a:lstStyle/>
          <a:p>
            <a:pPr>
              <a:defRPr sz="1000" b="1">
                <a:solidFill>
                  <a:srgbClr val="818CF8"/>
                </a:solidFill>
                <a:latin typeface="Segoe UI"/>
              </a:defRPr>
            </a:pPr>
            <a:r>
              <a:t>Speed: 1 – 10 ns</a:t>
            </a:r>
          </a:p>
          <a:p>
            <a:pPr>
              <a:defRPr sz="950">
                <a:solidFill>
                  <a:srgbClr val="FFFFFF"/>
                </a:solidFill>
                <a:latin typeface="Segoe UI"/>
              </a:defRPr>
            </a:pPr>
            <a:r>
              <a:t>Capacity: KB – MB</a:t>
            </a:r>
          </a:p>
        </p:txBody>
      </p:sp>
      <p:sp>
        <p:nvSpPr>
          <p:cNvPr id="18" name="TextBox 17"/>
          <p:cNvSpPr txBox="1"/>
          <p:nvPr/>
        </p:nvSpPr>
        <p:spPr>
          <a:xfrm>
            <a:off x="3657600" y="2743200"/>
            <a:ext cx="2148840" cy="2560320"/>
          </a:xfrm>
          <a:prstGeom prst="rect">
            <a:avLst/>
          </a:prstGeom>
          <a:noFill/>
        </p:spPr>
        <p:txBody>
          <a:bodyPr wrap="square">
            <a:spAutoFit/>
          </a:bodyPr>
          <a:lstStyle/>
          <a:p>
            <a:pPr>
              <a:defRPr sz="1000">
                <a:solidFill>
                  <a:srgbClr val="A0AFC8"/>
                </a:solidFill>
                <a:latin typeface="Segoe UI"/>
              </a:defRPr>
            </a:pPr>
            <a:r>
              <a:t>High-speed on-chip SRAM; buffers frequently used instructions and active data.</a:t>
            </a:r>
          </a:p>
        </p:txBody>
      </p:sp>
      <p:sp>
        <p:nvSpPr>
          <p:cNvPr id="19" name="Rounded Rectangle 18"/>
          <p:cNvSpPr/>
          <p:nvPr/>
        </p:nvSpPr>
        <p:spPr>
          <a:xfrm>
            <a:off x="6217920" y="1463040"/>
            <a:ext cx="251460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7920" y="1463040"/>
            <a:ext cx="73152" cy="402336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503920" y="153619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1600200"/>
            <a:ext cx="2148840" cy="320040"/>
          </a:xfrm>
          <a:prstGeom prst="rect">
            <a:avLst/>
          </a:prstGeom>
          <a:noFill/>
        </p:spPr>
        <p:txBody>
          <a:bodyPr wrap="square" lIns="0" tIns="0" rIns="0" bIns="0">
            <a:spAutoFit/>
          </a:bodyPr>
          <a:lstStyle/>
          <a:p>
            <a:pPr>
              <a:defRPr sz="1300" b="1">
                <a:solidFill>
                  <a:srgbClr val="FFFFFF"/>
                </a:solidFill>
                <a:latin typeface="Segoe UI"/>
              </a:defRPr>
            </a:pPr>
            <a:r>
              <a:t>3. Main Memory (RAM)</a:t>
            </a:r>
          </a:p>
        </p:txBody>
      </p:sp>
      <p:sp>
        <p:nvSpPr>
          <p:cNvPr id="23" name="TextBox 22"/>
          <p:cNvSpPr txBox="1"/>
          <p:nvPr/>
        </p:nvSpPr>
        <p:spPr>
          <a:xfrm>
            <a:off x="6400800" y="1920240"/>
            <a:ext cx="2148840" cy="731520"/>
          </a:xfrm>
          <a:prstGeom prst="rect">
            <a:avLst/>
          </a:prstGeom>
          <a:noFill/>
        </p:spPr>
        <p:txBody>
          <a:bodyPr wrap="none">
            <a:spAutoFit/>
          </a:bodyPr>
          <a:lstStyle/>
          <a:p>
            <a:pPr>
              <a:defRPr sz="1000" b="1">
                <a:solidFill>
                  <a:srgbClr val="34D399"/>
                </a:solidFill>
                <a:latin typeface="Segoe UI"/>
              </a:defRPr>
            </a:pPr>
            <a:r>
              <a:t>Speed: 50 – 100 ns</a:t>
            </a:r>
          </a:p>
          <a:p>
            <a:pPr>
              <a:defRPr sz="950">
                <a:solidFill>
                  <a:srgbClr val="FFFFFF"/>
                </a:solidFill>
                <a:latin typeface="Segoe UI"/>
              </a:defRPr>
            </a:pPr>
            <a:r>
              <a:t>Capacity: GBs</a:t>
            </a:r>
          </a:p>
        </p:txBody>
      </p:sp>
      <p:sp>
        <p:nvSpPr>
          <p:cNvPr id="24" name="TextBox 23"/>
          <p:cNvSpPr txBox="1"/>
          <p:nvPr/>
        </p:nvSpPr>
        <p:spPr>
          <a:xfrm>
            <a:off x="6400800" y="2743200"/>
            <a:ext cx="2148840" cy="2560320"/>
          </a:xfrm>
          <a:prstGeom prst="rect">
            <a:avLst/>
          </a:prstGeom>
          <a:noFill/>
        </p:spPr>
        <p:txBody>
          <a:bodyPr wrap="square">
            <a:spAutoFit/>
          </a:bodyPr>
          <a:lstStyle/>
          <a:p>
            <a:pPr>
              <a:defRPr sz="1000">
                <a:solidFill>
                  <a:srgbClr val="A0AFC8"/>
                </a:solidFill>
                <a:latin typeface="Segoe UI"/>
              </a:defRPr>
            </a:pPr>
            <a:r>
              <a:t>Primary DRAM workspace; holds currently executing programs and operating system buffers.</a:t>
            </a:r>
          </a:p>
        </p:txBody>
      </p:sp>
      <p:sp>
        <p:nvSpPr>
          <p:cNvPr id="25" name="Rounded Rectangle 24"/>
          <p:cNvSpPr/>
          <p:nvPr/>
        </p:nvSpPr>
        <p:spPr>
          <a:xfrm>
            <a:off x="8961120" y="1463040"/>
            <a:ext cx="251460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961120" y="1463040"/>
            <a:ext cx="73152" cy="40233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247120" y="1536192"/>
            <a:ext cx="13716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0576" y="1600200"/>
            <a:ext cx="2148840" cy="320040"/>
          </a:xfrm>
          <a:prstGeom prst="rect">
            <a:avLst/>
          </a:prstGeom>
          <a:noFill/>
        </p:spPr>
        <p:txBody>
          <a:bodyPr wrap="square" lIns="0" tIns="0" rIns="0" bIns="0">
            <a:spAutoFit/>
          </a:bodyPr>
          <a:lstStyle/>
          <a:p>
            <a:pPr>
              <a:defRPr sz="1300" b="1">
                <a:solidFill>
                  <a:srgbClr val="FFFFFF"/>
                </a:solidFill>
                <a:latin typeface="Segoe UI"/>
              </a:defRPr>
            </a:pPr>
            <a:r>
              <a:t>4. Secondary Storage</a:t>
            </a:r>
          </a:p>
        </p:txBody>
      </p:sp>
      <p:sp>
        <p:nvSpPr>
          <p:cNvPr id="29" name="TextBox 28"/>
          <p:cNvSpPr txBox="1"/>
          <p:nvPr/>
        </p:nvSpPr>
        <p:spPr>
          <a:xfrm>
            <a:off x="9144000" y="1920240"/>
            <a:ext cx="2148840" cy="731520"/>
          </a:xfrm>
          <a:prstGeom prst="rect">
            <a:avLst/>
          </a:prstGeom>
          <a:noFill/>
        </p:spPr>
        <p:txBody>
          <a:bodyPr wrap="none">
            <a:spAutoFit/>
          </a:bodyPr>
          <a:lstStyle/>
          <a:p>
            <a:pPr>
              <a:defRPr sz="1000" b="1">
                <a:solidFill>
                  <a:srgbClr val="F59E0B"/>
                </a:solidFill>
                <a:latin typeface="Segoe UI"/>
              </a:defRPr>
            </a:pPr>
            <a:r>
              <a:t>Speed: 10 μs – 10 ms</a:t>
            </a:r>
          </a:p>
          <a:p>
            <a:pPr>
              <a:defRPr sz="950">
                <a:solidFill>
                  <a:srgbClr val="FFFFFF"/>
                </a:solidFill>
                <a:latin typeface="Segoe UI"/>
              </a:defRPr>
            </a:pPr>
            <a:r>
              <a:t>Capacity: TBs</a:t>
            </a:r>
          </a:p>
        </p:txBody>
      </p:sp>
      <p:sp>
        <p:nvSpPr>
          <p:cNvPr id="30" name="TextBox 29"/>
          <p:cNvSpPr txBox="1"/>
          <p:nvPr/>
        </p:nvSpPr>
        <p:spPr>
          <a:xfrm>
            <a:off x="9144000" y="2743200"/>
            <a:ext cx="2148840" cy="2560320"/>
          </a:xfrm>
          <a:prstGeom prst="rect">
            <a:avLst/>
          </a:prstGeom>
          <a:noFill/>
        </p:spPr>
        <p:txBody>
          <a:bodyPr wrap="square">
            <a:spAutoFit/>
          </a:bodyPr>
          <a:lstStyle/>
          <a:p>
            <a:pPr>
              <a:defRPr sz="1000">
                <a:solidFill>
                  <a:srgbClr val="A0AFC8"/>
                </a:solidFill>
                <a:latin typeface="Segoe UI"/>
              </a:defRPr>
            </a:pPr>
            <a:r>
              <a:t>SSDs, NVMe &amp; Hard Disks; non-volatile long-term storage preserving files permanently.</a:t>
            </a:r>
          </a:p>
        </p:txBody>
      </p:sp>
      <p:sp>
        <p:nvSpPr>
          <p:cNvPr id="31" name="Rounded Rectangle 30"/>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897880"/>
            <a:ext cx="10332720" cy="411480"/>
          </a:xfrm>
          <a:prstGeom prst="rect">
            <a:avLst/>
          </a:prstGeom>
          <a:noFill/>
        </p:spPr>
        <p:txBody>
          <a:bodyPr wrap="square" lIns="0" tIns="0" rIns="0" bIns="0">
            <a:spAutoFit/>
          </a:bodyPr>
          <a:lstStyle/>
          <a:p>
            <a:r>
              <a:rPr sz="1050" b="1">
                <a:solidFill>
                  <a:srgbClr val="38BDF8"/>
                </a:solidFill>
                <a:latin typeface="Segoe UI"/>
              </a:rPr>
              <a:t>□ Hierarchy Structure: </a:t>
            </a:r>
            <a:r>
              <a:rPr sz="1050">
                <a:solidFill>
                  <a:srgbClr val="FFFFFF"/>
                </a:solidFill>
                <a:latin typeface="Segoe UI"/>
              </a:rPr>
              <a:t>The hierarchy starts with registers, which are the fastest and smallest, followed by cache, RAM, and finally secondary storage such as SSDs and hard disks.</a:t>
            </a:r>
          </a:p>
        </p:txBody>
      </p:sp>
    </p:spTree>
  </p:cSld>
  <p:clrMapOvr>
    <a:masterClrMapping/>
  </p:clrMapOvr>
  <p:transition xmlns:p14="http://schemas.microsoft.com/office/powerpoint/2010/main" spd="med" dur="1500">
    <p14:morph option="byObject"/>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 MEMORY &amp; STORAGE</a:t>
            </a:r>
          </a:p>
        </p:txBody>
      </p:sp>
      <p:sp>
        <p:nvSpPr>
          <p:cNvPr id="4" name="Rounded Rectangle 3"/>
          <p:cNvSpPr/>
          <p:nvPr/>
        </p:nvSpPr>
        <p:spPr>
          <a:xfrm>
            <a:off x="786384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VEDHANTH</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08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Locality of Reference: Temporal &amp; Spatial</a:t>
            </a:r>
          </a:p>
          <a:p>
            <a:pPr>
              <a:spcBef>
                <a:spcPts val="200"/>
              </a:spcBef>
              <a:defRPr sz="1150">
                <a:solidFill>
                  <a:srgbClr val="A0AFC8"/>
                </a:solidFill>
                <a:latin typeface="Segoe UI"/>
              </a:defRPr>
            </a:pPr>
            <a:r>
              <a:t>The Behavioral Principle Making Caching and Hierarchy Work</a:t>
            </a:r>
          </a:p>
        </p:txBody>
      </p:sp>
      <p:sp>
        <p:nvSpPr>
          <p:cNvPr id="7" name="Rounded Rectangle 6"/>
          <p:cNvSpPr/>
          <p:nvPr/>
        </p:nvSpPr>
        <p:spPr>
          <a:xfrm>
            <a:off x="731520" y="1463040"/>
            <a:ext cx="52120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402336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Temporal Locality (Locality in Time)</a:t>
            </a:r>
          </a:p>
        </p:txBody>
      </p:sp>
      <p:sp>
        <p:nvSpPr>
          <p:cNvPr id="11" name="TextBox 10"/>
          <p:cNvSpPr txBox="1"/>
          <p:nvPr/>
        </p:nvSpPr>
        <p:spPr>
          <a:xfrm>
            <a:off x="960120" y="1920240"/>
            <a:ext cx="4846320" cy="3383280"/>
          </a:xfrm>
          <a:prstGeom prst="rect">
            <a:avLst/>
          </a:prstGeom>
          <a:noFill/>
        </p:spPr>
        <p:txBody>
          <a:bodyPr wrap="square">
            <a:spAutoFit/>
          </a:bodyPr>
          <a:lstStyle/>
          <a:p>
            <a:pPr>
              <a:defRPr sz="1100" b="1">
                <a:solidFill>
                  <a:srgbClr val="FFFFFF"/>
                </a:solidFill>
                <a:latin typeface="Segoe UI"/>
              </a:defRPr>
            </a:pPr>
            <a:r>
              <a:t>• Definition: </a:t>
            </a:r>
            <a:r>
              <a:rPr sz="1000" b="0">
                <a:solidFill>
                  <a:srgbClr val="A0AFC8"/>
                </a:solidFill>
                <a:latin typeface="Segoe UI"/>
              </a:rPr>
              <a:t>Data used recently is likely to be used again soon in the near future.</a:t>
            </a:r>
          </a:p>
          <a:p>
            <a:pPr>
              <a:spcBef>
                <a:spcPts val="400"/>
              </a:spcBef>
              <a:defRPr sz="1100" b="1">
                <a:solidFill>
                  <a:srgbClr val="FFFFFF"/>
                </a:solidFill>
                <a:latin typeface="Segoe UI"/>
              </a:defRPr>
            </a:pPr>
            <a:r>
              <a:t>• Program Patterns: </a:t>
            </a:r>
            <a:r>
              <a:rPr sz="1000" b="0">
                <a:solidFill>
                  <a:srgbClr val="A0AFC8"/>
                </a:solidFill>
                <a:latin typeface="Segoe UI"/>
              </a:rPr>
              <a:t>Loop counters, repeated function calls, stack variables, and active subroutines.</a:t>
            </a:r>
          </a:p>
          <a:p>
            <a:pPr>
              <a:spcBef>
                <a:spcPts val="400"/>
              </a:spcBef>
              <a:defRPr sz="1100" b="1">
                <a:solidFill>
                  <a:srgbClr val="FFFFFF"/>
                </a:solidFill>
                <a:latin typeface="Segoe UI"/>
              </a:defRPr>
            </a:pPr>
            <a:r>
              <a:t>• Cache Impact: </a:t>
            </a:r>
            <a:r>
              <a:rPr sz="1000" b="0">
                <a:solidFill>
                  <a:srgbClr val="A0AFC8"/>
                </a:solidFill>
                <a:latin typeface="Segoe UI"/>
              </a:rPr>
              <a:t>Keeping recently accessed words in fast cache SRAM delivers hit rates above 90%.</a:t>
            </a:r>
          </a:p>
          <a:p>
            <a:pPr>
              <a:spcBef>
                <a:spcPts val="400"/>
              </a:spcBef>
              <a:defRPr sz="1100" b="1">
                <a:solidFill>
                  <a:srgbClr val="FFFFFF"/>
                </a:solidFill>
                <a:latin typeface="Segoe UI"/>
              </a:defRPr>
            </a:pPr>
            <a:r>
              <a:t>• Principle: </a:t>
            </a:r>
            <a:r>
              <a:rPr sz="1000" b="0">
                <a:solidFill>
                  <a:srgbClr val="A0AFC8"/>
                </a:solidFill>
                <a:latin typeface="Segoe UI"/>
              </a:rPr>
              <a:t>If you read address X at time T, you will likely read address X again at time T + Δ.</a:t>
            </a:r>
          </a:p>
        </p:txBody>
      </p:sp>
      <p:sp>
        <p:nvSpPr>
          <p:cNvPr id="12" name="Rounded Rectangle 11"/>
          <p:cNvSpPr/>
          <p:nvPr/>
        </p:nvSpPr>
        <p:spPr>
          <a:xfrm>
            <a:off x="6217920" y="1463040"/>
            <a:ext cx="52120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63040"/>
            <a:ext cx="73152" cy="402336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01400" y="153619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73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Spatial Locality (Locality in Space)</a:t>
            </a:r>
          </a:p>
        </p:txBody>
      </p:sp>
      <p:sp>
        <p:nvSpPr>
          <p:cNvPr id="16" name="TextBox 15"/>
          <p:cNvSpPr txBox="1"/>
          <p:nvPr/>
        </p:nvSpPr>
        <p:spPr>
          <a:xfrm>
            <a:off x="6446520" y="1920240"/>
            <a:ext cx="4846320" cy="3383280"/>
          </a:xfrm>
          <a:prstGeom prst="rect">
            <a:avLst/>
          </a:prstGeom>
          <a:noFill/>
        </p:spPr>
        <p:txBody>
          <a:bodyPr wrap="square">
            <a:spAutoFit/>
          </a:bodyPr>
          <a:lstStyle/>
          <a:p>
            <a:pPr>
              <a:defRPr sz="1100" b="1">
                <a:solidFill>
                  <a:srgbClr val="FFFFFF"/>
                </a:solidFill>
                <a:latin typeface="Segoe UI"/>
              </a:defRPr>
            </a:pPr>
            <a:r>
              <a:t>• Definition: </a:t>
            </a:r>
            <a:r>
              <a:rPr sz="1000" b="0">
                <a:solidFill>
                  <a:srgbClr val="A0AFC8"/>
                </a:solidFill>
                <a:latin typeface="Segoe UI"/>
              </a:rPr>
              <a:t>Data near recently used data is likely to be needed next by the program.</a:t>
            </a:r>
          </a:p>
          <a:p>
            <a:pPr>
              <a:spcBef>
                <a:spcPts val="400"/>
              </a:spcBef>
              <a:defRPr sz="1100" b="1">
                <a:solidFill>
                  <a:srgbClr val="FFFFFF"/>
                </a:solidFill>
                <a:latin typeface="Segoe UI"/>
              </a:defRPr>
            </a:pPr>
            <a:r>
              <a:t>• Program Patterns: </a:t>
            </a:r>
            <a:r>
              <a:rPr sz="1000" b="0">
                <a:solidFill>
                  <a:srgbClr val="A0AFC8"/>
                </a:solidFill>
                <a:latin typeface="Segoe UI"/>
              </a:rPr>
              <a:t>Sequential instruction execution, traversing continuous arrays, and structured records.</a:t>
            </a:r>
          </a:p>
          <a:p>
            <a:pPr>
              <a:spcBef>
                <a:spcPts val="400"/>
              </a:spcBef>
              <a:defRPr sz="1100" b="1">
                <a:solidFill>
                  <a:srgbClr val="FFFFFF"/>
                </a:solidFill>
                <a:latin typeface="Segoe UI"/>
              </a:defRPr>
            </a:pPr>
            <a:r>
              <a:t>• Cache Impact: </a:t>
            </a:r>
            <a:r>
              <a:rPr sz="1000" b="0">
                <a:solidFill>
                  <a:srgbClr val="A0AFC8"/>
                </a:solidFill>
                <a:latin typeface="Segoe UI"/>
              </a:rPr>
              <a:t>Memory controllers fetch whole cache lines (e.g. 64-byte blocks) rather than single words.</a:t>
            </a:r>
          </a:p>
          <a:p>
            <a:pPr>
              <a:spcBef>
                <a:spcPts val="400"/>
              </a:spcBef>
              <a:defRPr sz="1100" b="1">
                <a:solidFill>
                  <a:srgbClr val="FFFFFF"/>
                </a:solidFill>
                <a:latin typeface="Segoe UI"/>
              </a:defRPr>
            </a:pPr>
            <a:r>
              <a:t>• Principle: </a:t>
            </a:r>
            <a:r>
              <a:rPr sz="1000" b="0">
                <a:solidFill>
                  <a:srgbClr val="A0AFC8"/>
                </a:solidFill>
                <a:latin typeface="Segoe UI"/>
              </a:rPr>
              <a:t>If you read address X, you will likely read address X + 1, X + 2 soon after.</a:t>
            </a:r>
          </a:p>
        </p:txBody>
      </p:sp>
      <p:sp>
        <p:nvSpPr>
          <p:cNvPr id="17" name="Rounded Rectangle 16"/>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897880"/>
            <a:ext cx="10332720" cy="411480"/>
          </a:xfrm>
          <a:prstGeom prst="rect">
            <a:avLst/>
          </a:prstGeom>
          <a:noFill/>
        </p:spPr>
        <p:txBody>
          <a:bodyPr wrap="square" lIns="0" tIns="0" rIns="0" bIns="0">
            <a:spAutoFit/>
          </a:bodyPr>
          <a:lstStyle/>
          <a:p>
            <a:r>
              <a:rPr sz="1050" b="1">
                <a:solidFill>
                  <a:srgbClr val="38BDF8"/>
                </a:solidFill>
                <a:latin typeface="Segoe UI"/>
              </a:rPr>
              <a:t>□ Locality Rule: </a:t>
            </a:r>
            <a:r>
              <a:rPr sz="1050">
                <a:solidFill>
                  <a:srgbClr val="FFFFFF"/>
                </a:solidFill>
                <a:latin typeface="Segoe UI"/>
              </a:rPr>
              <a:t>Cache is important because programs show locality of reference: temporal (reuse soon) and spatial (nearby data needed next).</a:t>
            </a:r>
          </a:p>
        </p:txBody>
      </p:sp>
    </p:spTree>
  </p:cSld>
  <p:clrMapOvr>
    <a:masterClrMapping/>
  </p:clrMapOvr>
  <p:transition xmlns:p14="http://schemas.microsoft.com/office/powerpoint/2010/main" spd="med" dur="1500">
    <p14:morph option="byObject"/>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 MEMORY &amp; STORAGE</a:t>
            </a:r>
          </a:p>
        </p:txBody>
      </p:sp>
      <p:sp>
        <p:nvSpPr>
          <p:cNvPr id="4" name="Rounded Rectangle 3"/>
          <p:cNvSpPr/>
          <p:nvPr/>
        </p:nvSpPr>
        <p:spPr>
          <a:xfrm>
            <a:off x="786384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VEDHANTH</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09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Memory Volatility: RAM vs. SSDs &amp; Hard Disks</a:t>
            </a:r>
          </a:p>
          <a:p>
            <a:pPr>
              <a:spcBef>
                <a:spcPts val="200"/>
              </a:spcBef>
              <a:defRPr sz="1150">
                <a:solidFill>
                  <a:srgbClr val="A0AFC8"/>
                </a:solidFill>
                <a:latin typeface="Segoe UI"/>
              </a:defRPr>
            </a:pPr>
            <a:r>
              <a:t>Volatile Working Storage vs. Non-Volatile Permanent Retention</a:t>
            </a:r>
          </a:p>
        </p:txBody>
      </p:sp>
      <p:sp>
        <p:nvSpPr>
          <p:cNvPr id="7" name="Rounded Rectangle 6"/>
          <p:cNvSpPr/>
          <p:nvPr/>
        </p:nvSpPr>
        <p:spPr>
          <a:xfrm>
            <a:off x="731520" y="1463040"/>
            <a:ext cx="52120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402336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0" y="1536192"/>
            <a:ext cx="137160" cy="1828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Volatile Memory (RAM &amp; Caches)</a:t>
            </a:r>
          </a:p>
        </p:txBody>
      </p:sp>
      <p:sp>
        <p:nvSpPr>
          <p:cNvPr id="11" name="TextBox 10"/>
          <p:cNvSpPr txBox="1"/>
          <p:nvPr/>
        </p:nvSpPr>
        <p:spPr>
          <a:xfrm>
            <a:off x="960120" y="1920240"/>
            <a:ext cx="4846320" cy="3383280"/>
          </a:xfrm>
          <a:prstGeom prst="rect">
            <a:avLst/>
          </a:prstGeom>
          <a:noFill/>
        </p:spPr>
        <p:txBody>
          <a:bodyPr wrap="square">
            <a:spAutoFit/>
          </a:bodyPr>
          <a:lstStyle/>
          <a:p>
            <a:pPr>
              <a:defRPr sz="1100" b="1">
                <a:solidFill>
                  <a:srgbClr val="FFFFFF"/>
                </a:solidFill>
                <a:latin typeface="Segoe UI"/>
              </a:defRPr>
            </a:pPr>
            <a:r>
              <a:t>• Core Characteristic: </a:t>
            </a:r>
            <a:r>
              <a:rPr sz="1000" b="0">
                <a:solidFill>
                  <a:srgbClr val="A0AFC8"/>
                </a:solidFill>
                <a:latin typeface="Segoe UI"/>
              </a:rPr>
              <a:t>RAM is volatile, meaning it loses its contents when power is turned off.</a:t>
            </a:r>
          </a:p>
          <a:p>
            <a:pPr>
              <a:spcBef>
                <a:spcPts val="400"/>
              </a:spcBef>
              <a:defRPr sz="1100" b="1">
                <a:solidFill>
                  <a:srgbClr val="FFFFFF"/>
                </a:solidFill>
                <a:latin typeface="Segoe UI"/>
              </a:defRPr>
            </a:pPr>
            <a:r>
              <a:t>• Physical Storage: </a:t>
            </a:r>
            <a:r>
              <a:rPr sz="1000" b="0">
                <a:solidFill>
                  <a:srgbClr val="A0AFC8"/>
                </a:solidFill>
                <a:latin typeface="Segoe UI"/>
              </a:rPr>
              <a:t>Uses dynamic capacitor charges (DRAM) or transistor latches (SRAM) requiring active power.</a:t>
            </a:r>
          </a:p>
          <a:p>
            <a:pPr>
              <a:spcBef>
                <a:spcPts val="400"/>
              </a:spcBef>
              <a:defRPr sz="1100" b="1">
                <a:solidFill>
                  <a:srgbClr val="FFFFFF"/>
                </a:solidFill>
                <a:latin typeface="Segoe UI"/>
              </a:defRPr>
            </a:pPr>
            <a:r>
              <a:t>• System Role: </a:t>
            </a:r>
            <a:r>
              <a:rPr sz="1000" b="0">
                <a:solidFill>
                  <a:srgbClr val="A0AFC8"/>
                </a:solidFill>
                <a:latin typeface="Segoe UI"/>
              </a:rPr>
              <a:t>Acts as high-speed temporary workspace for currently running processes and kernel state.</a:t>
            </a:r>
          </a:p>
          <a:p>
            <a:pPr>
              <a:spcBef>
                <a:spcPts val="400"/>
              </a:spcBef>
              <a:defRPr sz="1100" b="1">
                <a:solidFill>
                  <a:srgbClr val="FFFFFF"/>
                </a:solidFill>
                <a:latin typeface="Segoe UI"/>
              </a:defRPr>
            </a:pPr>
            <a:r>
              <a:t>• Speed Advantage: </a:t>
            </a:r>
            <a:r>
              <a:rPr sz="1000" b="0">
                <a:solidFill>
                  <a:srgbClr val="A0AFC8"/>
                </a:solidFill>
                <a:latin typeface="Segoe UI"/>
              </a:rPr>
              <a:t>Direct electrical access delivers nanosecond-level response times.</a:t>
            </a:r>
          </a:p>
        </p:txBody>
      </p:sp>
      <p:sp>
        <p:nvSpPr>
          <p:cNvPr id="12" name="Rounded Rectangle 11"/>
          <p:cNvSpPr/>
          <p:nvPr/>
        </p:nvSpPr>
        <p:spPr>
          <a:xfrm>
            <a:off x="6217920" y="1463040"/>
            <a:ext cx="52120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63040"/>
            <a:ext cx="73152" cy="402336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01400" y="153619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73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Non-Volatile Storage (SSDs &amp; HDDs)</a:t>
            </a:r>
          </a:p>
        </p:txBody>
      </p:sp>
      <p:sp>
        <p:nvSpPr>
          <p:cNvPr id="16" name="TextBox 15"/>
          <p:cNvSpPr txBox="1"/>
          <p:nvPr/>
        </p:nvSpPr>
        <p:spPr>
          <a:xfrm>
            <a:off x="6446520" y="1920240"/>
            <a:ext cx="4846320" cy="3383280"/>
          </a:xfrm>
          <a:prstGeom prst="rect">
            <a:avLst/>
          </a:prstGeom>
          <a:noFill/>
        </p:spPr>
        <p:txBody>
          <a:bodyPr wrap="square">
            <a:spAutoFit/>
          </a:bodyPr>
          <a:lstStyle/>
          <a:p>
            <a:pPr>
              <a:defRPr sz="1100" b="1">
                <a:solidFill>
                  <a:srgbClr val="FFFFFF"/>
                </a:solidFill>
                <a:latin typeface="Segoe UI"/>
              </a:defRPr>
            </a:pPr>
            <a:r>
              <a:t>• Core Characteristic: </a:t>
            </a:r>
            <a:r>
              <a:rPr sz="1000" b="0">
                <a:solidFill>
                  <a:srgbClr val="A0AFC8"/>
                </a:solidFill>
                <a:latin typeface="Segoe UI"/>
              </a:rPr>
              <a:t>SSDs and hard disks are non-volatile, so they retain data even without power.</a:t>
            </a:r>
          </a:p>
          <a:p>
            <a:pPr>
              <a:spcBef>
                <a:spcPts val="400"/>
              </a:spcBef>
              <a:defRPr sz="1100" b="1">
                <a:solidFill>
                  <a:srgbClr val="FFFFFF"/>
                </a:solidFill>
                <a:latin typeface="Segoe UI"/>
              </a:defRPr>
            </a:pPr>
            <a:r>
              <a:t>• Physical Storage: </a:t>
            </a:r>
            <a:r>
              <a:rPr sz="1000" b="0">
                <a:solidFill>
                  <a:srgbClr val="A0AFC8"/>
                </a:solidFill>
                <a:latin typeface="Segoe UI"/>
              </a:rPr>
              <a:t>Uses NAND flash memory floating gates (SSDs/NVMe) or magnetic platter domains (HDDs).</a:t>
            </a:r>
          </a:p>
          <a:p>
            <a:pPr>
              <a:spcBef>
                <a:spcPts val="400"/>
              </a:spcBef>
              <a:defRPr sz="1100" b="1">
                <a:solidFill>
                  <a:srgbClr val="FFFFFF"/>
                </a:solidFill>
                <a:latin typeface="Segoe UI"/>
              </a:defRPr>
            </a:pPr>
            <a:r>
              <a:t>• System Role: </a:t>
            </a:r>
            <a:r>
              <a:rPr sz="1000" b="0">
                <a:solidFill>
                  <a:srgbClr val="A0AFC8"/>
                </a:solidFill>
                <a:latin typeface="Segoe UI"/>
              </a:rPr>
              <a:t>Preserves operating system code, application files, and user data permanently.</a:t>
            </a:r>
          </a:p>
          <a:p>
            <a:pPr>
              <a:spcBef>
                <a:spcPts val="400"/>
              </a:spcBef>
              <a:defRPr sz="1100" b="1">
                <a:solidFill>
                  <a:srgbClr val="FFFFFF"/>
                </a:solidFill>
                <a:latin typeface="Segoe UI"/>
              </a:defRPr>
            </a:pPr>
            <a:r>
              <a:t>• Capacity Advantage: </a:t>
            </a:r>
            <a:r>
              <a:rPr sz="1000" b="0">
                <a:solidFill>
                  <a:srgbClr val="A0AFC8"/>
                </a:solidFill>
                <a:latin typeface="Segoe UI"/>
              </a:rPr>
              <a:t>Provides massive terabyte-scale capacity at low cost per gigabyte.</a:t>
            </a:r>
          </a:p>
        </p:txBody>
      </p:sp>
      <p:sp>
        <p:nvSpPr>
          <p:cNvPr id="17" name="Rounded Rectangle 16"/>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897880"/>
            <a:ext cx="10332720" cy="411480"/>
          </a:xfrm>
          <a:prstGeom prst="rect">
            <a:avLst/>
          </a:prstGeom>
          <a:noFill/>
        </p:spPr>
        <p:txBody>
          <a:bodyPr wrap="square" lIns="0" tIns="0" rIns="0" bIns="0">
            <a:spAutoFit/>
          </a:bodyPr>
          <a:lstStyle/>
          <a:p>
            <a:r>
              <a:rPr sz="1050" b="1">
                <a:solidFill>
                  <a:srgbClr val="F43F5E"/>
                </a:solidFill>
                <a:latin typeface="Segoe UI"/>
              </a:rPr>
              <a:t>□ Volatility Distinction: </a:t>
            </a:r>
            <a:r>
              <a:rPr sz="1050">
                <a:solidFill>
                  <a:srgbClr val="FFFFFF"/>
                </a:solidFill>
                <a:latin typeface="Segoe UI"/>
              </a:rPr>
              <a:t>RAM is volatile (loses data on power-off); SSDs and HDDs are non-volatile (retain data permanently without power).</a:t>
            </a:r>
          </a:p>
        </p:txBody>
      </p:sp>
    </p:spTree>
  </p:cSld>
  <p:clrMapOvr>
    <a:masterClrMapping/>
  </p:clrMapOvr>
  <p:transition xmlns:p14="http://schemas.microsoft.com/office/powerpoint/2010/main" spd="med" dur="1500">
    <p14:morph option="byObject"/>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 MEMORY &amp; STORAGE</a:t>
            </a:r>
          </a:p>
        </p:txBody>
      </p:sp>
      <p:sp>
        <p:nvSpPr>
          <p:cNvPr id="4" name="Rounded Rectangle 3"/>
          <p:cNvSpPr/>
          <p:nvPr/>
        </p:nvSpPr>
        <p:spPr>
          <a:xfrm>
            <a:off x="786384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VEDHANTH</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10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OS Memory Management Techniques</a:t>
            </a:r>
          </a:p>
          <a:p>
            <a:pPr>
              <a:spcBef>
                <a:spcPts val="200"/>
              </a:spcBef>
              <a:defRPr sz="1150">
                <a:solidFill>
                  <a:srgbClr val="A0AFC8"/>
                </a:solidFill>
                <a:latin typeface="Segoe UI"/>
              </a:defRPr>
            </a:pPr>
            <a:r>
              <a:t>Software Strategies for Maximizing Storage Hierarchy Performance</a:t>
            </a:r>
          </a:p>
        </p:txBody>
      </p:sp>
      <p:sp>
        <p:nvSpPr>
          <p:cNvPr id="7" name="Rounded Rectangle 6"/>
          <p:cNvSpPr/>
          <p:nvPr/>
        </p:nvSpPr>
        <p:spPr>
          <a:xfrm>
            <a:off x="731520" y="1463040"/>
            <a:ext cx="5212080" cy="18288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182880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1. Paging &amp; Virtual Memory</a:t>
            </a:r>
          </a:p>
        </p:txBody>
      </p:sp>
      <p:sp>
        <p:nvSpPr>
          <p:cNvPr id="11" name="TextBox 10"/>
          <p:cNvSpPr txBox="1"/>
          <p:nvPr/>
        </p:nvSpPr>
        <p:spPr>
          <a:xfrm>
            <a:off x="950976" y="1920240"/>
            <a:ext cx="4800600" cy="1188720"/>
          </a:xfrm>
          <a:prstGeom prst="rect">
            <a:avLst/>
          </a:prstGeom>
          <a:noFill/>
        </p:spPr>
        <p:txBody>
          <a:bodyPr wrap="square">
            <a:spAutoFit/>
          </a:bodyPr>
          <a:lstStyle/>
          <a:p>
            <a:pPr>
              <a:defRPr sz="1050">
                <a:solidFill>
                  <a:srgbClr val="A0AFC8"/>
                </a:solidFill>
                <a:latin typeface="Segoe UI"/>
              </a:defRPr>
            </a:pPr>
            <a:r>
              <a:t>Divides memory into fixed-size pages and maps virtual addresses to physical RAM frames, swapping inactive pages to disk when memory is full.</a:t>
            </a:r>
          </a:p>
        </p:txBody>
      </p:sp>
      <p:sp>
        <p:nvSpPr>
          <p:cNvPr id="12" name="Rounded Rectangle 11"/>
          <p:cNvSpPr/>
          <p:nvPr/>
        </p:nvSpPr>
        <p:spPr>
          <a:xfrm>
            <a:off x="6217920" y="1463040"/>
            <a:ext cx="5212080" cy="18288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63040"/>
            <a:ext cx="73152" cy="182880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01400" y="153619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73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2. Buffering</a:t>
            </a:r>
          </a:p>
        </p:txBody>
      </p:sp>
      <p:sp>
        <p:nvSpPr>
          <p:cNvPr id="16" name="TextBox 15"/>
          <p:cNvSpPr txBox="1"/>
          <p:nvPr/>
        </p:nvSpPr>
        <p:spPr>
          <a:xfrm>
            <a:off x="6437376" y="1920240"/>
            <a:ext cx="4800600" cy="1188720"/>
          </a:xfrm>
          <a:prstGeom prst="rect">
            <a:avLst/>
          </a:prstGeom>
          <a:noFill/>
        </p:spPr>
        <p:txBody>
          <a:bodyPr wrap="square">
            <a:spAutoFit/>
          </a:bodyPr>
          <a:lstStyle/>
          <a:p>
            <a:pPr>
              <a:defRPr sz="1050">
                <a:solidFill>
                  <a:srgbClr val="A0AFC8"/>
                </a:solidFill>
                <a:latin typeface="Segoe UI"/>
              </a:defRPr>
            </a:pPr>
            <a:r>
              <a:t>Temporarily holds data in memory during device transfers to bridge speed mismatches between fast CPUs and slower I/O peripherals.</a:t>
            </a:r>
          </a:p>
        </p:txBody>
      </p:sp>
      <p:sp>
        <p:nvSpPr>
          <p:cNvPr id="17" name="Rounded Rectangle 16"/>
          <p:cNvSpPr/>
          <p:nvPr/>
        </p:nvSpPr>
        <p:spPr>
          <a:xfrm>
            <a:off x="731520" y="3474720"/>
            <a:ext cx="5212080" cy="18288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474720"/>
            <a:ext cx="73152" cy="182880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15000" y="354787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3611879"/>
            <a:ext cx="4846320" cy="320040"/>
          </a:xfrm>
          <a:prstGeom prst="rect">
            <a:avLst/>
          </a:prstGeom>
          <a:noFill/>
        </p:spPr>
        <p:txBody>
          <a:bodyPr wrap="square" lIns="0" tIns="0" rIns="0" bIns="0">
            <a:spAutoFit/>
          </a:bodyPr>
          <a:lstStyle/>
          <a:p>
            <a:pPr>
              <a:defRPr sz="1300" b="1">
                <a:solidFill>
                  <a:srgbClr val="FFFFFF"/>
                </a:solidFill>
                <a:latin typeface="Segoe UI"/>
              </a:defRPr>
            </a:pPr>
            <a:r>
              <a:t>3. Disk Caching</a:t>
            </a:r>
          </a:p>
        </p:txBody>
      </p:sp>
      <p:sp>
        <p:nvSpPr>
          <p:cNvPr id="21" name="TextBox 20"/>
          <p:cNvSpPr txBox="1"/>
          <p:nvPr/>
        </p:nvSpPr>
        <p:spPr>
          <a:xfrm>
            <a:off x="950976" y="3931920"/>
            <a:ext cx="4800600" cy="1188720"/>
          </a:xfrm>
          <a:prstGeom prst="rect">
            <a:avLst/>
          </a:prstGeom>
          <a:noFill/>
        </p:spPr>
        <p:txBody>
          <a:bodyPr wrap="square">
            <a:spAutoFit/>
          </a:bodyPr>
          <a:lstStyle/>
          <a:p>
            <a:pPr>
              <a:defRPr sz="1050">
                <a:solidFill>
                  <a:srgbClr val="A0AFC8"/>
                </a:solidFill>
                <a:latin typeface="Segoe UI"/>
              </a:defRPr>
            </a:pPr>
            <a:r>
              <a:t>Maintains copies of frequently accessed file system blocks in RAM to avoid slow physical disk read operations.</a:t>
            </a:r>
          </a:p>
        </p:txBody>
      </p:sp>
      <p:sp>
        <p:nvSpPr>
          <p:cNvPr id="22" name="Rounded Rectangle 21"/>
          <p:cNvSpPr/>
          <p:nvPr/>
        </p:nvSpPr>
        <p:spPr>
          <a:xfrm>
            <a:off x="6217920" y="3474720"/>
            <a:ext cx="5212080" cy="18288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17920" y="3474720"/>
            <a:ext cx="73152" cy="18288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201400" y="3547872"/>
            <a:ext cx="13716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37376" y="3611879"/>
            <a:ext cx="4846320" cy="320040"/>
          </a:xfrm>
          <a:prstGeom prst="rect">
            <a:avLst/>
          </a:prstGeom>
          <a:noFill/>
        </p:spPr>
        <p:txBody>
          <a:bodyPr wrap="square" lIns="0" tIns="0" rIns="0" bIns="0">
            <a:spAutoFit/>
          </a:bodyPr>
          <a:lstStyle/>
          <a:p>
            <a:pPr>
              <a:defRPr sz="1300" b="1">
                <a:solidFill>
                  <a:srgbClr val="FFFFFF"/>
                </a:solidFill>
                <a:latin typeface="Segoe UI"/>
              </a:defRPr>
            </a:pPr>
            <a:r>
              <a:t>4. Prefetching</a:t>
            </a:r>
          </a:p>
        </p:txBody>
      </p:sp>
      <p:sp>
        <p:nvSpPr>
          <p:cNvPr id="26" name="TextBox 25"/>
          <p:cNvSpPr txBox="1"/>
          <p:nvPr/>
        </p:nvSpPr>
        <p:spPr>
          <a:xfrm>
            <a:off x="6437376" y="3931920"/>
            <a:ext cx="4800600" cy="1188720"/>
          </a:xfrm>
          <a:prstGeom prst="rect">
            <a:avLst/>
          </a:prstGeom>
          <a:noFill/>
        </p:spPr>
        <p:txBody>
          <a:bodyPr wrap="square">
            <a:spAutoFit/>
          </a:bodyPr>
          <a:lstStyle/>
          <a:p>
            <a:pPr>
              <a:defRPr sz="1050">
                <a:solidFill>
                  <a:srgbClr val="A0AFC8"/>
                </a:solidFill>
                <a:latin typeface="Segoe UI"/>
              </a:defRPr>
            </a:pPr>
            <a:r>
              <a:t>Anticipates future memory and file requests based on spatial locality, loading data into cache/RAM before it is explicitly requested.</a:t>
            </a:r>
          </a:p>
        </p:txBody>
      </p:sp>
      <p:sp>
        <p:nvSpPr>
          <p:cNvPr id="27" name="Rounded Rectangle 26"/>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897880"/>
            <a:ext cx="10332720" cy="411480"/>
          </a:xfrm>
          <a:prstGeom prst="rect">
            <a:avLst/>
          </a:prstGeom>
          <a:noFill/>
        </p:spPr>
        <p:txBody>
          <a:bodyPr wrap="square" lIns="0" tIns="0" rIns="0" bIns="0">
            <a:spAutoFit/>
          </a:bodyPr>
          <a:lstStyle/>
          <a:p>
            <a:r>
              <a:rPr sz="1050" b="1">
                <a:solidFill>
                  <a:srgbClr val="38BDF8"/>
                </a:solidFill>
                <a:latin typeface="Segoe UI"/>
              </a:rPr>
              <a:t>□ OS Optimization Suite: </a:t>
            </a:r>
            <a:r>
              <a:rPr sz="1050">
                <a:solidFill>
                  <a:srgbClr val="FFFFFF"/>
                </a:solidFill>
                <a:latin typeface="Segoe UI"/>
              </a:rPr>
              <a:t>The OS uses techniques such as paging, buffering, disk caching, and prefetching to use this hierarchy efficiently.</a:t>
            </a:r>
          </a:p>
        </p:txBody>
      </p:sp>
    </p:spTree>
  </p:cSld>
  <p:clrMapOvr>
    <a:masterClrMapping/>
  </p:clrMapOvr>
  <p:transition xmlns:p14="http://schemas.microsoft.com/office/powerpoint/2010/main" spd="med" dur="1500">
    <p14:morph option="byObject"/>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III: MULTIPROCESSING</a:t>
            </a:r>
          </a:p>
        </p:txBody>
      </p:sp>
      <p:sp>
        <p:nvSpPr>
          <p:cNvPr id="4" name="Rounded Rectangle 3"/>
          <p:cNvSpPr/>
          <p:nvPr/>
        </p:nvSpPr>
        <p:spPr>
          <a:xfrm>
            <a:off x="786384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LOCHAN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11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Single-Processor vs. Multiprocessor Systems</a:t>
            </a:r>
          </a:p>
          <a:p>
            <a:pPr>
              <a:spcBef>
                <a:spcPts val="200"/>
              </a:spcBef>
              <a:defRPr sz="1150">
                <a:solidFill>
                  <a:srgbClr val="A0AFC8"/>
                </a:solidFill>
                <a:latin typeface="Segoe UI"/>
              </a:defRPr>
            </a:pPr>
            <a:r>
              <a:t>Architectural Scaling from Single Execution Streams to Parallel Computing</a:t>
            </a:r>
          </a:p>
        </p:txBody>
      </p:sp>
      <p:sp>
        <p:nvSpPr>
          <p:cNvPr id="7" name="TextBox 6"/>
          <p:cNvSpPr txBox="1"/>
          <p:nvPr/>
        </p:nvSpPr>
        <p:spPr>
          <a:xfrm>
            <a:off x="731520" y="1463040"/>
            <a:ext cx="5303520" cy="4114800"/>
          </a:xfrm>
          <a:prstGeom prst="rect">
            <a:avLst/>
          </a:prstGeom>
          <a:noFill/>
        </p:spPr>
        <p:txBody>
          <a:bodyPr wrap="square">
            <a:spAutoFit/>
          </a:bodyPr>
          <a:lstStyle/>
          <a:p>
            <a:pPr>
              <a:defRPr sz="1600" b="1">
                <a:solidFill>
                  <a:srgbClr val="FFFFFF"/>
                </a:solidFill>
                <a:latin typeface="Segoe UI"/>
              </a:defRPr>
            </a:pPr>
            <a:r>
              <a:t>Single-Processor Systems</a:t>
            </a:r>
          </a:p>
          <a:p>
            <a:pPr>
              <a:spcBef>
                <a:spcPts val="300"/>
              </a:spcBef>
              <a:defRPr sz="1100">
                <a:solidFill>
                  <a:srgbClr val="A0AFC8"/>
                </a:solidFill>
                <a:latin typeface="Segoe UI"/>
              </a:defRPr>
            </a:pPr>
            <a:r>
              <a:t>• Has one main CPU executing general-purpose instructions.</a:t>
            </a:r>
          </a:p>
          <a:p>
            <a:pPr>
              <a:spcBef>
                <a:spcPts val="300"/>
              </a:spcBef>
              <a:defRPr sz="1100">
                <a:solidFill>
                  <a:srgbClr val="A0AFC8"/>
                </a:solidFill>
                <a:latin typeface="Segoe UI"/>
              </a:defRPr>
            </a:pPr>
            <a:r>
              <a:t>• All instructions must pass through that single CPU.</a:t>
            </a:r>
          </a:p>
          <a:p>
            <a:pPr>
              <a:spcBef>
                <a:spcPts val="300"/>
              </a:spcBef>
              <a:defRPr sz="1100">
                <a:solidFill>
                  <a:srgbClr val="A0AFC8"/>
                </a:solidFill>
                <a:latin typeface="Segoe UI"/>
              </a:defRPr>
            </a:pPr>
            <a:r>
              <a:t>• Concurrency is simulated via rapid time-sliced context switching.</a:t>
            </a:r>
          </a:p>
          <a:p>
            <a:pPr>
              <a:spcBef>
                <a:spcPts val="1600"/>
              </a:spcBef>
              <a:defRPr sz="1600" b="1">
                <a:solidFill>
                  <a:srgbClr val="FFFFFF"/>
                </a:solidFill>
                <a:latin typeface="Segoe UI"/>
              </a:defRPr>
            </a:pPr>
            <a:r>
              <a:t>Multiprocessor Systems</a:t>
            </a:r>
          </a:p>
          <a:p>
            <a:pPr>
              <a:spcBef>
                <a:spcPts val="300"/>
              </a:spcBef>
              <a:defRPr sz="1100">
                <a:solidFill>
                  <a:srgbClr val="A0AFC8"/>
                </a:solidFill>
                <a:latin typeface="Segoe UI"/>
              </a:defRPr>
            </a:pPr>
            <a:r>
              <a:t>• Has multiple CPUs sharing bus, clock, memory, and peripherals.</a:t>
            </a:r>
          </a:p>
          <a:p>
            <a:pPr>
              <a:spcBef>
                <a:spcPts val="300"/>
              </a:spcBef>
              <a:defRPr sz="1100">
                <a:solidFill>
                  <a:srgbClr val="A0AFC8"/>
                </a:solidFill>
                <a:latin typeface="Segoe UI"/>
              </a:defRPr>
            </a:pPr>
            <a:r>
              <a:t>• Allows the OS to run more work at the same time (true hardware parallelism).</a:t>
            </a:r>
          </a:p>
          <a:p>
            <a:pPr>
              <a:spcBef>
                <a:spcPts val="300"/>
              </a:spcBef>
              <a:defRPr sz="1100">
                <a:solidFill>
                  <a:srgbClr val="A0AFC8"/>
                </a:solidFill>
                <a:latin typeface="Segoe UI"/>
              </a:defRPr>
            </a:pPr>
            <a:r>
              <a:t>• Delivers higher system throughput, economy of scale, and graceful degradation.</a:t>
            </a:r>
          </a:p>
        </p:txBody>
      </p:sp>
      <p:pic>
        <p:nvPicPr>
          <p:cNvPr id="8" name="Picture 7" descr="single_vs_multi_tree.png"/>
          <p:cNvPicPr>
            <a:picLocks noChangeAspect="1"/>
          </p:cNvPicPr>
          <p:nvPr/>
        </p:nvPicPr>
        <p:blipFill>
          <a:blip r:embed="rId2"/>
          <a:stretch>
            <a:fillRect/>
          </a:stretch>
        </p:blipFill>
        <p:spPr>
          <a:xfrm>
            <a:off x="6400800" y="1371600"/>
            <a:ext cx="5029200" cy="3771900"/>
          </a:xfrm>
          <a:prstGeom prst="rect">
            <a:avLst/>
          </a:prstGeom>
        </p:spPr>
      </p:pic>
      <p:sp>
        <p:nvSpPr>
          <p:cNvPr id="9" name="Rounded Rectangle 8"/>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97880"/>
            <a:ext cx="10332720" cy="411480"/>
          </a:xfrm>
          <a:prstGeom prst="rect">
            <a:avLst/>
          </a:prstGeom>
          <a:noFill/>
        </p:spPr>
        <p:txBody>
          <a:bodyPr wrap="square" lIns="0" tIns="0" rIns="0" bIns="0">
            <a:spAutoFit/>
          </a:bodyPr>
          <a:lstStyle/>
          <a:p>
            <a:r>
              <a:rPr sz="1050" b="1">
                <a:solidFill>
                  <a:srgbClr val="38BDF8"/>
                </a:solidFill>
                <a:latin typeface="Segoe UI"/>
              </a:rPr>
              <a:t>□ Core Difference: </a:t>
            </a:r>
            <a:r>
              <a:rPr sz="1050">
                <a:solidFill>
                  <a:srgbClr val="FFFFFF"/>
                </a:solidFill>
                <a:latin typeface="Segoe UI"/>
              </a:rPr>
              <a:t>A single-processor has one CPU for all instructions; a multiprocessor has multiple CPUs, running more work concurrently.</a:t>
            </a:r>
          </a:p>
        </p:txBody>
      </p:sp>
    </p:spTree>
  </p:cSld>
  <p:clrMapOvr>
    <a:masterClrMapping/>
  </p:clrMapOvr>
  <p:transition xmlns:p14="http://schemas.microsoft.com/office/powerpoint/2010/main" spd="med" dur="1500">
    <p14:morph option="byObject"/>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III: MULTIPROCESSING</a:t>
            </a:r>
          </a:p>
        </p:txBody>
      </p:sp>
      <p:sp>
        <p:nvSpPr>
          <p:cNvPr id="4" name="Rounded Rectangle 3"/>
          <p:cNvSpPr/>
          <p:nvPr/>
        </p:nvSpPr>
        <p:spPr>
          <a:xfrm>
            <a:off x="786384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LOCHAN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12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Multiprocessing Approaches: SMP vs. AMP</a:t>
            </a:r>
          </a:p>
          <a:p>
            <a:pPr>
              <a:spcBef>
                <a:spcPts val="200"/>
              </a:spcBef>
              <a:defRPr sz="1150">
                <a:solidFill>
                  <a:srgbClr val="A0AFC8"/>
                </a:solidFill>
                <a:latin typeface="Segoe UI"/>
              </a:defRPr>
            </a:pPr>
            <a:r>
              <a:t>Peer Multiprocessing vs. Master-Slave Hierarchical Scheduling</a:t>
            </a:r>
          </a:p>
        </p:txBody>
      </p:sp>
      <p:sp>
        <p:nvSpPr>
          <p:cNvPr id="7" name="Rounded Rectangle 6"/>
          <p:cNvSpPr/>
          <p:nvPr/>
        </p:nvSpPr>
        <p:spPr>
          <a:xfrm>
            <a:off x="731520" y="1463040"/>
            <a:ext cx="52120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402336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Symmetric Multiprocessing (SMP)</a:t>
            </a:r>
          </a:p>
        </p:txBody>
      </p:sp>
      <p:sp>
        <p:nvSpPr>
          <p:cNvPr id="11" name="TextBox 10"/>
          <p:cNvSpPr txBox="1"/>
          <p:nvPr/>
        </p:nvSpPr>
        <p:spPr>
          <a:xfrm>
            <a:off x="960120" y="1920240"/>
            <a:ext cx="4846320" cy="3383280"/>
          </a:xfrm>
          <a:prstGeom prst="rect">
            <a:avLst/>
          </a:prstGeom>
          <a:noFill/>
        </p:spPr>
        <p:txBody>
          <a:bodyPr wrap="square">
            <a:spAutoFit/>
          </a:bodyPr>
          <a:lstStyle/>
          <a:p>
            <a:pPr>
              <a:defRPr sz="1100" b="1">
                <a:solidFill>
                  <a:srgbClr val="FFFFFF"/>
                </a:solidFill>
                <a:latin typeface="Segoe UI"/>
              </a:defRPr>
            </a:pPr>
            <a:r>
              <a:t>• Peer Relationship: </a:t>
            </a:r>
            <a:r>
              <a:rPr sz="1000" b="0">
                <a:solidFill>
                  <a:srgbClr val="A0AFC8"/>
                </a:solidFill>
                <a:latin typeface="Segoe UI"/>
              </a:rPr>
              <a:t>All processors are treated as equal peers; no single processor is master.</a:t>
            </a:r>
          </a:p>
          <a:p>
            <a:pPr>
              <a:spcBef>
                <a:spcPts val="400"/>
              </a:spcBef>
              <a:defRPr sz="1100" b="1">
                <a:solidFill>
                  <a:srgbClr val="FFFFFF"/>
                </a:solidFill>
                <a:latin typeface="Segoe UI"/>
              </a:defRPr>
            </a:pPr>
            <a:r>
              <a:t>• Independent Execution: </a:t>
            </a:r>
            <a:r>
              <a:rPr sz="1000" b="0">
                <a:solidFill>
                  <a:srgbClr val="A0AFC8"/>
                </a:solidFill>
                <a:latin typeface="Segoe UI"/>
              </a:rPr>
              <a:t>Each processor can run both user tasks and operating system kernel code concurrently.</a:t>
            </a:r>
          </a:p>
          <a:p>
            <a:pPr>
              <a:spcBef>
                <a:spcPts val="400"/>
              </a:spcBef>
              <a:defRPr sz="1100" b="1">
                <a:solidFill>
                  <a:srgbClr val="FFFFFF"/>
                </a:solidFill>
                <a:latin typeface="Segoe UI"/>
              </a:defRPr>
            </a:pPr>
            <a:r>
              <a:t>• Shared Resources: </a:t>
            </a:r>
            <a:r>
              <a:rPr sz="1000" b="0">
                <a:solidFill>
                  <a:srgbClr val="A0AFC8"/>
                </a:solidFill>
                <a:latin typeface="Segoe UI"/>
              </a:rPr>
              <a:t>All CPUs share system memory and I/O channels over a common bus.</a:t>
            </a:r>
          </a:p>
          <a:p>
            <a:pPr>
              <a:spcBef>
                <a:spcPts val="400"/>
              </a:spcBef>
              <a:defRPr sz="1100" b="1">
                <a:solidFill>
                  <a:srgbClr val="FFFFFF"/>
                </a:solidFill>
                <a:latin typeface="Segoe UI"/>
              </a:defRPr>
            </a:pPr>
            <a:r>
              <a:t>• Modern Standard: </a:t>
            </a:r>
            <a:r>
              <a:rPr sz="1000" b="0">
                <a:solidFill>
                  <a:srgbClr val="A0AFC8"/>
                </a:solidFill>
                <a:latin typeface="Segoe UI"/>
              </a:rPr>
              <a:t>Dominates modern computing from laptops and smartphones to large multi-socket servers.</a:t>
            </a:r>
          </a:p>
        </p:txBody>
      </p:sp>
      <p:sp>
        <p:nvSpPr>
          <p:cNvPr id="12" name="Rounded Rectangle 11"/>
          <p:cNvSpPr/>
          <p:nvPr/>
        </p:nvSpPr>
        <p:spPr>
          <a:xfrm>
            <a:off x="6217920" y="1463040"/>
            <a:ext cx="5212080" cy="402336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63040"/>
            <a:ext cx="73152" cy="40233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01400" y="1536192"/>
            <a:ext cx="137160"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73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Asymmetric Multiprocessing (AMP)</a:t>
            </a:r>
          </a:p>
        </p:txBody>
      </p:sp>
      <p:sp>
        <p:nvSpPr>
          <p:cNvPr id="16" name="TextBox 15"/>
          <p:cNvSpPr txBox="1"/>
          <p:nvPr/>
        </p:nvSpPr>
        <p:spPr>
          <a:xfrm>
            <a:off x="6446520" y="1920240"/>
            <a:ext cx="4846320" cy="3383280"/>
          </a:xfrm>
          <a:prstGeom prst="rect">
            <a:avLst/>
          </a:prstGeom>
          <a:noFill/>
        </p:spPr>
        <p:txBody>
          <a:bodyPr wrap="square">
            <a:spAutoFit/>
          </a:bodyPr>
          <a:lstStyle/>
          <a:p>
            <a:pPr>
              <a:defRPr sz="1100" b="1">
                <a:solidFill>
                  <a:srgbClr val="FFFFFF"/>
                </a:solidFill>
                <a:latin typeface="Segoe UI"/>
              </a:defRPr>
            </a:pPr>
            <a:r>
              <a:t>• Master-Slave Model: </a:t>
            </a:r>
            <a:r>
              <a:rPr sz="1000" b="0">
                <a:solidFill>
                  <a:srgbClr val="A0AFC8"/>
                </a:solidFill>
                <a:latin typeface="Segoe UI"/>
              </a:rPr>
              <a:t>One main master processor controls the system and assigns work to the others.</a:t>
            </a:r>
          </a:p>
          <a:p>
            <a:pPr>
              <a:spcBef>
                <a:spcPts val="400"/>
              </a:spcBef>
              <a:defRPr sz="1100" b="1">
                <a:solidFill>
                  <a:srgbClr val="FFFFFF"/>
                </a:solidFill>
                <a:latin typeface="Segoe UI"/>
              </a:defRPr>
            </a:pPr>
            <a:r>
              <a:t>• Centralized Control: </a:t>
            </a:r>
            <a:r>
              <a:rPr sz="1000" b="0">
                <a:solidFill>
                  <a:srgbClr val="A0AFC8"/>
                </a:solidFill>
                <a:latin typeface="Segoe UI"/>
              </a:rPr>
              <a:t>Master processor runs the OS kernel and schedules tasks; slave processors execute assigned worker code.</a:t>
            </a:r>
          </a:p>
          <a:p>
            <a:pPr>
              <a:spcBef>
                <a:spcPts val="400"/>
              </a:spcBef>
              <a:defRPr sz="1100" b="1">
                <a:solidFill>
                  <a:srgbClr val="FFFFFF"/>
                </a:solidFill>
                <a:latin typeface="Segoe UI"/>
              </a:defRPr>
            </a:pPr>
            <a:r>
              <a:t>• Specialized Roles: </a:t>
            </a:r>
            <a:r>
              <a:rPr sz="1000" b="0">
                <a:solidFill>
                  <a:srgbClr val="A0AFC8"/>
                </a:solidFill>
                <a:latin typeface="Segoe UI"/>
              </a:rPr>
              <a:t>Slaves may handle dedicated tasks like graphics, audio decoding, or real-time signal processing.</a:t>
            </a:r>
          </a:p>
          <a:p>
            <a:pPr>
              <a:spcBef>
                <a:spcPts val="400"/>
              </a:spcBef>
              <a:defRPr sz="1100" b="1">
                <a:solidFill>
                  <a:srgbClr val="FFFFFF"/>
                </a:solidFill>
                <a:latin typeface="Segoe UI"/>
              </a:defRPr>
            </a:pPr>
            <a:r>
              <a:t>• Simpler Scheduling: </a:t>
            </a:r>
            <a:r>
              <a:rPr sz="1000" b="0">
                <a:solidFill>
                  <a:srgbClr val="A0AFC8"/>
                </a:solidFill>
                <a:latin typeface="Segoe UI"/>
              </a:rPr>
              <a:t>Avoids complex kernel data structure locking since only the master manages scheduling.</a:t>
            </a:r>
          </a:p>
        </p:txBody>
      </p:sp>
      <p:sp>
        <p:nvSpPr>
          <p:cNvPr id="17" name="Rounded Rectangle 16"/>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897880"/>
            <a:ext cx="10332720" cy="411480"/>
          </a:xfrm>
          <a:prstGeom prst="rect">
            <a:avLst/>
          </a:prstGeom>
          <a:noFill/>
        </p:spPr>
        <p:txBody>
          <a:bodyPr wrap="square" lIns="0" tIns="0" rIns="0" bIns="0">
            <a:spAutoFit/>
          </a:bodyPr>
          <a:lstStyle/>
          <a:p>
            <a:r>
              <a:rPr sz="1050" b="1">
                <a:solidFill>
                  <a:srgbClr val="38BDF8"/>
                </a:solidFill>
                <a:latin typeface="Segoe UI"/>
              </a:rPr>
              <a:t>□ SMP vs AMP Distinction: </a:t>
            </a:r>
            <a:r>
              <a:rPr sz="1050">
                <a:solidFill>
                  <a:srgbClr val="FFFFFF"/>
                </a:solidFill>
                <a:latin typeface="Segoe UI"/>
              </a:rPr>
              <a:t>In SMP, all processors are peers and can run tasks independently; in AMP, a master processor assigns work to slaves.</a:t>
            </a:r>
          </a:p>
        </p:txBody>
      </p:sp>
    </p:spTree>
  </p:cSld>
  <p:clrMapOvr>
    <a:masterClrMapping/>
  </p:clrMapOvr>
  <p:transition xmlns:p14="http://schemas.microsoft.com/office/powerpoint/2010/main" spd="med" dur="1500">
    <p14:morph option="byObject"/>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III: MULTIPROCESSING</a:t>
            </a:r>
          </a:p>
        </p:txBody>
      </p:sp>
      <p:sp>
        <p:nvSpPr>
          <p:cNvPr id="4" name="Rounded Rectangle 3"/>
          <p:cNvSpPr/>
          <p:nvPr/>
        </p:nvSpPr>
        <p:spPr>
          <a:xfrm>
            <a:off x="786384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LOCHAN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13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Modern Systems: Multicore &amp; Clustered Systems</a:t>
            </a:r>
          </a:p>
          <a:p>
            <a:pPr>
              <a:spcBef>
                <a:spcPts val="200"/>
              </a:spcBef>
              <a:defRPr sz="1150">
                <a:solidFill>
                  <a:srgbClr val="A0AFC8"/>
                </a:solidFill>
                <a:latin typeface="Segoe UI"/>
              </a:defRPr>
            </a:pPr>
            <a:r>
              <a:t>On-Chip Integration (Scale-Up) vs. Networked Independent Machines (Scale-Out)</a:t>
            </a:r>
          </a:p>
        </p:txBody>
      </p:sp>
      <p:sp>
        <p:nvSpPr>
          <p:cNvPr id="7" name="Rounded Rectangle 6"/>
          <p:cNvSpPr/>
          <p:nvPr/>
        </p:nvSpPr>
        <p:spPr>
          <a:xfrm>
            <a:off x="731520" y="1463040"/>
            <a:ext cx="5303520" cy="19202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192024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0644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4937759" cy="320040"/>
          </a:xfrm>
          <a:prstGeom prst="rect">
            <a:avLst/>
          </a:prstGeom>
          <a:noFill/>
        </p:spPr>
        <p:txBody>
          <a:bodyPr wrap="square" lIns="0" tIns="0" rIns="0" bIns="0">
            <a:spAutoFit/>
          </a:bodyPr>
          <a:lstStyle/>
          <a:p>
            <a:pPr>
              <a:defRPr sz="1300" b="1">
                <a:solidFill>
                  <a:srgbClr val="FFFFFF"/>
                </a:solidFill>
                <a:latin typeface="Segoe UI"/>
              </a:defRPr>
            </a:pPr>
            <a:r>
              <a:t>Multicore Processors (Scale-Up)</a:t>
            </a:r>
          </a:p>
        </p:txBody>
      </p:sp>
      <p:sp>
        <p:nvSpPr>
          <p:cNvPr id="11" name="TextBox 10"/>
          <p:cNvSpPr txBox="1"/>
          <p:nvPr/>
        </p:nvSpPr>
        <p:spPr>
          <a:xfrm>
            <a:off x="960120" y="1874519"/>
            <a:ext cx="4846320" cy="1371600"/>
          </a:xfrm>
          <a:prstGeom prst="rect">
            <a:avLst/>
          </a:prstGeom>
          <a:noFill/>
        </p:spPr>
        <p:txBody>
          <a:bodyPr wrap="square">
            <a:spAutoFit/>
          </a:bodyPr>
          <a:lstStyle/>
          <a:p/>
          <a:p>
            <a:pPr>
              <a:spcBef>
                <a:spcPts val="200"/>
              </a:spcBef>
              <a:defRPr sz="1000">
                <a:solidFill>
                  <a:srgbClr val="A0AFC8"/>
                </a:solidFill>
                <a:latin typeface="Segoe UI"/>
              </a:defRPr>
            </a:pPr>
            <a:r>
              <a:t>• Multiple CPU cores are placed on a single physical chip.</a:t>
            </a:r>
          </a:p>
          <a:p>
            <a:pPr>
              <a:spcBef>
                <a:spcPts val="200"/>
              </a:spcBef>
              <a:defRPr sz="1000">
                <a:solidFill>
                  <a:srgbClr val="A0AFC8"/>
                </a:solidFill>
                <a:latin typeface="Segoe UI"/>
              </a:defRPr>
            </a:pPr>
            <a:r>
              <a:t>• On-chip communication between cores is vastly faster than off-chip motherboard buses.</a:t>
            </a:r>
          </a:p>
          <a:p>
            <a:pPr>
              <a:spcBef>
                <a:spcPts val="200"/>
              </a:spcBef>
              <a:defRPr sz="1000">
                <a:solidFill>
                  <a:srgbClr val="A0AFC8"/>
                </a:solidFill>
                <a:latin typeface="Segoe UI"/>
              </a:defRPr>
            </a:pPr>
            <a:r>
              <a:t>• Consumes significantly less power while sharing on-die L2/L3 caches.</a:t>
            </a:r>
          </a:p>
        </p:txBody>
      </p:sp>
      <p:sp>
        <p:nvSpPr>
          <p:cNvPr id="12" name="Rounded Rectangle 11"/>
          <p:cNvSpPr/>
          <p:nvPr/>
        </p:nvSpPr>
        <p:spPr>
          <a:xfrm>
            <a:off x="731520" y="3566160"/>
            <a:ext cx="5303520" cy="192024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3566160"/>
            <a:ext cx="73152" cy="192024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06440" y="363931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3703320"/>
            <a:ext cx="4937759" cy="320040"/>
          </a:xfrm>
          <a:prstGeom prst="rect">
            <a:avLst/>
          </a:prstGeom>
          <a:noFill/>
        </p:spPr>
        <p:txBody>
          <a:bodyPr wrap="square" lIns="0" tIns="0" rIns="0" bIns="0">
            <a:spAutoFit/>
          </a:bodyPr>
          <a:lstStyle/>
          <a:p>
            <a:pPr>
              <a:defRPr sz="1300" b="1">
                <a:solidFill>
                  <a:srgbClr val="FFFFFF"/>
                </a:solidFill>
                <a:latin typeface="Segoe UI"/>
              </a:defRPr>
            </a:pPr>
            <a:r>
              <a:t>Clustered Systems (Scale-Out)</a:t>
            </a:r>
          </a:p>
        </p:txBody>
      </p:sp>
      <p:sp>
        <p:nvSpPr>
          <p:cNvPr id="16" name="TextBox 15"/>
          <p:cNvSpPr txBox="1"/>
          <p:nvPr/>
        </p:nvSpPr>
        <p:spPr>
          <a:xfrm>
            <a:off x="960120" y="3977639"/>
            <a:ext cx="4846320" cy="1371600"/>
          </a:xfrm>
          <a:prstGeom prst="rect">
            <a:avLst/>
          </a:prstGeom>
          <a:noFill/>
        </p:spPr>
        <p:txBody>
          <a:bodyPr wrap="square">
            <a:spAutoFit/>
          </a:bodyPr>
          <a:lstStyle/>
          <a:p/>
          <a:p>
            <a:pPr>
              <a:spcBef>
                <a:spcPts val="200"/>
              </a:spcBef>
              <a:defRPr sz="1000">
                <a:solidFill>
                  <a:srgbClr val="A0AFC8"/>
                </a:solidFill>
                <a:latin typeface="Segoe UI"/>
              </a:defRPr>
            </a:pPr>
            <a:r>
              <a:t>• Multiple independent computer systems work together over a high-speed network.</a:t>
            </a:r>
          </a:p>
          <a:p>
            <a:pPr>
              <a:spcBef>
                <a:spcPts val="200"/>
              </a:spcBef>
              <a:defRPr sz="1000">
                <a:solidFill>
                  <a:srgbClr val="A0AFC8"/>
                </a:solidFill>
                <a:latin typeface="Segoe UI"/>
              </a:defRPr>
            </a:pPr>
            <a:r>
              <a:t>• Nodes share a common Storage Area Network (SAN) for unified data access.</a:t>
            </a:r>
          </a:p>
          <a:p>
            <a:pPr>
              <a:spcBef>
                <a:spcPts val="200"/>
              </a:spcBef>
              <a:defRPr sz="1000">
                <a:solidFill>
                  <a:srgbClr val="A0AFC8"/>
                </a:solidFill>
                <a:latin typeface="Segoe UI"/>
              </a:defRPr>
            </a:pPr>
            <a:r>
              <a:t>• Provides high availability and fault tolerance — if one machine fails, others take over.</a:t>
            </a:r>
          </a:p>
        </p:txBody>
      </p:sp>
      <p:pic>
        <p:nvPicPr>
          <p:cNvPr id="17" name="Picture 16" descr="iso_multicore_chip.png"/>
          <p:cNvPicPr>
            <a:picLocks noChangeAspect="1"/>
          </p:cNvPicPr>
          <p:nvPr/>
        </p:nvPicPr>
        <p:blipFill>
          <a:blip r:embed="rId2"/>
          <a:stretch>
            <a:fillRect/>
          </a:stretch>
        </p:blipFill>
        <p:spPr>
          <a:xfrm>
            <a:off x="6400800" y="1371600"/>
            <a:ext cx="5029200" cy="2806995"/>
          </a:xfrm>
          <a:prstGeom prst="rect">
            <a:avLst/>
          </a:prstGeom>
        </p:spPr>
      </p:pic>
      <p:sp>
        <p:nvSpPr>
          <p:cNvPr id="18" name="Rounded Rectangle 17"/>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897880"/>
            <a:ext cx="10332720" cy="411480"/>
          </a:xfrm>
          <a:prstGeom prst="rect">
            <a:avLst/>
          </a:prstGeom>
          <a:noFill/>
        </p:spPr>
        <p:txBody>
          <a:bodyPr wrap="square" lIns="0" tIns="0" rIns="0" bIns="0">
            <a:spAutoFit/>
          </a:bodyPr>
          <a:lstStyle/>
          <a:p>
            <a:r>
              <a:rPr sz="1050" b="1">
                <a:solidFill>
                  <a:srgbClr val="38BDF8"/>
                </a:solidFill>
                <a:latin typeface="Segoe UI"/>
              </a:rPr>
              <a:t>□ Modern Architectural Spectrum: </a:t>
            </a:r>
            <a:r>
              <a:rPr sz="1050">
                <a:solidFill>
                  <a:srgbClr val="FFFFFF"/>
                </a:solidFill>
                <a:latin typeface="Segoe UI"/>
              </a:rPr>
              <a:t>Modern systems use multicore processors on single chips and clustered systems connecting independent computers over networks.</a:t>
            </a:r>
          </a:p>
        </p:txBody>
      </p:sp>
    </p:spTree>
  </p:cSld>
  <p:clrMapOvr>
    <a:masterClrMapping/>
  </p:clrMapOvr>
  <p:transition xmlns:p14="http://schemas.microsoft.com/office/powerpoint/2010/main" spd="med" dur="1500">
    <p14:morph option="byObject"/>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ACT III: MULTIPROCESSING</a:t>
            </a:r>
          </a:p>
        </p:txBody>
      </p:sp>
      <p:sp>
        <p:nvSpPr>
          <p:cNvPr id="4" name="Rounded Rectangle 3"/>
          <p:cNvSpPr/>
          <p:nvPr/>
        </p:nvSpPr>
        <p:spPr>
          <a:xfrm>
            <a:off x="786384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LOCHAN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14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OS Challenges in Multiprocessing</a:t>
            </a:r>
          </a:p>
          <a:p>
            <a:pPr>
              <a:spcBef>
                <a:spcPts val="200"/>
              </a:spcBef>
              <a:defRPr sz="1150">
                <a:solidFill>
                  <a:srgbClr val="A0AFC8"/>
                </a:solidFill>
                <a:latin typeface="Segoe UI"/>
              </a:defRPr>
            </a:pPr>
            <a:r>
              <a:t>Critical Complexities in Coordinating Concurrent Hardware Execution</a:t>
            </a:r>
          </a:p>
        </p:txBody>
      </p:sp>
      <p:sp>
        <p:nvSpPr>
          <p:cNvPr id="7" name="Rounded Rectangle 6"/>
          <p:cNvSpPr/>
          <p:nvPr/>
        </p:nvSpPr>
        <p:spPr>
          <a:xfrm>
            <a:off x="731520" y="1463040"/>
            <a:ext cx="5212080" cy="18288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463040"/>
            <a:ext cx="73152" cy="182880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0" y="153619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1. CPU Scheduling</a:t>
            </a:r>
          </a:p>
        </p:txBody>
      </p:sp>
      <p:sp>
        <p:nvSpPr>
          <p:cNvPr id="11" name="TextBox 10"/>
          <p:cNvSpPr txBox="1"/>
          <p:nvPr/>
        </p:nvSpPr>
        <p:spPr>
          <a:xfrm>
            <a:off x="950976" y="1920240"/>
            <a:ext cx="4800600" cy="1188720"/>
          </a:xfrm>
          <a:prstGeom prst="rect">
            <a:avLst/>
          </a:prstGeom>
          <a:noFill/>
        </p:spPr>
        <p:txBody>
          <a:bodyPr wrap="square">
            <a:spAutoFit/>
          </a:bodyPr>
          <a:lstStyle/>
          <a:p>
            <a:pPr>
              <a:defRPr sz="1050">
                <a:solidFill>
                  <a:srgbClr val="A0AFC8"/>
                </a:solidFill>
                <a:latin typeface="Segoe UI"/>
              </a:defRPr>
            </a:pPr>
            <a:r>
              <a:t>Deciding which processor or core runs which process to maximize throughput, avoid starvation, and maintain thread affinity.</a:t>
            </a:r>
          </a:p>
        </p:txBody>
      </p:sp>
      <p:sp>
        <p:nvSpPr>
          <p:cNvPr id="12" name="Rounded Rectangle 11"/>
          <p:cNvSpPr/>
          <p:nvPr/>
        </p:nvSpPr>
        <p:spPr>
          <a:xfrm>
            <a:off x="6217920" y="1463040"/>
            <a:ext cx="5212080" cy="18288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63040"/>
            <a:ext cx="73152" cy="182880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01400" y="153619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7376" y="1600200"/>
            <a:ext cx="4846320" cy="320040"/>
          </a:xfrm>
          <a:prstGeom prst="rect">
            <a:avLst/>
          </a:prstGeom>
          <a:noFill/>
        </p:spPr>
        <p:txBody>
          <a:bodyPr wrap="square" lIns="0" tIns="0" rIns="0" bIns="0">
            <a:spAutoFit/>
          </a:bodyPr>
          <a:lstStyle/>
          <a:p>
            <a:pPr>
              <a:defRPr sz="1300" b="1">
                <a:solidFill>
                  <a:srgbClr val="FFFFFF"/>
                </a:solidFill>
                <a:latin typeface="Segoe UI"/>
              </a:defRPr>
            </a:pPr>
            <a:r>
              <a:t>2. Cache Coherence</a:t>
            </a:r>
          </a:p>
        </p:txBody>
      </p:sp>
      <p:sp>
        <p:nvSpPr>
          <p:cNvPr id="16" name="TextBox 15"/>
          <p:cNvSpPr txBox="1"/>
          <p:nvPr/>
        </p:nvSpPr>
        <p:spPr>
          <a:xfrm>
            <a:off x="6437376" y="1920240"/>
            <a:ext cx="4800600" cy="1188720"/>
          </a:xfrm>
          <a:prstGeom prst="rect">
            <a:avLst/>
          </a:prstGeom>
          <a:noFill/>
        </p:spPr>
        <p:txBody>
          <a:bodyPr wrap="square">
            <a:spAutoFit/>
          </a:bodyPr>
          <a:lstStyle/>
          <a:p>
            <a:pPr>
              <a:defRPr sz="1050">
                <a:solidFill>
                  <a:srgbClr val="A0AFC8"/>
                </a:solidFill>
                <a:latin typeface="Segoe UI"/>
              </a:defRPr>
            </a:pPr>
            <a:r>
              <a:t>Ensuring that when one CPU modifies data in its private cache, other CPUs with copies of the same memory location are kept updated.</a:t>
            </a:r>
          </a:p>
        </p:txBody>
      </p:sp>
      <p:sp>
        <p:nvSpPr>
          <p:cNvPr id="17" name="Rounded Rectangle 16"/>
          <p:cNvSpPr/>
          <p:nvPr/>
        </p:nvSpPr>
        <p:spPr>
          <a:xfrm>
            <a:off x="731520" y="3474720"/>
            <a:ext cx="5212080" cy="18288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474720"/>
            <a:ext cx="73152" cy="182880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15000" y="354787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3611879"/>
            <a:ext cx="4846320" cy="320040"/>
          </a:xfrm>
          <a:prstGeom prst="rect">
            <a:avLst/>
          </a:prstGeom>
          <a:noFill/>
        </p:spPr>
        <p:txBody>
          <a:bodyPr wrap="square" lIns="0" tIns="0" rIns="0" bIns="0">
            <a:spAutoFit/>
          </a:bodyPr>
          <a:lstStyle/>
          <a:p>
            <a:pPr>
              <a:defRPr sz="1300" b="1">
                <a:solidFill>
                  <a:srgbClr val="FFFFFF"/>
                </a:solidFill>
                <a:latin typeface="Segoe UI"/>
              </a:defRPr>
            </a:pPr>
            <a:r>
              <a:t>3. Load Balancing</a:t>
            </a:r>
          </a:p>
        </p:txBody>
      </p:sp>
      <p:sp>
        <p:nvSpPr>
          <p:cNvPr id="21" name="TextBox 20"/>
          <p:cNvSpPr txBox="1"/>
          <p:nvPr/>
        </p:nvSpPr>
        <p:spPr>
          <a:xfrm>
            <a:off x="950976" y="3931920"/>
            <a:ext cx="4800600" cy="1188720"/>
          </a:xfrm>
          <a:prstGeom prst="rect">
            <a:avLst/>
          </a:prstGeom>
          <a:noFill/>
        </p:spPr>
        <p:txBody>
          <a:bodyPr wrap="square">
            <a:spAutoFit/>
          </a:bodyPr>
          <a:lstStyle/>
          <a:p>
            <a:pPr>
              <a:defRPr sz="1050">
                <a:solidFill>
                  <a:srgbClr val="A0AFC8"/>
                </a:solidFill>
                <a:latin typeface="Segoe UI"/>
              </a:defRPr>
            </a:pPr>
            <a:r>
              <a:t>Distributing workload evenly across all available processors so no single CPU is bottlenecked while others sit idle.</a:t>
            </a:r>
          </a:p>
        </p:txBody>
      </p:sp>
      <p:sp>
        <p:nvSpPr>
          <p:cNvPr id="22" name="Rounded Rectangle 21"/>
          <p:cNvSpPr/>
          <p:nvPr/>
        </p:nvSpPr>
        <p:spPr>
          <a:xfrm>
            <a:off x="6217920" y="3474720"/>
            <a:ext cx="5212080" cy="18288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17920" y="3474720"/>
            <a:ext cx="73152" cy="182880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201400" y="3547872"/>
            <a:ext cx="137160" cy="1828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37376" y="3611879"/>
            <a:ext cx="4846320" cy="320040"/>
          </a:xfrm>
          <a:prstGeom prst="rect">
            <a:avLst/>
          </a:prstGeom>
          <a:noFill/>
        </p:spPr>
        <p:txBody>
          <a:bodyPr wrap="square" lIns="0" tIns="0" rIns="0" bIns="0">
            <a:spAutoFit/>
          </a:bodyPr>
          <a:lstStyle/>
          <a:p>
            <a:pPr>
              <a:defRPr sz="1300" b="1">
                <a:solidFill>
                  <a:srgbClr val="FFFFFF"/>
                </a:solidFill>
                <a:latin typeface="Segoe UI"/>
              </a:defRPr>
            </a:pPr>
            <a:r>
              <a:t>4. Synchronization</a:t>
            </a:r>
          </a:p>
        </p:txBody>
      </p:sp>
      <p:sp>
        <p:nvSpPr>
          <p:cNvPr id="26" name="TextBox 25"/>
          <p:cNvSpPr txBox="1"/>
          <p:nvPr/>
        </p:nvSpPr>
        <p:spPr>
          <a:xfrm>
            <a:off x="6437376" y="3931920"/>
            <a:ext cx="4800600" cy="1188720"/>
          </a:xfrm>
          <a:prstGeom prst="rect">
            <a:avLst/>
          </a:prstGeom>
          <a:noFill/>
        </p:spPr>
        <p:txBody>
          <a:bodyPr wrap="square">
            <a:spAutoFit/>
          </a:bodyPr>
          <a:lstStyle/>
          <a:p>
            <a:pPr>
              <a:defRPr sz="1050">
                <a:solidFill>
                  <a:srgbClr val="A0AFC8"/>
                </a:solidFill>
                <a:latin typeface="Segoe UI"/>
              </a:defRPr>
            </a:pPr>
            <a:r>
              <a:t>Using locks, mutexes, and semaphores to protect shared kernel data structures and prevent race conditions or data corruption.</a:t>
            </a:r>
          </a:p>
        </p:txBody>
      </p:sp>
      <p:sp>
        <p:nvSpPr>
          <p:cNvPr id="27" name="Rounded Rectangle 26"/>
          <p:cNvSpPr/>
          <p:nvPr/>
        </p:nvSpPr>
        <p:spPr>
          <a:xfrm>
            <a:off x="731520" y="5806440"/>
            <a:ext cx="10728655" cy="59436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231575" y="58795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897880"/>
            <a:ext cx="10332720" cy="411480"/>
          </a:xfrm>
          <a:prstGeom prst="rect">
            <a:avLst/>
          </a:prstGeom>
          <a:noFill/>
        </p:spPr>
        <p:txBody>
          <a:bodyPr wrap="square" lIns="0" tIns="0" rIns="0" bIns="0">
            <a:spAutoFit/>
          </a:bodyPr>
          <a:lstStyle/>
          <a:p>
            <a:r>
              <a:rPr sz="1050" b="1">
                <a:solidFill>
                  <a:srgbClr val="F43F5E"/>
                </a:solidFill>
                <a:latin typeface="Segoe UI"/>
              </a:rPr>
              <a:t>□ Operating System Requirement: </a:t>
            </a:r>
            <a:r>
              <a:rPr sz="1050">
                <a:solidFill>
                  <a:srgbClr val="FFFFFF"/>
                </a:solidFill>
                <a:latin typeface="Segoe UI"/>
              </a:rPr>
              <a:t>Multiprocessing creates challenges for the OS, including scheduling, cache coherence, load balancing, and synchronization.</a:t>
            </a:r>
          </a:p>
        </p:txBody>
      </p:sp>
    </p:spTree>
  </p:cSld>
  <p:clrMapOvr>
    <a:masterClrMapping/>
  </p:clrMapOvr>
  <p:transition xmlns:p14="http://schemas.microsoft.com/office/powerpoint/2010/main" spd="med" dur="1500">
    <p14:morph option="byObject"/>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38BDF8"/>
                </a:solidFill>
                <a:latin typeface="Segoe UI"/>
              </a:defRPr>
            </a:pPr>
            <a:r>
              <a:t>SYNTHESIS &amp; CONCLUSION</a:t>
            </a:r>
          </a:p>
        </p:txBody>
      </p:sp>
      <p:sp>
        <p:nvSpPr>
          <p:cNvPr id="4" name="Rounded Rectangle 3"/>
          <p:cNvSpPr/>
          <p:nvPr/>
        </p:nvSpPr>
        <p:spPr>
          <a:xfrm>
            <a:off x="7863840" y="365760"/>
            <a:ext cx="246888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18CF8"/>
                </a:solidFill>
                <a:latin typeface="Segoe UI"/>
              </a:defRPr>
            </a:pPr>
            <a:r>
              <a:t>V. RAM CHARAN · VEDHANTH · LOCHAN</a:t>
            </a:r>
          </a:p>
        </p:txBody>
      </p:sp>
      <p:sp>
        <p:nvSpPr>
          <p:cNvPr id="5" name="Rounded Rectangle 4"/>
          <p:cNvSpPr/>
          <p:nvPr/>
        </p:nvSpPr>
        <p:spPr>
          <a:xfrm>
            <a:off x="10469880" y="365760"/>
            <a:ext cx="1005840" cy="310896"/>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6E7D96"/>
                </a:solidFill>
                <a:latin typeface="Segoe UI"/>
              </a:defRPr>
            </a:pPr>
            <a:r>
              <a:t>15 / 15</a:t>
            </a:r>
          </a:p>
        </p:txBody>
      </p:sp>
      <p:sp>
        <p:nvSpPr>
          <p:cNvPr id="6" name="TextBox 5"/>
          <p:cNvSpPr txBox="1"/>
          <p:nvPr/>
        </p:nvSpPr>
        <p:spPr>
          <a:xfrm>
            <a:off x="731520" y="777240"/>
            <a:ext cx="10728655" cy="685800"/>
          </a:xfrm>
          <a:prstGeom prst="rect">
            <a:avLst/>
          </a:prstGeom>
          <a:noFill/>
        </p:spPr>
        <p:txBody>
          <a:bodyPr wrap="square" lIns="0" tIns="0" rIns="0" bIns="0">
            <a:spAutoFit/>
          </a:bodyPr>
          <a:lstStyle/>
          <a:p>
            <a:pPr>
              <a:defRPr sz="2400" b="1">
                <a:solidFill>
                  <a:srgbClr val="FFFFFF"/>
                </a:solidFill>
                <a:latin typeface="Segoe UI"/>
              </a:defRPr>
            </a:pPr>
            <a:r>
              <a:t>Complete Architecture &amp; Key Takeaways</a:t>
            </a:r>
          </a:p>
          <a:p>
            <a:pPr>
              <a:spcBef>
                <a:spcPts val="200"/>
              </a:spcBef>
              <a:defRPr sz="1150">
                <a:solidFill>
                  <a:srgbClr val="A0AFC8"/>
                </a:solidFill>
                <a:latin typeface="Segoe UI"/>
              </a:defRPr>
            </a:pPr>
            <a:r>
              <a:t>Hardware Foundations, Storage Hierarchies &amp; Modern Multiprocessing</a:t>
            </a:r>
          </a:p>
        </p:txBody>
      </p:sp>
      <p:sp>
        <p:nvSpPr>
          <p:cNvPr id="7" name="Rounded Rectangle 6"/>
          <p:cNvSpPr/>
          <p:nvPr/>
        </p:nvSpPr>
        <p:spPr>
          <a:xfrm>
            <a:off x="731520" y="1463040"/>
            <a:ext cx="2514600" cy="24688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017520" y="15361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2148840" cy="320040"/>
          </a:xfrm>
          <a:prstGeom prst="rect">
            <a:avLst/>
          </a:prstGeom>
          <a:noFill/>
        </p:spPr>
        <p:txBody>
          <a:bodyPr wrap="square" lIns="0" tIns="0" rIns="0" bIns="0">
            <a:spAutoFit/>
          </a:bodyPr>
          <a:lstStyle/>
          <a:p>
            <a:pPr>
              <a:defRPr sz="1300" b="1">
                <a:solidFill>
                  <a:srgbClr val="FFFFFF"/>
                </a:solidFill>
                <a:latin typeface="Segoe UI"/>
              </a:defRPr>
            </a:pPr>
            <a:r>
              <a:t>Core Hardware</a:t>
            </a:r>
          </a:p>
        </p:txBody>
      </p:sp>
      <p:sp>
        <p:nvSpPr>
          <p:cNvPr id="10" name="Oval 9"/>
          <p:cNvSpPr/>
          <p:nvPr/>
        </p:nvSpPr>
        <p:spPr>
          <a:xfrm>
            <a:off x="1760219" y="1280160"/>
            <a:ext cx="457200" cy="457200"/>
          </a:xfrm>
          <a:prstGeom prst="ellipse">
            <a:avLst/>
          </a:prstGeom>
          <a:solidFill>
            <a:srgbClr val="1E2434"/>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1</a:t>
            </a:r>
          </a:p>
        </p:txBody>
      </p:sp>
      <p:sp>
        <p:nvSpPr>
          <p:cNvPr id="11" name="TextBox 10"/>
          <p:cNvSpPr txBox="1"/>
          <p:nvPr/>
        </p:nvSpPr>
        <p:spPr>
          <a:xfrm>
            <a:off x="868680" y="1828800"/>
            <a:ext cx="2240280" cy="1920240"/>
          </a:xfrm>
          <a:prstGeom prst="rect">
            <a:avLst/>
          </a:prstGeom>
          <a:noFill/>
        </p:spPr>
        <p:txBody>
          <a:bodyPr wrap="square">
            <a:spAutoFit/>
          </a:bodyPr>
          <a:lstStyle/>
          <a:p>
            <a:pPr>
              <a:defRPr sz="1000">
                <a:solidFill>
                  <a:srgbClr val="A0AFC8"/>
                </a:solidFill>
                <a:latin typeface="Segoe UI"/>
              </a:defRPr>
            </a:pPr>
            <a:r>
              <a:t>CPU (fetch/decode/exec), RAM, and I/O linked via Address, Data, and Control buses with Interrupts &amp; DMA.</a:t>
            </a:r>
          </a:p>
        </p:txBody>
      </p:sp>
      <p:sp>
        <p:nvSpPr>
          <p:cNvPr id="12" name="Rounded Rectangle 11"/>
          <p:cNvSpPr/>
          <p:nvPr/>
        </p:nvSpPr>
        <p:spPr>
          <a:xfrm>
            <a:off x="3474720" y="1463040"/>
            <a:ext cx="2514600" cy="24688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60720" y="15361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1600200"/>
            <a:ext cx="2148840" cy="320040"/>
          </a:xfrm>
          <a:prstGeom prst="rect">
            <a:avLst/>
          </a:prstGeom>
          <a:noFill/>
        </p:spPr>
        <p:txBody>
          <a:bodyPr wrap="square" lIns="0" tIns="0" rIns="0" bIns="0">
            <a:spAutoFit/>
          </a:bodyPr>
          <a:lstStyle/>
          <a:p>
            <a:pPr>
              <a:defRPr sz="1300" b="1">
                <a:solidFill>
                  <a:srgbClr val="FFFFFF"/>
                </a:solidFill>
                <a:latin typeface="Segoe UI"/>
              </a:defRPr>
            </a:pPr>
            <a:r>
              <a:t>Storage Hierarchy</a:t>
            </a:r>
          </a:p>
        </p:txBody>
      </p:sp>
      <p:sp>
        <p:nvSpPr>
          <p:cNvPr id="15" name="Oval 14"/>
          <p:cNvSpPr/>
          <p:nvPr/>
        </p:nvSpPr>
        <p:spPr>
          <a:xfrm>
            <a:off x="4503420" y="1280160"/>
            <a:ext cx="457200" cy="457200"/>
          </a:xfrm>
          <a:prstGeom prst="ellipse">
            <a:avLst/>
          </a:prstGeom>
          <a:solidFill>
            <a:srgbClr val="1E2434"/>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2</a:t>
            </a:r>
          </a:p>
        </p:txBody>
      </p:sp>
      <p:sp>
        <p:nvSpPr>
          <p:cNvPr id="16" name="TextBox 15"/>
          <p:cNvSpPr txBox="1"/>
          <p:nvPr/>
        </p:nvSpPr>
        <p:spPr>
          <a:xfrm>
            <a:off x="3611879" y="1828800"/>
            <a:ext cx="2240280" cy="1920240"/>
          </a:xfrm>
          <a:prstGeom prst="rect">
            <a:avLst/>
          </a:prstGeom>
          <a:noFill/>
        </p:spPr>
        <p:txBody>
          <a:bodyPr wrap="square">
            <a:spAutoFit/>
          </a:bodyPr>
          <a:lstStyle/>
          <a:p>
            <a:pPr>
              <a:defRPr sz="1000">
                <a:solidFill>
                  <a:srgbClr val="A0AFC8"/>
                </a:solidFill>
                <a:latin typeface="Segoe UI"/>
              </a:defRPr>
            </a:pPr>
            <a:r>
              <a:t>Balances speed, cost, and capacity from fast volatile Registers/Cache/RAM down to non-volatile SSDs/HDDs.</a:t>
            </a:r>
          </a:p>
        </p:txBody>
      </p:sp>
      <p:sp>
        <p:nvSpPr>
          <p:cNvPr id="17" name="Rounded Rectangle 16"/>
          <p:cNvSpPr/>
          <p:nvPr/>
        </p:nvSpPr>
        <p:spPr>
          <a:xfrm>
            <a:off x="6217920" y="1463040"/>
            <a:ext cx="2514600" cy="24688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503920" y="15361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600200"/>
            <a:ext cx="2148840" cy="320040"/>
          </a:xfrm>
          <a:prstGeom prst="rect">
            <a:avLst/>
          </a:prstGeom>
          <a:noFill/>
        </p:spPr>
        <p:txBody>
          <a:bodyPr wrap="square" lIns="0" tIns="0" rIns="0" bIns="0">
            <a:spAutoFit/>
          </a:bodyPr>
          <a:lstStyle/>
          <a:p>
            <a:pPr>
              <a:defRPr sz="1300" b="1">
                <a:solidFill>
                  <a:srgbClr val="FFFFFF"/>
                </a:solidFill>
                <a:latin typeface="Segoe UI"/>
              </a:defRPr>
            </a:pPr>
            <a:r>
              <a:t>Locality of Reference</a:t>
            </a:r>
          </a:p>
        </p:txBody>
      </p:sp>
      <p:sp>
        <p:nvSpPr>
          <p:cNvPr id="20" name="Oval 19"/>
          <p:cNvSpPr/>
          <p:nvPr/>
        </p:nvSpPr>
        <p:spPr>
          <a:xfrm>
            <a:off x="7246620" y="1280160"/>
            <a:ext cx="457200" cy="457200"/>
          </a:xfrm>
          <a:prstGeom prst="ellipse">
            <a:avLst/>
          </a:prstGeom>
          <a:solidFill>
            <a:srgbClr val="1E2434"/>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3</a:t>
            </a:r>
          </a:p>
        </p:txBody>
      </p:sp>
      <p:sp>
        <p:nvSpPr>
          <p:cNvPr id="21" name="TextBox 20"/>
          <p:cNvSpPr txBox="1"/>
          <p:nvPr/>
        </p:nvSpPr>
        <p:spPr>
          <a:xfrm>
            <a:off x="6355080" y="1828800"/>
            <a:ext cx="2240280" cy="1920240"/>
          </a:xfrm>
          <a:prstGeom prst="rect">
            <a:avLst/>
          </a:prstGeom>
          <a:noFill/>
        </p:spPr>
        <p:txBody>
          <a:bodyPr wrap="square">
            <a:spAutoFit/>
          </a:bodyPr>
          <a:lstStyle/>
          <a:p>
            <a:pPr>
              <a:defRPr sz="1000">
                <a:solidFill>
                  <a:srgbClr val="A0AFC8"/>
                </a:solidFill>
                <a:latin typeface="Segoe UI"/>
              </a:defRPr>
            </a:pPr>
            <a:r>
              <a:t>Temporal (reuse soon) and Spatial (nearby) locality leveraged by Paging, Buffering, Caching &amp; Prefetching.</a:t>
            </a:r>
          </a:p>
        </p:txBody>
      </p:sp>
      <p:sp>
        <p:nvSpPr>
          <p:cNvPr id="22" name="Rounded Rectangle 21"/>
          <p:cNvSpPr/>
          <p:nvPr/>
        </p:nvSpPr>
        <p:spPr>
          <a:xfrm>
            <a:off x="8961120" y="1463040"/>
            <a:ext cx="2514600" cy="246888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247120" y="1536192"/>
            <a:ext cx="137160" cy="18288"/>
          </a:xfrm>
          <a:prstGeom prst="rect">
            <a:avLst/>
          </a:prstGeom>
          <a:solidFill>
            <a:srgbClr val="2E3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0" y="1600200"/>
            <a:ext cx="2148840" cy="320040"/>
          </a:xfrm>
          <a:prstGeom prst="rect">
            <a:avLst/>
          </a:prstGeom>
          <a:noFill/>
        </p:spPr>
        <p:txBody>
          <a:bodyPr wrap="square" lIns="0" tIns="0" rIns="0" bIns="0">
            <a:spAutoFit/>
          </a:bodyPr>
          <a:lstStyle/>
          <a:p>
            <a:pPr>
              <a:defRPr sz="1300" b="1">
                <a:solidFill>
                  <a:srgbClr val="FFFFFF"/>
                </a:solidFill>
                <a:latin typeface="Segoe UI"/>
              </a:defRPr>
            </a:pPr>
            <a:r>
              <a:t>Multiprocessing</a:t>
            </a:r>
          </a:p>
        </p:txBody>
      </p:sp>
      <p:sp>
        <p:nvSpPr>
          <p:cNvPr id="25" name="Oval 24"/>
          <p:cNvSpPr/>
          <p:nvPr/>
        </p:nvSpPr>
        <p:spPr>
          <a:xfrm>
            <a:off x="9989820" y="1280160"/>
            <a:ext cx="457200" cy="457200"/>
          </a:xfrm>
          <a:prstGeom prst="ellipse">
            <a:avLst/>
          </a:prstGeom>
          <a:solidFill>
            <a:srgbClr val="1E2434"/>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4</a:t>
            </a:r>
          </a:p>
        </p:txBody>
      </p:sp>
      <p:sp>
        <p:nvSpPr>
          <p:cNvPr id="26" name="TextBox 25"/>
          <p:cNvSpPr txBox="1"/>
          <p:nvPr/>
        </p:nvSpPr>
        <p:spPr>
          <a:xfrm>
            <a:off x="9098280" y="1828800"/>
            <a:ext cx="2240280" cy="1920240"/>
          </a:xfrm>
          <a:prstGeom prst="rect">
            <a:avLst/>
          </a:prstGeom>
          <a:noFill/>
        </p:spPr>
        <p:txBody>
          <a:bodyPr wrap="square">
            <a:spAutoFit/>
          </a:bodyPr>
          <a:lstStyle/>
          <a:p>
            <a:pPr>
              <a:defRPr sz="1000">
                <a:solidFill>
                  <a:srgbClr val="A0AFC8"/>
                </a:solidFill>
                <a:latin typeface="Segoe UI"/>
              </a:defRPr>
            </a:pPr>
            <a:r>
              <a:t>SMP (peers) and AMP (master-slave) scale hardware capacity alongside Multicore and Clustered systems.</a:t>
            </a:r>
          </a:p>
        </p:txBody>
      </p:sp>
      <p:sp>
        <p:nvSpPr>
          <p:cNvPr id="27" name="Rounded Rectangle 26"/>
          <p:cNvSpPr/>
          <p:nvPr/>
        </p:nvSpPr>
        <p:spPr>
          <a:xfrm>
            <a:off x="731520" y="4206240"/>
            <a:ext cx="10728655" cy="914400"/>
          </a:xfrm>
          <a:prstGeom prst="roundRect">
            <a:avLst/>
          </a:prstGeom>
          <a:solidFill>
            <a:srgbClr val="1A1E2A"/>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31520" y="4206240"/>
            <a:ext cx="73152" cy="914400"/>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231575" y="4279392"/>
            <a:ext cx="137160" cy="18288"/>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0976" y="4343400"/>
            <a:ext cx="10362895" cy="320040"/>
          </a:xfrm>
          <a:prstGeom prst="rect">
            <a:avLst/>
          </a:prstGeom>
          <a:noFill/>
        </p:spPr>
        <p:txBody>
          <a:bodyPr wrap="square" lIns="0" tIns="0" rIns="0" bIns="0">
            <a:spAutoFit/>
          </a:bodyPr>
          <a:lstStyle/>
          <a:p>
            <a:pPr>
              <a:defRPr sz="1300" b="1">
                <a:solidFill>
                  <a:srgbClr val="FFFFFF"/>
                </a:solidFill>
                <a:latin typeface="Segoe UI"/>
              </a:defRPr>
            </a:pPr>
            <a:r>
              <a:t>OS Multiprocessing Coordination</a:t>
            </a:r>
          </a:p>
        </p:txBody>
      </p:sp>
      <p:sp>
        <p:nvSpPr>
          <p:cNvPr id="31" name="Oval 30"/>
          <p:cNvSpPr/>
          <p:nvPr/>
        </p:nvSpPr>
        <p:spPr>
          <a:xfrm>
            <a:off x="5867247" y="4023360"/>
            <a:ext cx="457200" cy="457200"/>
          </a:xfrm>
          <a:prstGeom prst="ellipse">
            <a:avLst/>
          </a:prstGeom>
          <a:solidFill>
            <a:srgbClr val="1E2434"/>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5</a:t>
            </a:r>
          </a:p>
        </p:txBody>
      </p:sp>
      <p:sp>
        <p:nvSpPr>
          <p:cNvPr id="32" name="TextBox 31"/>
          <p:cNvSpPr txBox="1"/>
          <p:nvPr/>
        </p:nvSpPr>
        <p:spPr>
          <a:xfrm>
            <a:off x="1005840" y="4480560"/>
            <a:ext cx="10241280" cy="548640"/>
          </a:xfrm>
          <a:prstGeom prst="rect">
            <a:avLst/>
          </a:prstGeom>
          <a:noFill/>
        </p:spPr>
        <p:txBody>
          <a:bodyPr wrap="square">
            <a:spAutoFit/>
          </a:bodyPr>
          <a:lstStyle/>
          <a:p>
            <a:pPr>
              <a:defRPr sz="1050">
                <a:solidFill>
                  <a:srgbClr val="A0AFC8"/>
                </a:solidFill>
                <a:latin typeface="Segoe UI"/>
              </a:defRPr>
            </a:pPr>
            <a:r>
              <a:t>Multiprocessing allows computers to handle more work efficiently while requiring the OS to carefully coordinate scheduling, cache coherence, load balancing, and synchronization.</a:t>
            </a:r>
          </a:p>
        </p:txBody>
      </p:sp>
      <p:sp>
        <p:nvSpPr>
          <p:cNvPr id="33" name="Rounded Rectangle 32"/>
          <p:cNvSpPr/>
          <p:nvPr/>
        </p:nvSpPr>
        <p:spPr>
          <a:xfrm>
            <a:off x="731520" y="5303520"/>
            <a:ext cx="3383280" cy="109728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31520" y="5303520"/>
            <a:ext cx="73152" cy="109728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86200" y="5376672"/>
            <a:ext cx="13716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0976" y="5440680"/>
            <a:ext cx="3017520" cy="320040"/>
          </a:xfrm>
          <a:prstGeom prst="rect">
            <a:avLst/>
          </a:prstGeom>
          <a:noFill/>
        </p:spPr>
        <p:txBody>
          <a:bodyPr wrap="square" lIns="0" tIns="0" rIns="0" bIns="0">
            <a:spAutoFit/>
          </a:bodyPr>
          <a:lstStyle/>
          <a:p>
            <a:pPr>
              <a:defRPr sz="1300" b="1">
                <a:solidFill>
                  <a:srgbClr val="FFFFFF"/>
                </a:solidFill>
                <a:latin typeface="Segoe UI"/>
              </a:defRPr>
            </a:pPr>
            <a:r>
              <a:t>V. Ram Charan</a:t>
            </a:r>
          </a:p>
        </p:txBody>
      </p:sp>
      <p:sp>
        <p:nvSpPr>
          <p:cNvPr id="37" name="TextBox 36"/>
          <p:cNvSpPr txBox="1"/>
          <p:nvPr/>
        </p:nvSpPr>
        <p:spPr>
          <a:xfrm>
            <a:off x="914400" y="5715000"/>
            <a:ext cx="3017520" cy="548640"/>
          </a:xfrm>
          <a:prstGeom prst="rect">
            <a:avLst/>
          </a:prstGeom>
          <a:noFill/>
        </p:spPr>
        <p:txBody>
          <a:bodyPr wrap="none">
            <a:spAutoFit/>
          </a:bodyPr>
          <a:lstStyle/>
          <a:p>
            <a:pPr>
              <a:defRPr sz="1000">
                <a:solidFill>
                  <a:srgbClr val="38BDF8"/>
                </a:solidFill>
                <a:latin typeface="Segoe UI"/>
              </a:defRPr>
            </a:pPr>
            <a:r>
              <a:t>Act I: Core Hardware &amp; System Bus (Slides 1–5)</a:t>
            </a:r>
          </a:p>
        </p:txBody>
      </p:sp>
      <p:sp>
        <p:nvSpPr>
          <p:cNvPr id="38" name="Rounded Rectangle 37"/>
          <p:cNvSpPr/>
          <p:nvPr/>
        </p:nvSpPr>
        <p:spPr>
          <a:xfrm>
            <a:off x="4389120" y="5303520"/>
            <a:ext cx="3383280" cy="109728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389120" y="5303520"/>
            <a:ext cx="73152" cy="1097280"/>
          </a:xfrm>
          <a:prstGeom prst="round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543800" y="5376672"/>
            <a:ext cx="137160" cy="18288"/>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08576" y="5440680"/>
            <a:ext cx="3017520" cy="320040"/>
          </a:xfrm>
          <a:prstGeom prst="rect">
            <a:avLst/>
          </a:prstGeom>
          <a:noFill/>
        </p:spPr>
        <p:txBody>
          <a:bodyPr wrap="square" lIns="0" tIns="0" rIns="0" bIns="0">
            <a:spAutoFit/>
          </a:bodyPr>
          <a:lstStyle/>
          <a:p>
            <a:pPr>
              <a:defRPr sz="1300" b="1">
                <a:solidFill>
                  <a:srgbClr val="FFFFFF"/>
                </a:solidFill>
                <a:latin typeface="Segoe UI"/>
              </a:defRPr>
            </a:pPr>
            <a:r>
              <a:t>Vedhanth</a:t>
            </a:r>
          </a:p>
        </p:txBody>
      </p:sp>
      <p:sp>
        <p:nvSpPr>
          <p:cNvPr id="42" name="TextBox 41"/>
          <p:cNvSpPr txBox="1"/>
          <p:nvPr/>
        </p:nvSpPr>
        <p:spPr>
          <a:xfrm>
            <a:off x="4572000" y="5715000"/>
            <a:ext cx="3017520" cy="548640"/>
          </a:xfrm>
          <a:prstGeom prst="rect">
            <a:avLst/>
          </a:prstGeom>
          <a:noFill/>
        </p:spPr>
        <p:txBody>
          <a:bodyPr wrap="none">
            <a:spAutoFit/>
          </a:bodyPr>
          <a:lstStyle/>
          <a:p>
            <a:pPr>
              <a:defRPr sz="1000">
                <a:solidFill>
                  <a:srgbClr val="818CF8"/>
                </a:solidFill>
                <a:latin typeface="Segoe UI"/>
              </a:defRPr>
            </a:pPr>
            <a:r>
              <a:t>Act II: Memory &amp; Storage Hierarchy (Slides 6–10)</a:t>
            </a:r>
          </a:p>
        </p:txBody>
      </p:sp>
      <p:sp>
        <p:nvSpPr>
          <p:cNvPr id="43" name="Rounded Rectangle 42"/>
          <p:cNvSpPr/>
          <p:nvPr/>
        </p:nvSpPr>
        <p:spPr>
          <a:xfrm>
            <a:off x="8046720" y="5303520"/>
            <a:ext cx="3383280" cy="1097280"/>
          </a:xfrm>
          <a:prstGeom prst="roundRect">
            <a:avLst/>
          </a:prstGeom>
          <a:solidFill>
            <a:srgbClr val="1E2434"/>
          </a:solidFill>
          <a:ln w="12700">
            <a:solidFill>
              <a:srgbClr val="2E36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046720" y="5303520"/>
            <a:ext cx="73152" cy="1097280"/>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1201400" y="5376672"/>
            <a:ext cx="137160"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66176" y="5440680"/>
            <a:ext cx="3017520" cy="320040"/>
          </a:xfrm>
          <a:prstGeom prst="rect">
            <a:avLst/>
          </a:prstGeom>
          <a:noFill/>
        </p:spPr>
        <p:txBody>
          <a:bodyPr wrap="square" lIns="0" tIns="0" rIns="0" bIns="0">
            <a:spAutoFit/>
          </a:bodyPr>
          <a:lstStyle/>
          <a:p>
            <a:pPr>
              <a:defRPr sz="1300" b="1">
                <a:solidFill>
                  <a:srgbClr val="FFFFFF"/>
                </a:solidFill>
                <a:latin typeface="Segoe UI"/>
              </a:defRPr>
            </a:pPr>
            <a:r>
              <a:t>Lochan</a:t>
            </a:r>
          </a:p>
        </p:txBody>
      </p:sp>
      <p:sp>
        <p:nvSpPr>
          <p:cNvPr id="47" name="TextBox 46"/>
          <p:cNvSpPr txBox="1"/>
          <p:nvPr/>
        </p:nvSpPr>
        <p:spPr>
          <a:xfrm>
            <a:off x="8229600" y="5715000"/>
            <a:ext cx="3017520" cy="548640"/>
          </a:xfrm>
          <a:prstGeom prst="rect">
            <a:avLst/>
          </a:prstGeom>
          <a:noFill/>
        </p:spPr>
        <p:txBody>
          <a:bodyPr wrap="none">
            <a:spAutoFit/>
          </a:bodyPr>
          <a:lstStyle/>
          <a:p>
            <a:pPr>
              <a:defRPr sz="1000">
                <a:solidFill>
                  <a:srgbClr val="34D399"/>
                </a:solidFill>
                <a:latin typeface="Segoe UI"/>
              </a:defRPr>
            </a:pPr>
            <a:r>
              <a:t>Act III: Multiprocessing &amp; Modern Systems (Slides 11–15)</a:t>
            </a:r>
          </a:p>
        </p:txBody>
      </p:sp>
    </p:spTree>
  </p:cSld>
  <p:clrMapOvr>
    <a:masterClrMapping/>
  </p:clrMapOvr>
  <p:transition xmlns:p14="http://schemas.microsoft.com/office/powerpoint/2010/main" spd="med" dur="1500">
    <p14:morph option="byObjec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