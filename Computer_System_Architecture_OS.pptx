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Good morning everyone. Welcome to our presentation on Computer System Architecture. I am Ram Charan, and together with Vedhanth and Lochan, we will walk you through the fundamental relationship between computer hardware and the operating system. The OS is the critical piece of software that transforms raw silicon, memory, and devices into a cohesive, secure platform.</a:t>
            </a:r>
          </a:p>
          <a:p/>
          <a:p>
            <a:r>
              <a:t>2. KEY ARCHITECTURAL CONCEPT:</a:t>
            </a:r>
          </a:p>
          <a:p>
            <a:r>
              <a:t>The Operating System acts as the vital bridge between user software and physical hardware, balancing resource allocation and execution control.</a:t>
            </a:r>
          </a:p>
          <a:p/>
          <a:p>
            <a:r>
              <a:t>3. TRANSITION TO NEXT SLIDE:</a:t>
            </a:r>
          </a:p>
          <a:p>
            <a:r>
              <a:t>Let us begin with Slide 2 by looking at the four fundamental components that make up any computer system.</a:t>
            </a:r>
          </a:p>
          <a:p/>
          <a:p>
            <a:r>
              <a:t>4. PRESENTATION CUE:</a:t>
            </a:r>
          </a:p>
          <a:p>
            <a:r>
              <a:t>Stand center, introduce team members, gesture to the presenter cards.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A computer system is divided into four components: Users, Application Programs, the Operating System, and Computer Hardware. Hardware supplies raw computing resources—the CPU, main memory, and I/O devices. Sitting right between applications and hardware is the Operating System, which fulfills two vital roles: as a Resource Allocator managing CPU cycles and memory without conflict, and as a Control Program preventing bugs and illegal operations from crashing the machine.</a:t>
            </a:r>
          </a:p>
          <a:p/>
          <a:p>
            <a:r>
              <a:t>2. KEY ARCHITECTURAL CONCEPT:</a:t>
            </a:r>
          </a:p>
          <a:p>
            <a:r>
              <a:t>Four-component computer system model &amp; OS duality as Resource Allocator and Control Program.</a:t>
            </a:r>
          </a:p>
          <a:p/>
          <a:p>
            <a:r>
              <a:t>3. TRANSITION TO NEXT SLIDE:</a:t>
            </a:r>
          </a:p>
          <a:p>
            <a:r>
              <a:t>Now let's examine how computer system architectures have evolved from single-processor systems to modern multi-core chips.</a:t>
            </a:r>
          </a:p>
          <a:p/>
          <a:p>
            <a:r>
              <a:t>4. PRESENTATION CUE:</a:t>
            </a:r>
          </a:p>
          <a:p>
            <a:r>
              <a:t>Point to the vertical diagram showing the OS buffering applications from raw hardware.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In modern computer system organization, CPUs and device controllers are connected through a shared system bus. Each device controller manages a specific device type—like disks, network interfaces, or displays—and maintains its own local buffer storage. The CPU and controllers execute concurrently, competing for memory cycles managed by the memory controller.</a:t>
            </a:r>
          </a:p>
          <a:p/>
          <a:p>
            <a:r>
              <a:t>2. KEY ARCHITECTURAL CONCEPT:</a:t>
            </a:r>
          </a:p>
          <a:p>
            <a:r>
              <a:t>Computer-system organization, shared bus interconnects, device controllers, and concurrent execution.</a:t>
            </a:r>
          </a:p>
          <a:p/>
          <a:p>
            <a:r>
              <a:t>3. TRANSITION TO NEXT SLIDE:</a:t>
            </a:r>
          </a:p>
          <a:p>
            <a:r>
              <a:t>Let's look at how single-processor systems compare with multiprocessor architectures.</a:t>
            </a:r>
          </a:p>
          <a:p/>
          <a:p>
            <a:r>
              <a:t>4. PRESENTATION CUE:</a:t>
            </a:r>
          </a:p>
          <a:p>
            <a:r>
              <a:t>Trace the connection of CPUs, memory, and devices to the common central bus.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Single-processor systems have one main general-purpose CPU. While they may contain special-purpose microcontrollers for disks or keyboards, only the main CPU executes user applications. Multiprocessor systems introduce two or more processors sharing memory and buses, delivering increased throughput and reliability. However, as our Speed-up Rule notes, adding N processors yields less than an N-fold speed-up due to bus contention and synchronization overhead.</a:t>
            </a:r>
          </a:p>
          <a:p/>
          <a:p>
            <a:r>
              <a:t>2. KEY ARCHITECTURAL CONCEPT:</a:t>
            </a:r>
          </a:p>
          <a:p>
            <a:r>
              <a:t>Single vs multiprocessor architectures and the law of diminishing returns in processor scaling.</a:t>
            </a:r>
          </a:p>
          <a:p/>
          <a:p>
            <a:r>
              <a:t>3. TRANSITION TO NEXT SLIDE:</a:t>
            </a:r>
          </a:p>
          <a:p>
            <a:r>
              <a:t>Let's examine how multicore designs bring multiprocessing directly onto a single silicon chip.</a:t>
            </a:r>
          </a:p>
          <a:p/>
          <a:p>
            <a:r>
              <a:t>4. PRESENTATION CUE:</a:t>
            </a:r>
          </a:p>
          <a:p>
            <a:r>
              <a:t>Point to the shared bus bottleneck on the multiprocessor diagram.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Why has the computing industry shifted entirely to multicore? On-chip communication between cores on the same silicon die is vastly faster and consumes far less power than broadcasting signals across motherboard buses. In a multicore SMP system, each core has its own private registers and L1 cache, while sharing lower-level caches and main memory. The operating system views each core as an independent logical CPU, scheduling threads across all cores simultaneously. That concludes Act I. I now pass to Vedhanth.</a:t>
            </a:r>
          </a:p>
          <a:p/>
          <a:p>
            <a:r>
              <a:t>2. KEY ARCHITECTURAL CONCEPT:</a:t>
            </a:r>
          </a:p>
          <a:p>
            <a:r>
              <a:t>Multicore chip architecture, private vs shared caches, and Symmetric Multiprocessing (SMP) peer scheduling.</a:t>
            </a:r>
          </a:p>
          <a:p/>
          <a:p>
            <a:r>
              <a:t>3. TRANSITION TO NEXT SLIDE:</a:t>
            </a:r>
          </a:p>
          <a:p>
            <a:r>
              <a:t>I will now pass the presentation to Vedhanth, who will explain how the operating system maintains hardware control through interrupts and dual-mode execution.</a:t>
            </a:r>
          </a:p>
          <a:p/>
          <a:p>
            <a:r>
              <a:t>4. PRESENTATION CUE:</a:t>
            </a:r>
          </a:p>
          <a:p>
            <a:r>
              <a:t>Hand over presentation clicker/focus to Vedhanth.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Thank you Ram Charan. Hello everyone, I am Vedhanth, and in Act II we explore how the Operating System controls and protects hardware. Modern operating systems are completely interrupt-driven. When an I/O device finishes an operation, its controller asserts an interrupt signal. The CPU detects this, saves the current Program Counter and registers, looks up the corresponding service routine in the Interrupt Vector Table, executes the handler, and resumes the user program.</a:t>
            </a:r>
          </a:p>
          <a:p/>
          <a:p>
            <a:r>
              <a:t>2. KEY ARCHITECTURAL CONCEPT:</a:t>
            </a:r>
          </a:p>
          <a:p>
            <a:r>
              <a:t>Interrupt mechanism as the core foundation of event-driven OS control and the role of the Interrupt Vector Table.</a:t>
            </a:r>
          </a:p>
          <a:p/>
          <a:p>
            <a:r>
              <a:t>3. TRANSITION TO NEXT SLIDE:</a:t>
            </a:r>
          </a:p>
          <a:p>
            <a:r>
              <a:t>Now let's distinguish between hardware interrupts, software exceptions, and system calls.</a:t>
            </a:r>
          </a:p>
          <a:p/>
          <a:p>
            <a:r>
              <a:t>4. PRESENTATION CUE:</a:t>
            </a:r>
          </a:p>
          <a:p>
            <a:r>
              <a:t>Walk the audience step-by-step through the 4-stage circular pipeline on the left.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It is critical to distinguish between Hardware Interrupts, Traps, and System Calls. Hardware interrupts are asynchronous signals from physical devices. A Trap or exception is synchronous, triggered directly by an instruction—like a divide-by-zero error or a software trap. A System Call is the programmatic interface user applications use to request services reserved for the OS kernel, executing a trap that safely crosses the user-kernel boundary.</a:t>
            </a:r>
          </a:p>
          <a:p/>
          <a:p>
            <a:r>
              <a:t>2. KEY ARCHITECTURAL CONCEPT:</a:t>
            </a:r>
          </a:p>
          <a:p>
            <a:r>
              <a:t>Distinction between asynchronous hardware interrupts and synchronous software traps/syscalls, plus the system call execution sequence.</a:t>
            </a:r>
          </a:p>
          <a:p/>
          <a:p>
            <a:r>
              <a:t>3. TRANSITION TO NEXT SLIDE:</a:t>
            </a:r>
          </a:p>
          <a:p>
            <a:r>
              <a:t>To ensure user programs cannot bypass this boundary, the hardware enforces Dual-Mode Operation.</a:t>
            </a:r>
          </a:p>
          <a:p/>
          <a:p>
            <a:r>
              <a:t>4. PRESENTATION CUE:</a:t>
            </a:r>
          </a:p>
          <a:p>
            <a:r>
              <a:t>Trace the 5-step circular flow across the bottom.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Dual-mode operation is one of the most fundamental concepts in computer science. The CPU hardware contains a Mode Bit: when Mode Bit equals 1, the CPU is in User Mode; when Mode Bit equals 0, it is in Kernel Mode. Why is this necessary? If user applications could directly alter hardware registers or halt the processor, one buggy program could crash the entire computer. By enforcing dual modes in hardware, privileged instructions can only execute when the mode bit is zero.</a:t>
            </a:r>
          </a:p>
          <a:p/>
          <a:p>
            <a:r>
              <a:t>2. KEY ARCHITECTURAL CONCEPT:</a:t>
            </a:r>
          </a:p>
          <a:p>
            <a:r>
              <a:t>Dual-mode operation, the hardware Mode Bit (0=Kernel, 1=User), privileged instructions, and fault isolation.</a:t>
            </a:r>
          </a:p>
          <a:p/>
          <a:p>
            <a:r>
              <a:t>3. TRANSITION TO NEXT SLIDE:</a:t>
            </a:r>
          </a:p>
          <a:p>
            <a:r>
              <a:t>Let's look at exactly what constitutes a privileged instruction and what happens when an illegal operation occurs.</a:t>
            </a:r>
          </a:p>
          <a:p/>
          <a:p>
            <a:r>
              <a:t>4. PRESENTATION CUE:</a:t>
            </a:r>
          </a:p>
          <a:p>
            <a:r>
              <a:t>Point to the contrast between User Mode (Mode Bit=1) and Kernel Mode (Mode Bit=0).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What prevents a user program from getting stuck in an infinite loop and refusing to yield control? The hardware timer. Before handing the CPU to a user process, the OS configures a timer. As the CPU runs, the timer decrements. When it reaches zero, a hardware interrupt fires, forcing control back to the OS scheduler. This guarantees preemption and makes multitasking possible. That concludes Act II. I now pass to Lochan.</a:t>
            </a:r>
          </a:p>
          <a:p/>
          <a:p>
            <a:r>
              <a:t>2. KEY ARCHITECTURAL CONCEPT:</a:t>
            </a:r>
          </a:p>
          <a:p>
            <a:r>
              <a:t>Privileged instruction protection, hardware trap generation, and guaranteed preemption via the hardware interval timer.</a:t>
            </a:r>
          </a:p>
          <a:p/>
          <a:p>
            <a:r>
              <a:t>3. TRANSITION TO NEXT SLIDE:</a:t>
            </a:r>
          </a:p>
          <a:p>
            <a:r>
              <a:t>I will now pass the presentation to Lochan, who will cover the Memory Hierarchy, I/O systems, Clustered systems, and our final synthesis.</a:t>
            </a:r>
          </a:p>
          <a:p/>
          <a:p>
            <a:r>
              <a:t>4. PRESENTATION CUE:</a:t>
            </a:r>
          </a:p>
          <a:p>
            <a:r>
              <a:t>Hand over presentation clicker/focus to Lochan.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Thank you Vedhanth. Hello everyone, I am Lochan, and in Act III we will explore storage hierarchies, I/O systems, and clustered environments. Memory is organized in a strict hierarchy governed by speed, cost, and volatility. At the top, CPU registers and caches offer near-instant access but are small, expensive, and volatile. Main memory is the only large storage the CPU can directly address. Below that, nonvolatile SSDs and hard disks preserve data permanently. The OS must stage data across these tiers efficiently.</a:t>
            </a:r>
          </a:p>
          <a:p/>
          <a:p>
            <a:r>
              <a:t>2. KEY ARCHITECTURAL CONCEPT:</a:t>
            </a:r>
          </a:p>
          <a:p>
            <a:r>
              <a:t>Storage hierarchy trade-offs (speed, cost per bit, volatility) and the caching principle.</a:t>
            </a:r>
          </a:p>
          <a:p/>
          <a:p>
            <a:r>
              <a:t>3. TRANSITION TO NEXT SLIDE:</a:t>
            </a:r>
          </a:p>
          <a:p>
            <a:r>
              <a:t>Now let's examine how the operating system communicates with I/O devices.</a:t>
            </a:r>
          </a:p>
          <a:p/>
          <a:p>
            <a:r>
              <a:t>4. PRESENTATION CUE:</a:t>
            </a:r>
          </a:p>
          <a:p>
            <a:r>
              <a:t>Trace the storage pyramid from top to bottom on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How does the operating system coordinate with I/O devices? Each physical device is managed by a hardware Device Controller with its own local buffer storage. In the OS kernel, a corresponding Device Driver speaks the controller's language. For high-speed block devices like SSDs and network cards, transferring data byte-by-byte through the CPU would cause massive overhead. Direct Memory Access (DMA) transfers entire blocks directly between the controller buffer and RAM, generating only one interrupt per block.</a:t>
            </a:r>
          </a:p>
          <a:p/>
          <a:p>
            <a:r>
              <a:t>2. KEY ARCHITECTURAL CONCEPT:</a:t>
            </a:r>
          </a:p>
          <a:p>
            <a:r>
              <a:t>Device Controller, Device Driver, local buffer storage, interrupt-driven I/O, and Direct Memory Access (DMA).</a:t>
            </a:r>
          </a:p>
          <a:p/>
          <a:p>
            <a:r>
              <a:t>3. TRANSITION TO NEXT SLIDE:</a:t>
            </a:r>
          </a:p>
          <a:p>
            <a:r>
              <a:t>Let's revisit multiprocessor systems and compare Symmetric Multiprocessing with NUMA in depth.</a:t>
            </a:r>
          </a:p>
          <a:p/>
          <a:p>
            <a:r>
              <a:t>4. PRESENTATION CUE:</a:t>
            </a:r>
          </a:p>
          <a:p>
            <a:r>
              <a:t>Explain how DMA frees the CPU from byte-by-byte transfer duties.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Comparing SMP and NUMA side-by-side reveals a fundamental engineering trade-off. In pure Symmetric Multiprocessing, all CPUs share a single memory bus. While simple, bus contention caps scalability as processor counts increase. In NUMA, memory is partitioned across processor nodes. While this solves the bus bottleneck, it introduces variable latency: local access is fast, while remote access across the interconnect is slower. The operating system must be NUMA-aware to schedule threads on the same node where their memory lives.</a:t>
            </a:r>
          </a:p>
          <a:p/>
          <a:p>
            <a:r>
              <a:t>2. KEY ARCHITECTURAL CONCEPT:</a:t>
            </a:r>
          </a:p>
          <a:p>
            <a:r>
              <a:t>SMP vs NUMA comparison, uniform vs non-uniform memory access, and OS locality-aware scheduling.</a:t>
            </a:r>
          </a:p>
          <a:p/>
          <a:p>
            <a:r>
              <a:t>3. TRANSITION TO NEXT SLIDE:</a:t>
            </a:r>
          </a:p>
          <a:p>
            <a:r>
              <a:t>Beyond single machines, what happens when we connect independent computer systems together? This brings us to Clustered Systems.</a:t>
            </a:r>
          </a:p>
          <a:p/>
          <a:p>
            <a:r>
              <a:t>4. PRESENTATION CUE:</a:t>
            </a:r>
          </a:p>
          <a:p>
            <a:r>
              <a:t>Guide the audience through the comparison table columns.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While multiprocessor systems share a single chassis, Clustered Systems connect two or more independent computers together across a network, typically sharing a Storage Area Network (SAN). We distinguish asymmetric clustering—where one node acts as a hot-standby—and symmetric clustering—where all nodes run applications concurrently while monitoring each other for high availability.</a:t>
            </a:r>
          </a:p>
          <a:p/>
          <a:p>
            <a:r>
              <a:t>2. KEY ARCHITECTURAL CONCEPT:</a:t>
            </a:r>
          </a:p>
          <a:p>
            <a:r>
              <a:t>Clustered systems (loosely coupled nodes, shared SAN, asymmetric vs symmetric) and high availability.</a:t>
            </a:r>
          </a:p>
          <a:p/>
          <a:p>
            <a:r>
              <a:t>3. TRANSITION TO NEXT SLIDE:</a:t>
            </a:r>
          </a:p>
          <a:p>
            <a:r>
              <a:t>Now let's examine diverse computing environments from mobile to cloud.</a:t>
            </a:r>
          </a:p>
          <a:p/>
          <a:p>
            <a:r>
              <a:t>4. PRESENTATION CUE:</a:t>
            </a:r>
          </a:p>
          <a:p>
            <a:r>
              <a:t>Contrast clustered scale-out architecture with single-system multi-core scale-up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Computer architecture principles apply across a wide spectrum of environments: traditional desktop PCs, power-sensitive mobile smartphones, networked distributed systems, cloud computing platforms, and embedded real-time systems. In every case, the operating system controls hardware execution and resource allocation.</a:t>
            </a:r>
          </a:p>
          <a:p/>
          <a:p>
            <a:r>
              <a:t>2. KEY ARCHITECTURAL CONCEPT:</a:t>
            </a:r>
          </a:p>
          <a:p>
            <a:r>
              <a:t>Overview of computing environment categories (Traditional, Mobile, Distributed, Cloud, Real-Time).</a:t>
            </a:r>
          </a:p>
          <a:p/>
          <a:p>
            <a:r>
              <a:t>3. TRANSITION TO NEXT SLIDE:</a:t>
            </a:r>
          </a:p>
          <a:p>
            <a:r>
              <a:t>Now let's bring our entire presentation together into our final synthesis and key takeaways.</a:t>
            </a:r>
          </a:p>
          <a:p/>
          <a:p>
            <a:r>
              <a:t>4. PRESENTATION CUE:</a:t>
            </a:r>
          </a:p>
          <a:p>
            <a:r>
              <a:t>Summarize the spectrum from embedded IoT to hyperscale cloud.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To conclude our presentation: Users execute applications; applications request operating system services; the OS manages memory, processes, and I/O; and underlying hardware executes instructions under dual-mode protection. The five core takeaways are: system organization requires concurrency coordination, interrupts enable efficient communication, dual-mode operation protects the kernel, multicore delivers scalable parallelism, and storage hierarchies balance speed and capacity. On behalf of Ram Charan, Vedhanth, and myself, thank you for your attention. We are now open for questions.</a:t>
            </a:r>
          </a:p>
          <a:p/>
          <a:p>
            <a:r>
              <a:t>2. KEY ARCHITECTURAL CONCEPT:</a:t>
            </a:r>
          </a:p>
          <a:p>
            <a:r>
              <a:t>Complete architectural synthesis: hardware resources, OS dual role, interrupt-driven operation, and hardware protection.</a:t>
            </a:r>
          </a:p>
          <a:p/>
          <a:p>
            <a:r>
              <a:t>3. TRANSITION TO NEXT SLIDE:</a:t>
            </a:r>
          </a:p>
          <a:p>
            <a:r>
              <a:t>End of presentation — open floor for Q&amp;A.</a:t>
            </a:r>
          </a:p>
          <a:p/>
          <a:p>
            <a:r>
              <a:t>4. PRESENTATION CUE:</a:t>
            </a:r>
          </a:p>
          <a:p>
            <a:r>
              <a:t>All three presenters step forward together, smile, and invite questions from the professor and classmates.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6400800" cy="2011680"/>
          </a:xfrm>
          <a:prstGeom prst="rect">
            <a:avLst/>
          </a:prstGeom>
          <a:noFill/>
        </p:spPr>
        <p:txBody>
          <a:bodyPr wrap="square">
            <a:spAutoFit/>
          </a:bodyPr>
          <a:lstStyle/>
          <a:p>
            <a:pPr>
              <a:defRPr sz="3200" b="1">
                <a:solidFill>
                  <a:srgbClr val="FFFFFF"/>
                </a:solidFill>
                <a:latin typeface="Segoe UI"/>
              </a:defRPr>
            </a:pPr>
            <a:r>
              <a:t>Computer System Architecture</a:t>
            </a:r>
          </a:p>
          <a:p>
            <a:pPr>
              <a:spcBef>
                <a:spcPts val="600"/>
              </a:spcBef>
              <a:defRPr sz="1400" b="1">
                <a:solidFill>
                  <a:srgbClr val="38BDF8"/>
                </a:solidFill>
                <a:latin typeface="Segoe UI"/>
              </a:defRPr>
            </a:pPr>
            <a:r>
              <a:t>Understanding the Hardware Foundation of Operating Systems</a:t>
            </a:r>
          </a:p>
          <a:p>
            <a:pPr>
              <a:spcBef>
                <a:spcPts val="400"/>
              </a:spcBef>
              <a:defRPr sz="1100">
                <a:solidFill>
                  <a:srgbClr val="A0AFC8"/>
                </a:solidFill>
                <a:latin typeface="Segoe UI"/>
              </a:defRPr>
            </a:pPr>
            <a:r>
              <a:t>Operating Systems — System Architecture &amp; Execution Foundations</a:t>
            </a:r>
          </a:p>
        </p:txBody>
      </p:sp>
      <p:sp>
        <p:nvSpPr>
          <p:cNvPr id="4" name="Oval 3"/>
          <p:cNvSpPr/>
          <p:nvPr/>
        </p:nvSpPr>
        <p:spPr>
          <a:xfrm>
            <a:off x="731520" y="3017520"/>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5" name="TextBox 4"/>
          <p:cNvSpPr txBox="1"/>
          <p:nvPr/>
        </p:nvSpPr>
        <p:spPr>
          <a:xfrm>
            <a:off x="1508760" y="3063239"/>
            <a:ext cx="5029200" cy="548640"/>
          </a:xfrm>
          <a:prstGeom prst="rect">
            <a:avLst/>
          </a:prstGeom>
          <a:noFill/>
        </p:spPr>
        <p:txBody>
          <a:bodyPr wrap="none">
            <a:spAutoFit/>
          </a:bodyPr>
          <a:lstStyle/>
          <a:p>
            <a:pPr>
              <a:defRPr sz="1400" b="1">
                <a:solidFill>
                  <a:srgbClr val="FFFFFF"/>
                </a:solidFill>
                <a:latin typeface="Segoe UI"/>
              </a:defRPr>
            </a:pPr>
            <a:r>
              <a:t>V. Ram Charan</a:t>
            </a:r>
          </a:p>
          <a:p>
            <a:pPr>
              <a:defRPr sz="1000">
                <a:solidFill>
                  <a:srgbClr val="38BDF8"/>
                </a:solidFill>
                <a:latin typeface="Segoe UI"/>
              </a:defRPr>
            </a:pPr>
            <a:r>
              <a:t>Speaker 1 (Act I Lead)</a:t>
            </a:r>
          </a:p>
        </p:txBody>
      </p:sp>
      <p:sp>
        <p:nvSpPr>
          <p:cNvPr id="6" name="Oval 5"/>
          <p:cNvSpPr/>
          <p:nvPr/>
        </p:nvSpPr>
        <p:spPr>
          <a:xfrm>
            <a:off x="731520" y="3886200"/>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7" name="TextBox 6"/>
          <p:cNvSpPr txBox="1"/>
          <p:nvPr/>
        </p:nvSpPr>
        <p:spPr>
          <a:xfrm>
            <a:off x="1508760" y="3931920"/>
            <a:ext cx="5029200" cy="548640"/>
          </a:xfrm>
          <a:prstGeom prst="rect">
            <a:avLst/>
          </a:prstGeom>
          <a:noFill/>
        </p:spPr>
        <p:txBody>
          <a:bodyPr wrap="none">
            <a:spAutoFit/>
          </a:bodyPr>
          <a:lstStyle/>
          <a:p>
            <a:pPr>
              <a:defRPr sz="1400" b="1">
                <a:solidFill>
                  <a:srgbClr val="FFFFFF"/>
                </a:solidFill>
                <a:latin typeface="Segoe UI"/>
              </a:defRPr>
            </a:pPr>
            <a:r>
              <a:t>Vedhanth</a:t>
            </a:r>
          </a:p>
          <a:p>
            <a:pPr>
              <a:defRPr sz="1000">
                <a:solidFill>
                  <a:srgbClr val="818CF8"/>
                </a:solidFill>
                <a:latin typeface="Segoe UI"/>
              </a:defRPr>
            </a:pPr>
            <a:r>
              <a:t>Speaker 2 (Act II Lead)</a:t>
            </a:r>
          </a:p>
        </p:txBody>
      </p:sp>
      <p:sp>
        <p:nvSpPr>
          <p:cNvPr id="8" name="Oval 7"/>
          <p:cNvSpPr/>
          <p:nvPr/>
        </p:nvSpPr>
        <p:spPr>
          <a:xfrm>
            <a:off x="731520" y="4754879"/>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9" name="TextBox 8"/>
          <p:cNvSpPr txBox="1"/>
          <p:nvPr/>
        </p:nvSpPr>
        <p:spPr>
          <a:xfrm>
            <a:off x="1508760" y="4800599"/>
            <a:ext cx="5029200" cy="548640"/>
          </a:xfrm>
          <a:prstGeom prst="rect">
            <a:avLst/>
          </a:prstGeom>
          <a:noFill/>
        </p:spPr>
        <p:txBody>
          <a:bodyPr wrap="none">
            <a:spAutoFit/>
          </a:bodyPr>
          <a:lstStyle/>
          <a:p>
            <a:pPr>
              <a:defRPr sz="1400" b="1">
                <a:solidFill>
                  <a:srgbClr val="FFFFFF"/>
                </a:solidFill>
                <a:latin typeface="Segoe UI"/>
              </a:defRPr>
            </a:pPr>
            <a:r>
              <a:t>Lochan</a:t>
            </a:r>
          </a:p>
          <a:p>
            <a:pPr>
              <a:defRPr sz="1000">
                <a:solidFill>
                  <a:srgbClr val="34D399"/>
                </a:solidFill>
                <a:latin typeface="Segoe UI"/>
              </a:defRPr>
            </a:pPr>
            <a:r>
              <a:t>Speaker 3 (Act III Lead)</a:t>
            </a:r>
          </a:p>
        </p:txBody>
      </p:sp>
      <p:sp>
        <p:nvSpPr>
          <p:cNvPr id="10" name="Rectangle 9"/>
          <p:cNvSpPr/>
          <p:nvPr/>
        </p:nvSpPr>
        <p:spPr>
          <a:xfrm>
            <a:off x="731520" y="5760720"/>
            <a:ext cx="54864" cy="5943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60720"/>
            <a:ext cx="6217920" cy="594360"/>
          </a:xfrm>
          <a:prstGeom prst="rect">
            <a:avLst/>
          </a:prstGeom>
          <a:noFill/>
        </p:spPr>
        <p:txBody>
          <a:bodyPr wrap="square">
            <a:spAutoFit/>
          </a:bodyPr>
          <a:lstStyle/>
          <a:p>
            <a:pPr>
              <a:defRPr sz="1100" i="1">
                <a:solidFill>
                  <a:srgbClr val="A0AFC8"/>
                </a:solidFill>
                <a:latin typeface="Segoe UI"/>
              </a:defRPr>
            </a:pPr>
            <a:r>
              <a:t>"The operating system is the software most intimately involved with computer hardware."</a:t>
            </a:r>
          </a:p>
        </p:txBody>
      </p:sp>
      <p:pic>
        <p:nvPicPr>
          <p:cNvPr id="12" name="Picture 11" descr="iso_motherboard.png"/>
          <p:cNvPicPr>
            <a:picLocks noChangeAspect="1"/>
          </p:cNvPicPr>
          <p:nvPr/>
        </p:nvPicPr>
        <p:blipFill>
          <a:blip r:embed="rId2"/>
          <a:stretch>
            <a:fillRect/>
          </a:stretch>
        </p:blipFill>
        <p:spPr>
          <a:xfrm>
            <a:off x="6858000" y="731520"/>
            <a:ext cx="4754880" cy="4754880"/>
          </a:xfrm>
          <a:prstGeom prst="rect">
            <a:avLst/>
          </a:prstGeom>
        </p:spPr>
      </p:pic>
    </p:spTree>
  </p:cSld>
  <p:clrMapOvr>
    <a:masterClrMapping/>
  </p:clrMapOvr>
  <p:transition xmlns:p14="http://schemas.microsoft.com/office/powerpoint/2010/main" spd="med" dur="1500">
    <p14:morph option="byObject"/>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FOUNDATIONS</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02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What is a Computer System?</a:t>
            </a:r>
          </a:p>
        </p:txBody>
      </p:sp>
      <p:pic>
        <p:nvPicPr>
          <p:cNvPr id="7" name="Picture 6" descr="iso_stacked_layers.png"/>
          <p:cNvPicPr>
            <a:picLocks noChangeAspect="1"/>
          </p:cNvPicPr>
          <p:nvPr/>
        </p:nvPicPr>
        <p:blipFill>
          <a:blip r:embed="rId2"/>
          <a:stretch>
            <a:fillRect/>
          </a:stretch>
        </p:blipFill>
        <p:spPr>
          <a:xfrm>
            <a:off x="731520" y="1463040"/>
            <a:ext cx="4114800" cy="4114800"/>
          </a:xfrm>
          <a:prstGeom prst="rect">
            <a:avLst/>
          </a:prstGeom>
        </p:spPr>
      </p:pic>
      <p:sp>
        <p:nvSpPr>
          <p:cNvPr id="8" name="TextBox 7"/>
          <p:cNvSpPr txBox="1"/>
          <p:nvPr/>
        </p:nvSpPr>
        <p:spPr>
          <a:xfrm>
            <a:off x="5120640" y="1463040"/>
            <a:ext cx="6309360" cy="2743200"/>
          </a:xfrm>
          <a:prstGeom prst="rect">
            <a:avLst/>
          </a:prstGeom>
          <a:noFill/>
        </p:spPr>
        <p:txBody>
          <a:bodyPr wrap="square">
            <a:spAutoFit/>
          </a:bodyPr>
          <a:lstStyle/>
          <a:p>
            <a:pPr>
              <a:defRPr sz="1600" b="1">
                <a:solidFill>
                  <a:srgbClr val="FFFFFF"/>
                </a:solidFill>
                <a:latin typeface="Segoe UI"/>
              </a:defRPr>
            </a:pPr>
            <a:r>
              <a:t>Four Major Components</a:t>
            </a:r>
          </a:p>
          <a:p>
            <a:pPr>
              <a:spcBef>
                <a:spcPts val="600"/>
              </a:spcBef>
              <a:defRPr sz="1300" b="1">
                <a:solidFill>
                  <a:srgbClr val="38BDF8"/>
                </a:solidFill>
                <a:latin typeface="Segoe UI"/>
              </a:defRPr>
            </a:pPr>
            <a:r>
              <a:t>→  User</a:t>
            </a:r>
          </a:p>
          <a:p>
            <a:pPr>
              <a:defRPr sz="1050">
                <a:solidFill>
                  <a:srgbClr val="A0AFC8"/>
                </a:solidFill>
                <a:latin typeface="Segoe UI"/>
              </a:defRPr>
            </a:pPr>
            <a:r>
              <a:t>    Interacts with application programs</a:t>
            </a:r>
          </a:p>
          <a:p>
            <a:pPr>
              <a:spcBef>
                <a:spcPts val="600"/>
              </a:spcBef>
              <a:defRPr sz="1300" b="1">
                <a:solidFill>
                  <a:srgbClr val="38BDF8"/>
                </a:solidFill>
                <a:latin typeface="Segoe UI"/>
              </a:defRPr>
            </a:pPr>
            <a:r>
              <a:t>→  Application Programs</a:t>
            </a:r>
          </a:p>
          <a:p>
            <a:pPr>
              <a:defRPr sz="1050">
                <a:solidFill>
                  <a:srgbClr val="A0AFC8"/>
                </a:solidFill>
                <a:latin typeface="Segoe UI"/>
              </a:defRPr>
            </a:pPr>
            <a:r>
              <a:t>    Solve user computing problems (compilers, databases, browsers)</a:t>
            </a:r>
          </a:p>
          <a:p>
            <a:pPr>
              <a:spcBef>
                <a:spcPts val="600"/>
              </a:spcBef>
              <a:defRPr sz="1300" b="1">
                <a:solidFill>
                  <a:srgbClr val="38BDF8"/>
                </a:solidFill>
                <a:latin typeface="Segoe UI"/>
              </a:defRPr>
            </a:pPr>
            <a:r>
              <a:t>→  Operating System</a:t>
            </a:r>
          </a:p>
          <a:p>
            <a:pPr>
              <a:defRPr sz="1050">
                <a:solidFill>
                  <a:srgbClr val="A0AFC8"/>
                </a:solidFill>
                <a:latin typeface="Segoe UI"/>
              </a:defRPr>
            </a:pPr>
            <a:r>
              <a:t>    Controls and coordinates hardware use among competing applications</a:t>
            </a:r>
          </a:p>
          <a:p>
            <a:pPr>
              <a:spcBef>
                <a:spcPts val="600"/>
              </a:spcBef>
              <a:defRPr sz="1300" b="1">
                <a:solidFill>
                  <a:srgbClr val="38BDF8"/>
                </a:solidFill>
                <a:latin typeface="Segoe UI"/>
              </a:defRPr>
            </a:pPr>
            <a:r>
              <a:t>→  Computer Hardware</a:t>
            </a:r>
          </a:p>
          <a:p>
            <a:pPr>
              <a:defRPr sz="1050">
                <a:solidFill>
                  <a:srgbClr val="A0AFC8"/>
                </a:solidFill>
                <a:latin typeface="Segoe UI"/>
              </a:defRPr>
            </a:pPr>
            <a:r>
              <a:t>    CPU, Main Memory, and I/O Devices providing raw computing resources</a:t>
            </a:r>
          </a:p>
        </p:txBody>
      </p:sp>
      <p:sp>
        <p:nvSpPr>
          <p:cNvPr id="9" name="Rounded Rectangle 8"/>
          <p:cNvSpPr/>
          <p:nvPr/>
        </p:nvSpPr>
        <p:spPr>
          <a:xfrm>
            <a:off x="731520" y="4389120"/>
            <a:ext cx="3383280" cy="16459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389120"/>
            <a:ext cx="73152" cy="1645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86200" y="446227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4526280"/>
            <a:ext cx="3017520" cy="320040"/>
          </a:xfrm>
          <a:prstGeom prst="rect">
            <a:avLst/>
          </a:prstGeom>
          <a:noFill/>
        </p:spPr>
        <p:txBody>
          <a:bodyPr wrap="square" lIns="0" tIns="0" rIns="0" bIns="0">
            <a:spAutoFit/>
          </a:bodyPr>
          <a:lstStyle/>
          <a:p>
            <a:pPr>
              <a:defRPr sz="1300" b="1">
                <a:solidFill>
                  <a:srgbClr val="FFFFFF"/>
                </a:solidFill>
                <a:latin typeface="Segoe UI"/>
              </a:defRPr>
            </a:pPr>
            <a:r>
              <a:t>Resource Allocator</a:t>
            </a:r>
          </a:p>
        </p:txBody>
      </p:sp>
      <p:sp>
        <p:nvSpPr>
          <p:cNvPr id="13" name="TextBox 12"/>
          <p:cNvSpPr txBox="1"/>
          <p:nvPr/>
        </p:nvSpPr>
        <p:spPr>
          <a:xfrm>
            <a:off x="914400" y="4846320"/>
            <a:ext cx="3017520" cy="1005840"/>
          </a:xfrm>
          <a:prstGeom prst="rect">
            <a:avLst/>
          </a:prstGeom>
          <a:noFill/>
        </p:spPr>
        <p:txBody>
          <a:bodyPr wrap="square">
            <a:spAutoFit/>
          </a:bodyPr>
          <a:lstStyle/>
          <a:p>
            <a:pPr>
              <a:defRPr sz="1050">
                <a:solidFill>
                  <a:srgbClr val="A0AFC8"/>
                </a:solidFill>
                <a:latin typeface="Segoe UI"/>
              </a:defRPr>
            </a:pPr>
            <a:r>
              <a:t>Manages CPU time, memory space, storage, and I/O devices fairly and efficiently.</a:t>
            </a:r>
          </a:p>
        </p:txBody>
      </p:sp>
      <p:sp>
        <p:nvSpPr>
          <p:cNvPr id="14" name="Rounded Rectangle 13"/>
          <p:cNvSpPr/>
          <p:nvPr/>
        </p:nvSpPr>
        <p:spPr>
          <a:xfrm>
            <a:off x="4389120" y="4389120"/>
            <a:ext cx="3383280" cy="16459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89120" y="4389120"/>
            <a:ext cx="73152" cy="164592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43800" y="446227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08576" y="4526280"/>
            <a:ext cx="3017520" cy="320040"/>
          </a:xfrm>
          <a:prstGeom prst="rect">
            <a:avLst/>
          </a:prstGeom>
          <a:noFill/>
        </p:spPr>
        <p:txBody>
          <a:bodyPr wrap="square" lIns="0" tIns="0" rIns="0" bIns="0">
            <a:spAutoFit/>
          </a:bodyPr>
          <a:lstStyle/>
          <a:p>
            <a:pPr>
              <a:defRPr sz="1300" b="1">
                <a:solidFill>
                  <a:srgbClr val="FFFFFF"/>
                </a:solidFill>
                <a:latin typeface="Segoe UI"/>
              </a:defRPr>
            </a:pPr>
            <a:r>
              <a:t>Control Program</a:t>
            </a:r>
          </a:p>
        </p:txBody>
      </p:sp>
      <p:sp>
        <p:nvSpPr>
          <p:cNvPr id="18" name="TextBox 17"/>
          <p:cNvSpPr txBox="1"/>
          <p:nvPr/>
        </p:nvSpPr>
        <p:spPr>
          <a:xfrm>
            <a:off x="4572000" y="4846320"/>
            <a:ext cx="3017520" cy="1005840"/>
          </a:xfrm>
          <a:prstGeom prst="rect">
            <a:avLst/>
          </a:prstGeom>
          <a:noFill/>
        </p:spPr>
        <p:txBody>
          <a:bodyPr wrap="square">
            <a:spAutoFit/>
          </a:bodyPr>
          <a:lstStyle/>
          <a:p>
            <a:pPr>
              <a:defRPr sz="1050">
                <a:solidFill>
                  <a:srgbClr val="A0AFC8"/>
                </a:solidFill>
                <a:latin typeface="Segoe UI"/>
              </a:defRPr>
            </a:pPr>
            <a:r>
              <a:t>Prevents errors and improper use of the computer by monitoring execution.</a:t>
            </a:r>
          </a:p>
        </p:txBody>
      </p:sp>
      <p:sp>
        <p:nvSpPr>
          <p:cNvPr id="19" name="Rounded Rectangle 18"/>
          <p:cNvSpPr/>
          <p:nvPr/>
        </p:nvSpPr>
        <p:spPr>
          <a:xfrm>
            <a:off x="8046720" y="4389120"/>
            <a:ext cx="3383280" cy="16459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0" y="4389120"/>
            <a:ext cx="73152" cy="164592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201400" y="446227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6" y="4526280"/>
            <a:ext cx="3017520" cy="320040"/>
          </a:xfrm>
          <a:prstGeom prst="rect">
            <a:avLst/>
          </a:prstGeom>
          <a:noFill/>
        </p:spPr>
        <p:txBody>
          <a:bodyPr wrap="square" lIns="0" tIns="0" rIns="0" bIns="0">
            <a:spAutoFit/>
          </a:bodyPr>
          <a:lstStyle/>
          <a:p>
            <a:pPr>
              <a:defRPr sz="1300" b="1">
                <a:solidFill>
                  <a:srgbClr val="FFFFFF"/>
                </a:solidFill>
                <a:latin typeface="Segoe UI"/>
              </a:defRPr>
            </a:pPr>
            <a:r>
              <a:t>Hardware Manager</a:t>
            </a:r>
          </a:p>
        </p:txBody>
      </p:sp>
      <p:sp>
        <p:nvSpPr>
          <p:cNvPr id="23" name="TextBox 22"/>
          <p:cNvSpPr txBox="1"/>
          <p:nvPr/>
        </p:nvSpPr>
        <p:spPr>
          <a:xfrm>
            <a:off x="8229600" y="4846320"/>
            <a:ext cx="3017520" cy="1005840"/>
          </a:xfrm>
          <a:prstGeom prst="rect">
            <a:avLst/>
          </a:prstGeom>
          <a:noFill/>
        </p:spPr>
        <p:txBody>
          <a:bodyPr wrap="square">
            <a:spAutoFit/>
          </a:bodyPr>
          <a:lstStyle/>
          <a:p>
            <a:pPr>
              <a:defRPr sz="1050">
                <a:solidFill>
                  <a:srgbClr val="A0AFC8"/>
                </a:solidFill>
                <a:latin typeface="Segoe UI"/>
              </a:defRPr>
            </a:pPr>
            <a:r>
              <a:t>Coordinates hardware among all running applications to maximize throughput.</a:t>
            </a:r>
          </a:p>
        </p:txBody>
      </p:sp>
    </p:spTree>
  </p:cSld>
  <p:clrMapOvr>
    <a:masterClrMapping/>
  </p:clrMapOvr>
  <p:transition xmlns:p14="http://schemas.microsoft.com/office/powerpoint/2010/main" spd="med" dur="1500">
    <p14:morph option="byObjec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FOUNDATIONS</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03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Computer-System Organization</a:t>
            </a:r>
          </a:p>
        </p:txBody>
      </p:sp>
      <p:pic>
        <p:nvPicPr>
          <p:cNvPr id="7" name="Picture 6" descr="iso_system_bus.png"/>
          <p:cNvPicPr>
            <a:picLocks noChangeAspect="1"/>
          </p:cNvPicPr>
          <p:nvPr/>
        </p:nvPicPr>
        <p:blipFill>
          <a:blip r:embed="rId2"/>
          <a:stretch>
            <a:fillRect/>
          </a:stretch>
        </p:blipFill>
        <p:spPr>
          <a:xfrm>
            <a:off x="731520" y="1463040"/>
            <a:ext cx="4206240" cy="3958814"/>
          </a:xfrm>
          <a:prstGeom prst="rect">
            <a:avLst/>
          </a:prstGeom>
        </p:spPr>
      </p:pic>
      <p:sp>
        <p:nvSpPr>
          <p:cNvPr id="8" name="TextBox 7"/>
          <p:cNvSpPr txBox="1"/>
          <p:nvPr/>
        </p:nvSpPr>
        <p:spPr>
          <a:xfrm>
            <a:off x="5212080" y="1463040"/>
            <a:ext cx="6217920" cy="2011680"/>
          </a:xfrm>
          <a:prstGeom prst="rect">
            <a:avLst/>
          </a:prstGeom>
          <a:noFill/>
        </p:spPr>
        <p:txBody>
          <a:bodyPr wrap="square">
            <a:spAutoFit/>
          </a:bodyPr>
          <a:lstStyle/>
          <a:p>
            <a:pPr>
              <a:defRPr sz="1500" b="1">
                <a:solidFill>
                  <a:srgbClr val="FFFFFF"/>
                </a:solidFill>
                <a:latin typeface="Segoe UI"/>
              </a:defRPr>
            </a:pPr>
            <a:r>
              <a:t>Modern System Components</a:t>
            </a:r>
          </a:p>
          <a:p>
            <a:pPr>
              <a:spcBef>
                <a:spcPts val="300"/>
              </a:spcBef>
              <a:defRPr sz="1050">
                <a:solidFill>
                  <a:srgbClr val="A0AFC8"/>
                </a:solidFill>
                <a:latin typeface="Segoe UI"/>
              </a:defRPr>
            </a:pPr>
            <a:r>
              <a:t>• One or more CPUs and device controllers connected via a common bus</a:t>
            </a:r>
          </a:p>
          <a:p>
            <a:pPr>
              <a:spcBef>
                <a:spcPts val="300"/>
              </a:spcBef>
              <a:defRPr sz="1050">
                <a:solidFill>
                  <a:srgbClr val="A0AFC8"/>
                </a:solidFill>
                <a:latin typeface="Segoe UI"/>
              </a:defRPr>
            </a:pPr>
            <a:r>
              <a:t>• Device Controllers manage specific device types — disk, audio, graphics</a:t>
            </a:r>
          </a:p>
          <a:p>
            <a:pPr>
              <a:spcBef>
                <a:spcPts val="300"/>
              </a:spcBef>
              <a:defRPr sz="1050">
                <a:solidFill>
                  <a:srgbClr val="A0AFC8"/>
                </a:solidFill>
                <a:latin typeface="Segoe UI"/>
              </a:defRPr>
            </a:pPr>
            <a:r>
              <a:t>• Memory Controller synchronizes access to shared system memory</a:t>
            </a:r>
          </a:p>
          <a:p>
            <a:pPr>
              <a:spcBef>
                <a:spcPts val="300"/>
              </a:spcBef>
              <a:defRPr sz="1050">
                <a:solidFill>
                  <a:srgbClr val="A0AFC8"/>
                </a:solidFill>
                <a:latin typeface="Segoe UI"/>
              </a:defRPr>
            </a:pPr>
            <a:r>
              <a:t>• Parallel Execution: CPU and device controllers compete concurrently for memory cycles</a:t>
            </a:r>
          </a:p>
        </p:txBody>
      </p:sp>
      <p:sp>
        <p:nvSpPr>
          <p:cNvPr id="9" name="Rounded Rectangle 8"/>
          <p:cNvSpPr/>
          <p:nvPr/>
        </p:nvSpPr>
        <p:spPr>
          <a:xfrm>
            <a:off x="5212080" y="3840480"/>
            <a:ext cx="6217920" cy="777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2080" y="3840480"/>
            <a:ext cx="73152" cy="7772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201400" y="391363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31536" y="3977640"/>
            <a:ext cx="5852159" cy="320040"/>
          </a:xfrm>
          <a:prstGeom prst="rect">
            <a:avLst/>
          </a:prstGeom>
          <a:noFill/>
        </p:spPr>
        <p:txBody>
          <a:bodyPr wrap="square" lIns="0" tIns="0" rIns="0" bIns="0">
            <a:spAutoFit/>
          </a:bodyPr>
          <a:lstStyle/>
          <a:p>
            <a:pPr>
              <a:defRPr sz="1300" b="1">
                <a:solidFill>
                  <a:srgbClr val="FFFFFF"/>
                </a:solidFill>
                <a:latin typeface="Segoe UI"/>
              </a:defRPr>
            </a:pPr>
            <a:r>
              <a:t>Interrupts</a:t>
            </a:r>
          </a:p>
        </p:txBody>
      </p:sp>
      <p:sp>
        <p:nvSpPr>
          <p:cNvPr id="13" name="TextBox 12"/>
          <p:cNvSpPr txBox="1"/>
          <p:nvPr/>
        </p:nvSpPr>
        <p:spPr>
          <a:xfrm>
            <a:off x="5440680" y="4206240"/>
            <a:ext cx="5852160" cy="365760"/>
          </a:xfrm>
          <a:prstGeom prst="rect">
            <a:avLst/>
          </a:prstGeom>
          <a:noFill/>
        </p:spPr>
        <p:txBody>
          <a:bodyPr wrap="none">
            <a:spAutoFit/>
          </a:bodyPr>
          <a:lstStyle/>
          <a:p>
            <a:pPr>
              <a:defRPr sz="1000">
                <a:solidFill>
                  <a:srgbClr val="A0AFC8"/>
                </a:solidFill>
                <a:latin typeface="Segoe UI"/>
              </a:defRPr>
            </a:pPr>
            <a:r>
              <a:t>Hardware signals CPU when immediate attention is required</a:t>
            </a:r>
          </a:p>
        </p:txBody>
      </p:sp>
      <p:sp>
        <p:nvSpPr>
          <p:cNvPr id="14" name="Rounded Rectangle 13"/>
          <p:cNvSpPr/>
          <p:nvPr/>
        </p:nvSpPr>
        <p:spPr>
          <a:xfrm>
            <a:off x="5212080" y="4754880"/>
            <a:ext cx="6217920" cy="777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12080" y="4754880"/>
            <a:ext cx="73152" cy="7772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201400" y="482803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31536" y="4892040"/>
            <a:ext cx="5852159" cy="320040"/>
          </a:xfrm>
          <a:prstGeom prst="rect">
            <a:avLst/>
          </a:prstGeom>
          <a:noFill/>
        </p:spPr>
        <p:txBody>
          <a:bodyPr wrap="square" lIns="0" tIns="0" rIns="0" bIns="0">
            <a:spAutoFit/>
          </a:bodyPr>
          <a:lstStyle/>
          <a:p>
            <a:pPr>
              <a:defRPr sz="1300" b="1">
                <a:solidFill>
                  <a:srgbClr val="FFFFFF"/>
                </a:solidFill>
                <a:latin typeface="Segoe UI"/>
              </a:defRPr>
            </a:pPr>
            <a:r>
              <a:t>Storage Structure</a:t>
            </a:r>
          </a:p>
        </p:txBody>
      </p:sp>
      <p:sp>
        <p:nvSpPr>
          <p:cNvPr id="18" name="TextBox 17"/>
          <p:cNvSpPr txBox="1"/>
          <p:nvPr/>
        </p:nvSpPr>
        <p:spPr>
          <a:xfrm>
            <a:off x="5440680" y="5120640"/>
            <a:ext cx="5852160" cy="365760"/>
          </a:xfrm>
          <a:prstGeom prst="rect">
            <a:avLst/>
          </a:prstGeom>
          <a:noFill/>
        </p:spPr>
        <p:txBody>
          <a:bodyPr wrap="none">
            <a:spAutoFit/>
          </a:bodyPr>
          <a:lstStyle/>
          <a:p>
            <a:pPr>
              <a:defRPr sz="1000">
                <a:solidFill>
                  <a:srgbClr val="A0AFC8"/>
                </a:solidFill>
                <a:latin typeface="Segoe UI"/>
              </a:defRPr>
            </a:pPr>
            <a:r>
              <a:t>Hierarchy from ultra-fast registers down to secondary storage</a:t>
            </a:r>
          </a:p>
        </p:txBody>
      </p:sp>
      <p:sp>
        <p:nvSpPr>
          <p:cNvPr id="19" name="Rounded Rectangle 18"/>
          <p:cNvSpPr/>
          <p:nvPr/>
        </p:nvSpPr>
        <p:spPr>
          <a:xfrm>
            <a:off x="5212080" y="5669280"/>
            <a:ext cx="6217920" cy="777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12080" y="5669280"/>
            <a:ext cx="73152" cy="77724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201400" y="574243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31536" y="5806440"/>
            <a:ext cx="5852159" cy="320040"/>
          </a:xfrm>
          <a:prstGeom prst="rect">
            <a:avLst/>
          </a:prstGeom>
          <a:noFill/>
        </p:spPr>
        <p:txBody>
          <a:bodyPr wrap="square" lIns="0" tIns="0" rIns="0" bIns="0">
            <a:spAutoFit/>
          </a:bodyPr>
          <a:lstStyle/>
          <a:p>
            <a:pPr>
              <a:defRPr sz="1300" b="1">
                <a:solidFill>
                  <a:srgbClr val="FFFFFF"/>
                </a:solidFill>
                <a:latin typeface="Segoe UI"/>
              </a:defRPr>
            </a:pPr>
            <a:r>
              <a:t>I/O Structure</a:t>
            </a:r>
          </a:p>
        </p:txBody>
      </p:sp>
      <p:sp>
        <p:nvSpPr>
          <p:cNvPr id="23" name="TextBox 22"/>
          <p:cNvSpPr txBox="1"/>
          <p:nvPr/>
        </p:nvSpPr>
        <p:spPr>
          <a:xfrm>
            <a:off x="5440680" y="6035040"/>
            <a:ext cx="5852160" cy="365760"/>
          </a:xfrm>
          <a:prstGeom prst="rect">
            <a:avLst/>
          </a:prstGeom>
          <a:noFill/>
        </p:spPr>
        <p:txBody>
          <a:bodyPr wrap="none">
            <a:spAutoFit/>
          </a:bodyPr>
          <a:lstStyle/>
          <a:p>
            <a:pPr>
              <a:defRPr sz="1000">
                <a:solidFill>
                  <a:srgbClr val="A0AFC8"/>
                </a:solidFill>
                <a:latin typeface="Segoe UI"/>
              </a:defRPr>
            </a:pPr>
            <a:r>
              <a:t>Data movement between CPU, main memory, and peripheral controllers</a:t>
            </a:r>
          </a:p>
        </p:txBody>
      </p:sp>
    </p:spTree>
  </p:cSld>
  <p:clrMapOvr>
    <a:masterClrMapping/>
  </p:clrMapOvr>
  <p:transition xmlns:p14="http://schemas.microsoft.com/office/powerpoint/2010/main" spd="med" dur="1500">
    <p14:morph option="byObject"/>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FOUNDATIONS</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04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Single-Processor vs. Multiprocessor Systems</a:t>
            </a:r>
          </a:p>
        </p:txBody>
      </p:sp>
      <p:sp>
        <p:nvSpPr>
          <p:cNvPr id="7" name="TextBox 6"/>
          <p:cNvSpPr txBox="1"/>
          <p:nvPr/>
        </p:nvSpPr>
        <p:spPr>
          <a:xfrm>
            <a:off x="731520" y="1463040"/>
            <a:ext cx="5303520" cy="4114800"/>
          </a:xfrm>
          <a:prstGeom prst="rect">
            <a:avLst/>
          </a:prstGeom>
          <a:noFill/>
        </p:spPr>
        <p:txBody>
          <a:bodyPr wrap="square">
            <a:spAutoFit/>
          </a:bodyPr>
          <a:lstStyle/>
          <a:p>
            <a:pPr>
              <a:defRPr sz="1600" b="1">
                <a:solidFill>
                  <a:srgbClr val="FFFFFF"/>
                </a:solidFill>
                <a:latin typeface="Segoe UI"/>
              </a:defRPr>
            </a:pPr>
            <a:r>
              <a:t>Single-Processor Systems</a:t>
            </a:r>
          </a:p>
          <a:p>
            <a:pPr>
              <a:spcBef>
                <a:spcPts val="300"/>
              </a:spcBef>
              <a:defRPr sz="1100">
                <a:solidFill>
                  <a:srgbClr val="A0AFC8"/>
                </a:solidFill>
                <a:latin typeface="Segoe UI"/>
              </a:defRPr>
            </a:pPr>
            <a:r>
              <a:t>• One CPU with a single general-purpose processing core</a:t>
            </a:r>
          </a:p>
          <a:p>
            <a:pPr>
              <a:spcBef>
                <a:spcPts val="300"/>
              </a:spcBef>
              <a:defRPr sz="1100">
                <a:solidFill>
                  <a:srgbClr val="A0AFC8"/>
                </a:solidFill>
                <a:latin typeface="Segoe UI"/>
              </a:defRPr>
            </a:pPr>
            <a:r>
              <a:t>• May include special-purpose processors — disk, keyboard, graphics controllers</a:t>
            </a:r>
          </a:p>
          <a:p>
            <a:pPr>
              <a:spcBef>
                <a:spcPts val="300"/>
              </a:spcBef>
              <a:defRPr sz="1100">
                <a:solidFill>
                  <a:srgbClr val="A0AFC8"/>
                </a:solidFill>
                <a:latin typeface="Segoe UI"/>
              </a:defRPr>
            </a:pPr>
            <a:r>
              <a:t>• Special-purpose processors do not run user processes</a:t>
            </a:r>
          </a:p>
          <a:p>
            <a:pPr>
              <a:spcBef>
                <a:spcPts val="1600"/>
              </a:spcBef>
              <a:defRPr sz="1600" b="1">
                <a:solidFill>
                  <a:srgbClr val="FFFFFF"/>
                </a:solidFill>
                <a:latin typeface="Segoe UI"/>
              </a:defRPr>
            </a:pPr>
            <a:r>
              <a:t>Multiprocessor Systems</a:t>
            </a:r>
          </a:p>
          <a:p>
            <a:pPr>
              <a:spcBef>
                <a:spcPts val="300"/>
              </a:spcBef>
              <a:defRPr sz="1100">
                <a:solidFill>
                  <a:srgbClr val="A0AFC8"/>
                </a:solidFill>
                <a:latin typeface="Segoe UI"/>
              </a:defRPr>
            </a:pPr>
            <a:r>
              <a:t>• Two or more processors, each with a single-core CPU</a:t>
            </a:r>
          </a:p>
          <a:p>
            <a:pPr>
              <a:spcBef>
                <a:spcPts val="300"/>
              </a:spcBef>
              <a:defRPr sz="1100">
                <a:solidFill>
                  <a:srgbClr val="A0AFC8"/>
                </a:solidFill>
                <a:latin typeface="Segoe UI"/>
              </a:defRPr>
            </a:pPr>
            <a:r>
              <a:t>• Share bus, clock, memory, and peripheral devices</a:t>
            </a:r>
          </a:p>
          <a:p>
            <a:pPr>
              <a:spcBef>
                <a:spcPts val="300"/>
              </a:spcBef>
              <a:defRPr sz="1100">
                <a:solidFill>
                  <a:srgbClr val="A0AFC8"/>
                </a:solidFill>
                <a:latin typeface="Segoe UI"/>
              </a:defRPr>
            </a:pPr>
            <a:r>
              <a:t>• Dominate modern computing — from mobile devices to high-performance servers</a:t>
            </a:r>
          </a:p>
        </p:txBody>
      </p:sp>
      <p:pic>
        <p:nvPicPr>
          <p:cNvPr id="8" name="Picture 7" descr="single_vs_multi_tree.png"/>
          <p:cNvPicPr>
            <a:picLocks noChangeAspect="1"/>
          </p:cNvPicPr>
          <p:nvPr/>
        </p:nvPicPr>
        <p:blipFill>
          <a:blip r:embed="rId2"/>
          <a:stretch>
            <a:fillRect/>
          </a:stretch>
        </p:blipFill>
        <p:spPr>
          <a:xfrm>
            <a:off x="6400800" y="1371600"/>
            <a:ext cx="5029200" cy="3771900"/>
          </a:xfrm>
          <a:prstGeom prst="rect">
            <a:avLst/>
          </a:prstGeom>
        </p:spPr>
      </p:pic>
      <p:sp>
        <p:nvSpPr>
          <p:cNvPr id="9" name="Rounded Rectangle 8"/>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97880"/>
            <a:ext cx="10332720" cy="411480"/>
          </a:xfrm>
          <a:prstGeom prst="rect">
            <a:avLst/>
          </a:prstGeom>
          <a:noFill/>
        </p:spPr>
        <p:txBody>
          <a:bodyPr wrap="square" lIns="0" tIns="0" rIns="0" bIns="0">
            <a:spAutoFit/>
          </a:bodyPr>
          <a:lstStyle/>
          <a:p>
            <a:r>
              <a:rPr sz="1050" b="1">
                <a:solidFill>
                  <a:srgbClr val="F59E0B"/>
                </a:solidFill>
                <a:latin typeface="Segoe UI"/>
              </a:rPr>
              <a:t>□ Speed-up Rule: </a:t>
            </a:r>
            <a:r>
              <a:rPr sz="1050">
                <a:solidFill>
                  <a:srgbClr val="FFFFFF"/>
                </a:solidFill>
                <a:latin typeface="Segoe UI"/>
              </a:rPr>
              <a:t>With N processors, speed-up is always less than N due to memory contention and coordination overhead.</a:t>
            </a:r>
          </a:p>
        </p:txBody>
      </p:sp>
    </p:spTree>
  </p:cSld>
  <p:clrMapOvr>
    <a:masterClrMapping/>
  </p:clrMapOvr>
  <p:transition xmlns:p14="http://schemas.microsoft.com/office/powerpoint/2010/main" spd="med" dur="1500">
    <p14:morph option="byObjec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FOUNDATIONS</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05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Multicore &amp; Symmetric Multiprocessing (SMP)</a:t>
            </a:r>
          </a:p>
        </p:txBody>
      </p:sp>
      <p:sp>
        <p:nvSpPr>
          <p:cNvPr id="7" name="Rounded Rectangle 6"/>
          <p:cNvSpPr/>
          <p:nvPr/>
        </p:nvSpPr>
        <p:spPr>
          <a:xfrm>
            <a:off x="731520" y="1463040"/>
            <a:ext cx="5669280" cy="10515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10515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5303520" cy="320040"/>
          </a:xfrm>
          <a:prstGeom prst="rect">
            <a:avLst/>
          </a:prstGeom>
          <a:noFill/>
        </p:spPr>
        <p:txBody>
          <a:bodyPr wrap="square" lIns="0" tIns="0" rIns="0" bIns="0">
            <a:spAutoFit/>
          </a:bodyPr>
          <a:lstStyle/>
          <a:p>
            <a:pPr>
              <a:defRPr sz="1300" b="1">
                <a:solidFill>
                  <a:srgbClr val="FFFFFF"/>
                </a:solidFill>
                <a:latin typeface="Segoe UI"/>
              </a:defRPr>
            </a:pPr>
            <a:r>
              <a:t>⚙  Multicore Architecture</a:t>
            </a:r>
          </a:p>
        </p:txBody>
      </p:sp>
      <p:sp>
        <p:nvSpPr>
          <p:cNvPr id="11" name="TextBox 10"/>
          <p:cNvSpPr txBox="1"/>
          <p:nvPr/>
        </p:nvSpPr>
        <p:spPr>
          <a:xfrm>
            <a:off x="960120" y="1874520"/>
            <a:ext cx="5303520" cy="548640"/>
          </a:xfrm>
          <a:prstGeom prst="rect">
            <a:avLst/>
          </a:prstGeom>
          <a:noFill/>
        </p:spPr>
        <p:txBody>
          <a:bodyPr wrap="square">
            <a:spAutoFit/>
          </a:bodyPr>
          <a:lstStyle/>
          <a:p>
            <a:pPr>
              <a:defRPr sz="1050">
                <a:solidFill>
                  <a:srgbClr val="A0AFC8"/>
                </a:solidFill>
                <a:latin typeface="Segoe UI"/>
              </a:defRPr>
            </a:pPr>
            <a:r>
              <a:t>Multiple computing cores reside on a single processor chip, enabling faster on-chip communication than separate chips.</a:t>
            </a:r>
          </a:p>
        </p:txBody>
      </p:sp>
      <p:sp>
        <p:nvSpPr>
          <p:cNvPr id="12" name="Rounded Rectangle 11"/>
          <p:cNvSpPr/>
          <p:nvPr/>
        </p:nvSpPr>
        <p:spPr>
          <a:xfrm>
            <a:off x="731520" y="2651760"/>
            <a:ext cx="5669280" cy="10515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651760"/>
            <a:ext cx="73152" cy="10515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72491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2788920"/>
            <a:ext cx="5303520" cy="320040"/>
          </a:xfrm>
          <a:prstGeom prst="rect">
            <a:avLst/>
          </a:prstGeom>
          <a:noFill/>
        </p:spPr>
        <p:txBody>
          <a:bodyPr wrap="square" lIns="0" tIns="0" rIns="0" bIns="0">
            <a:spAutoFit/>
          </a:bodyPr>
          <a:lstStyle/>
          <a:p>
            <a:pPr>
              <a:defRPr sz="1300" b="1">
                <a:solidFill>
                  <a:srgbClr val="FFFFFF"/>
                </a:solidFill>
                <a:latin typeface="Segoe UI"/>
              </a:defRPr>
            </a:pPr>
            <a:r>
              <a:t>⚡  Power Efficiency</a:t>
            </a:r>
          </a:p>
        </p:txBody>
      </p:sp>
      <p:sp>
        <p:nvSpPr>
          <p:cNvPr id="16" name="TextBox 15"/>
          <p:cNvSpPr txBox="1"/>
          <p:nvPr/>
        </p:nvSpPr>
        <p:spPr>
          <a:xfrm>
            <a:off x="960120" y="3063240"/>
            <a:ext cx="5303520" cy="548640"/>
          </a:xfrm>
          <a:prstGeom prst="rect">
            <a:avLst/>
          </a:prstGeom>
          <a:noFill/>
        </p:spPr>
        <p:txBody>
          <a:bodyPr wrap="square">
            <a:spAutoFit/>
          </a:bodyPr>
          <a:lstStyle/>
          <a:p>
            <a:pPr>
              <a:defRPr sz="1050">
                <a:solidFill>
                  <a:srgbClr val="A0AFC8"/>
                </a:solidFill>
                <a:latin typeface="Segoe UI"/>
              </a:defRPr>
            </a:pPr>
            <a:r>
              <a:t>Multicore systems consume significantly less power and generate less heat than an equivalent number of single-core chips.</a:t>
            </a:r>
          </a:p>
        </p:txBody>
      </p:sp>
      <p:sp>
        <p:nvSpPr>
          <p:cNvPr id="17" name="Rounded Rectangle 16"/>
          <p:cNvSpPr/>
          <p:nvPr/>
        </p:nvSpPr>
        <p:spPr>
          <a:xfrm>
            <a:off x="731520" y="3840480"/>
            <a:ext cx="5669280" cy="10515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840480"/>
            <a:ext cx="73152" cy="105156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91363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3977640"/>
            <a:ext cx="5303520" cy="320040"/>
          </a:xfrm>
          <a:prstGeom prst="rect">
            <a:avLst/>
          </a:prstGeom>
          <a:noFill/>
        </p:spPr>
        <p:txBody>
          <a:bodyPr wrap="square" lIns="0" tIns="0" rIns="0" bIns="0">
            <a:spAutoFit/>
          </a:bodyPr>
          <a:lstStyle/>
          <a:p>
            <a:pPr>
              <a:defRPr sz="1300" b="1">
                <a:solidFill>
                  <a:srgbClr val="FFFFFF"/>
                </a:solidFill>
                <a:latin typeface="Segoe UI"/>
              </a:defRPr>
            </a:pPr>
            <a:r>
              <a:t>🧠  Cache Architecture</a:t>
            </a:r>
          </a:p>
        </p:txBody>
      </p:sp>
      <p:sp>
        <p:nvSpPr>
          <p:cNvPr id="21" name="TextBox 20"/>
          <p:cNvSpPr txBox="1"/>
          <p:nvPr/>
        </p:nvSpPr>
        <p:spPr>
          <a:xfrm>
            <a:off x="960120" y="4251960"/>
            <a:ext cx="5303520" cy="548640"/>
          </a:xfrm>
          <a:prstGeom prst="rect">
            <a:avLst/>
          </a:prstGeom>
          <a:noFill/>
        </p:spPr>
        <p:txBody>
          <a:bodyPr wrap="square">
            <a:spAutoFit/>
          </a:bodyPr>
          <a:lstStyle/>
          <a:p>
            <a:pPr>
              <a:defRPr sz="1050">
                <a:solidFill>
                  <a:srgbClr val="A0AFC8"/>
                </a:solidFill>
                <a:latin typeface="Segoe UI"/>
              </a:defRPr>
            </a:pPr>
            <a:r>
              <a:t>Each core has dedicated registers and L1 cache; L2 and L3 caches may be shared across cores on the chip.</a:t>
            </a:r>
          </a:p>
        </p:txBody>
      </p:sp>
      <p:sp>
        <p:nvSpPr>
          <p:cNvPr id="22" name="Rounded Rectangle 21"/>
          <p:cNvSpPr/>
          <p:nvPr/>
        </p:nvSpPr>
        <p:spPr>
          <a:xfrm>
            <a:off x="731520" y="5029200"/>
            <a:ext cx="5669280" cy="10515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 y="5029200"/>
            <a:ext cx="73152" cy="10515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10235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 y="5166360"/>
            <a:ext cx="5303520" cy="320040"/>
          </a:xfrm>
          <a:prstGeom prst="rect">
            <a:avLst/>
          </a:prstGeom>
          <a:noFill/>
        </p:spPr>
        <p:txBody>
          <a:bodyPr wrap="square" lIns="0" tIns="0" rIns="0" bIns="0">
            <a:spAutoFit/>
          </a:bodyPr>
          <a:lstStyle/>
          <a:p>
            <a:pPr>
              <a:defRPr sz="1300" b="1">
                <a:solidFill>
                  <a:srgbClr val="FFFFFF"/>
                </a:solidFill>
                <a:latin typeface="Segoe UI"/>
              </a:defRPr>
            </a:pPr>
            <a:r>
              <a:t>⚯  SMP Definition</a:t>
            </a:r>
          </a:p>
        </p:txBody>
      </p:sp>
      <p:sp>
        <p:nvSpPr>
          <p:cNvPr id="26" name="TextBox 25"/>
          <p:cNvSpPr txBox="1"/>
          <p:nvPr/>
        </p:nvSpPr>
        <p:spPr>
          <a:xfrm>
            <a:off x="960120" y="5440680"/>
            <a:ext cx="5303520" cy="548640"/>
          </a:xfrm>
          <a:prstGeom prst="rect">
            <a:avLst/>
          </a:prstGeom>
          <a:noFill/>
        </p:spPr>
        <p:txBody>
          <a:bodyPr wrap="square">
            <a:spAutoFit/>
          </a:bodyPr>
          <a:lstStyle/>
          <a:p>
            <a:pPr>
              <a:defRPr sz="1050">
                <a:solidFill>
                  <a:srgbClr val="A0AFC8"/>
                </a:solidFill>
                <a:latin typeface="Segoe UI"/>
              </a:defRPr>
            </a:pPr>
            <a:r>
              <a:t>Processors and cores cooperate, sharing system resources; the OS sees and manages multiple processing units.</a:t>
            </a:r>
          </a:p>
        </p:txBody>
      </p:sp>
      <p:pic>
        <p:nvPicPr>
          <p:cNvPr id="27" name="Picture 26" descr="iso_multicore_chip.png"/>
          <p:cNvPicPr>
            <a:picLocks noChangeAspect="1"/>
          </p:cNvPicPr>
          <p:nvPr/>
        </p:nvPicPr>
        <p:blipFill>
          <a:blip r:embed="rId2"/>
          <a:stretch>
            <a:fillRect/>
          </a:stretch>
        </p:blipFill>
        <p:spPr>
          <a:xfrm>
            <a:off x="6858000" y="1463040"/>
            <a:ext cx="4572000" cy="4572000"/>
          </a:xfrm>
          <a:prstGeom prst="rect">
            <a:avLst/>
          </a:prstGeom>
        </p:spPr>
      </p:pic>
    </p:spTree>
  </p:cSld>
  <p:clrMapOvr>
    <a:masterClrMapping/>
  </p:clrMapOvr>
  <p:transition xmlns:p14="http://schemas.microsoft.com/office/powerpoint/2010/main" spd="med" dur="1500">
    <p14: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OS CONTROL &amp; MEMORY</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06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Interrupts: Hardware–OS Communication</a:t>
            </a:r>
          </a:p>
        </p:txBody>
      </p:sp>
      <p:sp>
        <p:nvSpPr>
          <p:cNvPr id="7" name="TextBox 6"/>
          <p:cNvSpPr txBox="1"/>
          <p:nvPr/>
        </p:nvSpPr>
        <p:spPr>
          <a:xfrm>
            <a:off x="731520" y="1463040"/>
            <a:ext cx="5486400" cy="731520"/>
          </a:xfrm>
          <a:prstGeom prst="rect">
            <a:avLst/>
          </a:prstGeom>
          <a:noFill/>
        </p:spPr>
        <p:txBody>
          <a:bodyPr wrap="square">
            <a:spAutoFit/>
          </a:bodyPr>
          <a:lstStyle/>
          <a:p>
            <a:pPr>
              <a:defRPr sz="1150">
                <a:solidFill>
                  <a:srgbClr val="A0AFC8"/>
                </a:solidFill>
                <a:latin typeface="Segoe UI"/>
              </a:defRPr>
            </a:pPr>
            <a:r>
              <a:t>The interrupt mechanism is the primary signal pathway between hardware devices and the operating system kernel.</a:t>
            </a:r>
          </a:p>
        </p:txBody>
      </p:sp>
      <p:sp>
        <p:nvSpPr>
          <p:cNvPr id="8" name="Oval 7"/>
          <p:cNvSpPr/>
          <p:nvPr/>
        </p:nvSpPr>
        <p:spPr>
          <a:xfrm>
            <a:off x="685800" y="2423160"/>
            <a:ext cx="1005840" cy="1005840"/>
          </a:xfrm>
          <a:prstGeom prst="ellipse">
            <a:avLst/>
          </a:prstGeom>
          <a:solidFill>
            <a:srgbClr val="1E2434"/>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743200"/>
            <a:ext cx="1371600" cy="365760"/>
          </a:xfrm>
          <a:prstGeom prst="rect">
            <a:avLst/>
          </a:prstGeom>
          <a:noFill/>
        </p:spPr>
        <p:txBody>
          <a:bodyPr wrap="square">
            <a:spAutoFit/>
          </a:bodyPr>
          <a:lstStyle/>
          <a:p>
            <a:pPr algn="ctr">
              <a:defRPr sz="1600" b="1">
                <a:solidFill>
                  <a:srgbClr val="FFFFFF"/>
                </a:solidFill>
                <a:latin typeface="Segoe UI"/>
              </a:defRPr>
            </a:pPr>
            <a:r>
              <a:t>1</a:t>
            </a:r>
          </a:p>
        </p:txBody>
      </p:sp>
      <p:sp>
        <p:nvSpPr>
          <p:cNvPr id="10" name="TextBox 9"/>
          <p:cNvSpPr txBox="1"/>
          <p:nvPr/>
        </p:nvSpPr>
        <p:spPr>
          <a:xfrm>
            <a:off x="457200" y="3520440"/>
            <a:ext cx="1463040" cy="548640"/>
          </a:xfrm>
          <a:prstGeom prst="rect">
            <a:avLst/>
          </a:prstGeom>
          <a:noFill/>
        </p:spPr>
        <p:txBody>
          <a:bodyPr wrap="square">
            <a:spAutoFit/>
          </a:bodyPr>
          <a:lstStyle/>
          <a:p>
            <a:pPr algn="ctr">
              <a:defRPr sz="1050" b="1">
                <a:solidFill>
                  <a:srgbClr val="FFFFFF"/>
                </a:solidFill>
                <a:latin typeface="Segoe UI"/>
              </a:defRPr>
            </a:pPr>
            <a:r>
              <a:t>Hardware Event</a:t>
            </a:r>
          </a:p>
        </p:txBody>
      </p:sp>
      <p:sp>
        <p:nvSpPr>
          <p:cNvPr id="11" name="Oval 10"/>
          <p:cNvSpPr/>
          <p:nvPr/>
        </p:nvSpPr>
        <p:spPr>
          <a:xfrm>
            <a:off x="2011680" y="2423160"/>
            <a:ext cx="1005840" cy="100584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2743200"/>
            <a:ext cx="1371600" cy="365760"/>
          </a:xfrm>
          <a:prstGeom prst="rect">
            <a:avLst/>
          </a:prstGeom>
          <a:noFill/>
        </p:spPr>
        <p:txBody>
          <a:bodyPr wrap="square">
            <a:spAutoFit/>
          </a:bodyPr>
          <a:lstStyle/>
          <a:p>
            <a:pPr algn="ctr">
              <a:defRPr sz="1600" b="1">
                <a:solidFill>
                  <a:srgbClr val="FFFFFF"/>
                </a:solidFill>
                <a:latin typeface="Segoe UI"/>
              </a:defRPr>
            </a:pPr>
            <a:r>
              <a:t>2</a:t>
            </a:r>
          </a:p>
        </p:txBody>
      </p:sp>
      <p:sp>
        <p:nvSpPr>
          <p:cNvPr id="13" name="TextBox 12"/>
          <p:cNvSpPr txBox="1"/>
          <p:nvPr/>
        </p:nvSpPr>
        <p:spPr>
          <a:xfrm>
            <a:off x="1783080" y="3520440"/>
            <a:ext cx="1463040" cy="548640"/>
          </a:xfrm>
          <a:prstGeom prst="rect">
            <a:avLst/>
          </a:prstGeom>
          <a:noFill/>
        </p:spPr>
        <p:txBody>
          <a:bodyPr wrap="square">
            <a:spAutoFit/>
          </a:bodyPr>
          <a:lstStyle/>
          <a:p>
            <a:pPr algn="ctr">
              <a:defRPr sz="1050" b="1">
                <a:solidFill>
                  <a:srgbClr val="FFFFFF"/>
                </a:solidFill>
                <a:latin typeface="Segoe UI"/>
              </a:defRPr>
            </a:pPr>
            <a:r>
              <a:t>CPU Halt</a:t>
            </a:r>
          </a:p>
        </p:txBody>
      </p:sp>
      <p:sp>
        <p:nvSpPr>
          <p:cNvPr id="14" name="Oval 13"/>
          <p:cNvSpPr/>
          <p:nvPr/>
        </p:nvSpPr>
        <p:spPr>
          <a:xfrm>
            <a:off x="3337560" y="2423160"/>
            <a:ext cx="1005840" cy="100584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2743200"/>
            <a:ext cx="1371600" cy="365760"/>
          </a:xfrm>
          <a:prstGeom prst="rect">
            <a:avLst/>
          </a:prstGeom>
          <a:noFill/>
        </p:spPr>
        <p:txBody>
          <a:bodyPr wrap="square">
            <a:spAutoFit/>
          </a:bodyPr>
          <a:lstStyle/>
          <a:p>
            <a:pPr algn="ctr">
              <a:defRPr sz="1600" b="1">
                <a:solidFill>
                  <a:srgbClr val="FFFFFF"/>
                </a:solidFill>
                <a:latin typeface="Segoe UI"/>
              </a:defRPr>
            </a:pPr>
            <a:r>
              <a:t>3</a:t>
            </a:r>
          </a:p>
        </p:txBody>
      </p:sp>
      <p:sp>
        <p:nvSpPr>
          <p:cNvPr id="16" name="TextBox 15"/>
          <p:cNvSpPr txBox="1"/>
          <p:nvPr/>
        </p:nvSpPr>
        <p:spPr>
          <a:xfrm>
            <a:off x="3108960" y="3520440"/>
            <a:ext cx="1463040" cy="548640"/>
          </a:xfrm>
          <a:prstGeom prst="rect">
            <a:avLst/>
          </a:prstGeom>
          <a:noFill/>
        </p:spPr>
        <p:txBody>
          <a:bodyPr wrap="square">
            <a:spAutoFit/>
          </a:bodyPr>
          <a:lstStyle/>
          <a:p>
            <a:pPr algn="ctr">
              <a:defRPr sz="1050" b="1">
                <a:solidFill>
                  <a:srgbClr val="FFFFFF"/>
                </a:solidFill>
                <a:latin typeface="Segoe UI"/>
              </a:defRPr>
            </a:pPr>
            <a:r>
              <a:t>Invoke ISR</a:t>
            </a:r>
          </a:p>
        </p:txBody>
      </p:sp>
      <p:sp>
        <p:nvSpPr>
          <p:cNvPr id="17" name="Oval 16"/>
          <p:cNvSpPr/>
          <p:nvPr/>
        </p:nvSpPr>
        <p:spPr>
          <a:xfrm>
            <a:off x="4663440" y="2423160"/>
            <a:ext cx="1005840" cy="100584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2743200"/>
            <a:ext cx="1371600" cy="365760"/>
          </a:xfrm>
          <a:prstGeom prst="rect">
            <a:avLst/>
          </a:prstGeom>
          <a:noFill/>
        </p:spPr>
        <p:txBody>
          <a:bodyPr wrap="square">
            <a:spAutoFit/>
          </a:bodyPr>
          <a:lstStyle/>
          <a:p>
            <a:pPr algn="ctr">
              <a:defRPr sz="1600" b="1">
                <a:solidFill>
                  <a:srgbClr val="FFFFFF"/>
                </a:solidFill>
                <a:latin typeface="Segoe UI"/>
              </a:defRPr>
            </a:pPr>
            <a:r>
              <a:t>4</a:t>
            </a:r>
          </a:p>
        </p:txBody>
      </p:sp>
      <p:sp>
        <p:nvSpPr>
          <p:cNvPr id="19" name="TextBox 18"/>
          <p:cNvSpPr txBox="1"/>
          <p:nvPr/>
        </p:nvSpPr>
        <p:spPr>
          <a:xfrm>
            <a:off x="4434840" y="3520440"/>
            <a:ext cx="1463040" cy="548640"/>
          </a:xfrm>
          <a:prstGeom prst="rect">
            <a:avLst/>
          </a:prstGeom>
          <a:noFill/>
        </p:spPr>
        <p:txBody>
          <a:bodyPr wrap="square">
            <a:spAutoFit/>
          </a:bodyPr>
          <a:lstStyle/>
          <a:p>
            <a:pPr algn="ctr">
              <a:defRPr sz="1050" b="1">
                <a:solidFill>
                  <a:srgbClr val="FFFFFF"/>
                </a:solidFill>
                <a:latin typeface="Segoe UI"/>
              </a:defRPr>
            </a:pPr>
            <a:r>
              <a:t>Resume CPU</a:t>
            </a:r>
          </a:p>
        </p:txBody>
      </p:sp>
      <p:sp>
        <p:nvSpPr>
          <p:cNvPr id="20" name="TextBox 19"/>
          <p:cNvSpPr txBox="1"/>
          <p:nvPr/>
        </p:nvSpPr>
        <p:spPr>
          <a:xfrm>
            <a:off x="1783080" y="2743200"/>
            <a:ext cx="274320" cy="365760"/>
          </a:xfrm>
          <a:prstGeom prst="rect">
            <a:avLst/>
          </a:prstGeom>
          <a:noFill/>
        </p:spPr>
        <p:txBody>
          <a:bodyPr wrap="none">
            <a:spAutoFit/>
          </a:bodyPr>
          <a:lstStyle/>
          <a:p>
            <a:pPr>
              <a:defRPr sz="1600" b="1">
                <a:solidFill>
                  <a:srgbClr val="F59E0B"/>
                </a:solidFill>
              </a:defRPr>
            </a:pPr>
            <a:r>
              <a:t>→</a:t>
            </a:r>
          </a:p>
        </p:txBody>
      </p:sp>
      <p:sp>
        <p:nvSpPr>
          <p:cNvPr id="21" name="TextBox 20"/>
          <p:cNvSpPr txBox="1"/>
          <p:nvPr/>
        </p:nvSpPr>
        <p:spPr>
          <a:xfrm>
            <a:off x="3108960" y="2743200"/>
            <a:ext cx="274320" cy="365760"/>
          </a:xfrm>
          <a:prstGeom prst="rect">
            <a:avLst/>
          </a:prstGeom>
          <a:noFill/>
        </p:spPr>
        <p:txBody>
          <a:bodyPr wrap="none">
            <a:spAutoFit/>
          </a:bodyPr>
          <a:lstStyle/>
          <a:p>
            <a:pPr>
              <a:defRPr sz="1600" b="1">
                <a:solidFill>
                  <a:srgbClr val="F59E0B"/>
                </a:solidFill>
              </a:defRPr>
            </a:pPr>
            <a:r>
              <a:t>→</a:t>
            </a:r>
          </a:p>
        </p:txBody>
      </p:sp>
      <p:sp>
        <p:nvSpPr>
          <p:cNvPr id="22" name="TextBox 21"/>
          <p:cNvSpPr txBox="1"/>
          <p:nvPr/>
        </p:nvSpPr>
        <p:spPr>
          <a:xfrm>
            <a:off x="4434840" y="2743200"/>
            <a:ext cx="274320" cy="365760"/>
          </a:xfrm>
          <a:prstGeom prst="rect">
            <a:avLst/>
          </a:prstGeom>
          <a:noFill/>
        </p:spPr>
        <p:txBody>
          <a:bodyPr wrap="none">
            <a:spAutoFit/>
          </a:bodyPr>
          <a:lstStyle/>
          <a:p>
            <a:pPr>
              <a:defRPr sz="1600" b="1">
                <a:solidFill>
                  <a:srgbClr val="F59E0B"/>
                </a:solidFill>
              </a:defRPr>
            </a:pPr>
            <a:r>
              <a:t>→</a:t>
            </a:r>
          </a:p>
        </p:txBody>
      </p:sp>
      <p:sp>
        <p:nvSpPr>
          <p:cNvPr id="23" name="Rounded Rectangle 22"/>
          <p:cNvSpPr/>
          <p:nvPr/>
        </p:nvSpPr>
        <p:spPr>
          <a:xfrm>
            <a:off x="731520" y="4023360"/>
            <a:ext cx="5303520" cy="21031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4023360"/>
            <a:ext cx="73152" cy="210312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06440" y="409651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4160520"/>
            <a:ext cx="4937759" cy="320040"/>
          </a:xfrm>
          <a:prstGeom prst="rect">
            <a:avLst/>
          </a:prstGeom>
          <a:noFill/>
        </p:spPr>
        <p:txBody>
          <a:bodyPr wrap="square" lIns="0" tIns="0" rIns="0" bIns="0">
            <a:spAutoFit/>
          </a:bodyPr>
          <a:lstStyle/>
          <a:p>
            <a:pPr>
              <a:defRPr sz="1300" b="1">
                <a:solidFill>
                  <a:srgbClr val="FFFFFF"/>
                </a:solidFill>
                <a:latin typeface="Segoe UI"/>
              </a:defRPr>
            </a:pPr>
            <a:r>
              <a:t>Event-Driven OS Execution</a:t>
            </a:r>
          </a:p>
        </p:txBody>
      </p:sp>
      <p:sp>
        <p:nvSpPr>
          <p:cNvPr id="27" name="TextBox 26"/>
          <p:cNvSpPr txBox="1"/>
          <p:nvPr/>
        </p:nvSpPr>
        <p:spPr>
          <a:xfrm>
            <a:off x="960120" y="4434840"/>
            <a:ext cx="4846320" cy="1554480"/>
          </a:xfrm>
          <a:prstGeom prst="rect">
            <a:avLst/>
          </a:prstGeom>
          <a:noFill/>
        </p:spPr>
        <p:txBody>
          <a:bodyPr wrap="square">
            <a:spAutoFit/>
          </a:bodyPr>
          <a:lstStyle/>
          <a:p/>
          <a:p>
            <a:pPr>
              <a:spcBef>
                <a:spcPts val="300"/>
              </a:spcBef>
              <a:defRPr sz="1050">
                <a:solidFill>
                  <a:srgbClr val="A0AFC8"/>
                </a:solidFill>
                <a:latin typeface="Segoe UI"/>
              </a:defRPr>
            </a:pPr>
            <a:r>
              <a:t>• The OS sits idle awaiting events if there are no active tasks or I/O requests.</a:t>
            </a:r>
          </a:p>
          <a:p>
            <a:pPr>
              <a:spcBef>
                <a:spcPts val="300"/>
              </a:spcBef>
              <a:defRPr sz="1050">
                <a:solidFill>
                  <a:srgbClr val="A0AFC8"/>
                </a:solidFill>
                <a:latin typeface="Segoe UI"/>
              </a:defRPr>
            </a:pPr>
            <a:r>
              <a:t>• Device controllers assert an electrical interrupt signal along the bus line.</a:t>
            </a:r>
          </a:p>
          <a:p>
            <a:pPr>
              <a:spcBef>
                <a:spcPts val="300"/>
              </a:spcBef>
              <a:defRPr sz="1050">
                <a:solidFill>
                  <a:srgbClr val="A0AFC8"/>
                </a:solidFill>
                <a:latin typeface="Segoe UI"/>
              </a:defRPr>
            </a:pPr>
            <a:r>
              <a:t>• CPU hardware pushes PC and registers onto kernel stack before branching.</a:t>
            </a:r>
          </a:p>
        </p:txBody>
      </p:sp>
      <p:sp>
        <p:nvSpPr>
          <p:cNvPr id="28" name="Rounded Rectangle 27"/>
          <p:cNvSpPr/>
          <p:nvPr/>
        </p:nvSpPr>
        <p:spPr>
          <a:xfrm>
            <a:off x="6217920" y="1463040"/>
            <a:ext cx="5212080" cy="13716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17920" y="1463040"/>
            <a:ext cx="73152" cy="13716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2014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Interrupt Vector</a:t>
            </a:r>
          </a:p>
        </p:txBody>
      </p:sp>
      <p:sp>
        <p:nvSpPr>
          <p:cNvPr id="32" name="Rounded Rectangle 31"/>
          <p:cNvSpPr/>
          <p:nvPr/>
        </p:nvSpPr>
        <p:spPr>
          <a:xfrm>
            <a:off x="6446520" y="1828800"/>
            <a:ext cx="502920" cy="502920"/>
          </a:xfrm>
          <a:prstGeom prst="roundRect">
            <a:avLst/>
          </a:prstGeom>
          <a:solidFill>
            <a:srgbClr val="1E243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1</a:t>
            </a:r>
          </a:p>
        </p:txBody>
      </p:sp>
      <p:sp>
        <p:nvSpPr>
          <p:cNvPr id="33" name="TextBox 32"/>
          <p:cNvSpPr txBox="1"/>
          <p:nvPr/>
        </p:nvSpPr>
        <p:spPr>
          <a:xfrm>
            <a:off x="7086600" y="1828800"/>
            <a:ext cx="4206240" cy="822960"/>
          </a:xfrm>
          <a:prstGeom prst="rect">
            <a:avLst/>
          </a:prstGeom>
          <a:noFill/>
        </p:spPr>
        <p:txBody>
          <a:bodyPr wrap="square">
            <a:spAutoFit/>
          </a:bodyPr>
          <a:lstStyle/>
          <a:p>
            <a:pPr>
              <a:defRPr sz="1050">
                <a:solidFill>
                  <a:srgbClr val="A0AFC8"/>
                </a:solidFill>
                <a:latin typeface="Segoe UI"/>
              </a:defRPr>
            </a:pPr>
            <a:r>
              <a:t>Table of pointers to interrupt service routines, indexed by unique interrupt number for deterministic lookup.</a:t>
            </a:r>
          </a:p>
        </p:txBody>
      </p:sp>
      <p:sp>
        <p:nvSpPr>
          <p:cNvPr id="34" name="Rounded Rectangle 33"/>
          <p:cNvSpPr/>
          <p:nvPr/>
        </p:nvSpPr>
        <p:spPr>
          <a:xfrm>
            <a:off x="6217920" y="2971800"/>
            <a:ext cx="5212080" cy="13716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17920" y="2971800"/>
            <a:ext cx="73152" cy="137160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201400" y="304495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7376" y="3108960"/>
            <a:ext cx="4846320" cy="320040"/>
          </a:xfrm>
          <a:prstGeom prst="rect">
            <a:avLst/>
          </a:prstGeom>
          <a:noFill/>
        </p:spPr>
        <p:txBody>
          <a:bodyPr wrap="square" lIns="0" tIns="0" rIns="0" bIns="0">
            <a:spAutoFit/>
          </a:bodyPr>
          <a:lstStyle/>
          <a:p>
            <a:pPr>
              <a:defRPr sz="1300" b="1">
                <a:solidFill>
                  <a:srgbClr val="FFFFFF"/>
                </a:solidFill>
                <a:latin typeface="Segoe UI"/>
              </a:defRPr>
            </a:pPr>
            <a:r>
              <a:t>Priority Levels</a:t>
            </a:r>
          </a:p>
        </p:txBody>
      </p:sp>
      <p:sp>
        <p:nvSpPr>
          <p:cNvPr id="38" name="Rounded Rectangle 37"/>
          <p:cNvSpPr/>
          <p:nvPr/>
        </p:nvSpPr>
        <p:spPr>
          <a:xfrm>
            <a:off x="6446520" y="3337560"/>
            <a:ext cx="502920" cy="502920"/>
          </a:xfrm>
          <a:prstGeom prst="roundRect">
            <a:avLst/>
          </a:prstGeom>
          <a:solidFill>
            <a:srgbClr val="1E2434"/>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2</a:t>
            </a:r>
          </a:p>
        </p:txBody>
      </p:sp>
      <p:sp>
        <p:nvSpPr>
          <p:cNvPr id="39" name="TextBox 38"/>
          <p:cNvSpPr txBox="1"/>
          <p:nvPr/>
        </p:nvSpPr>
        <p:spPr>
          <a:xfrm>
            <a:off x="7086600" y="3337560"/>
            <a:ext cx="4206240" cy="822960"/>
          </a:xfrm>
          <a:prstGeom prst="rect">
            <a:avLst/>
          </a:prstGeom>
          <a:noFill/>
        </p:spPr>
        <p:txBody>
          <a:bodyPr wrap="square">
            <a:spAutoFit/>
          </a:bodyPr>
          <a:lstStyle/>
          <a:p>
            <a:pPr>
              <a:defRPr sz="1050">
                <a:solidFill>
                  <a:srgbClr val="A0AFC8"/>
                </a:solidFill>
                <a:latin typeface="Segoe UI"/>
              </a:defRPr>
            </a:pPr>
            <a:r>
              <a:t>Enable the CPU to defer low-priority interrupts and respond immediately to critical urgent events.</a:t>
            </a:r>
          </a:p>
        </p:txBody>
      </p:sp>
      <p:sp>
        <p:nvSpPr>
          <p:cNvPr id="40" name="Rounded Rectangle 39"/>
          <p:cNvSpPr/>
          <p:nvPr/>
        </p:nvSpPr>
        <p:spPr>
          <a:xfrm>
            <a:off x="6217920" y="4480560"/>
            <a:ext cx="5212080" cy="13716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217920" y="4480560"/>
            <a:ext cx="73152" cy="13716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1201400" y="455371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617720"/>
            <a:ext cx="4846320" cy="320040"/>
          </a:xfrm>
          <a:prstGeom prst="rect">
            <a:avLst/>
          </a:prstGeom>
          <a:noFill/>
        </p:spPr>
        <p:txBody>
          <a:bodyPr wrap="square" lIns="0" tIns="0" rIns="0" bIns="0">
            <a:spAutoFit/>
          </a:bodyPr>
          <a:lstStyle/>
          <a:p>
            <a:pPr>
              <a:defRPr sz="1300" b="1">
                <a:solidFill>
                  <a:srgbClr val="FFFFFF"/>
                </a:solidFill>
                <a:latin typeface="Segoe UI"/>
              </a:defRPr>
            </a:pPr>
            <a:r>
              <a:t>Deferral Capability</a:t>
            </a:r>
          </a:p>
        </p:txBody>
      </p:sp>
      <p:sp>
        <p:nvSpPr>
          <p:cNvPr id="44" name="Rounded Rectangle 43"/>
          <p:cNvSpPr/>
          <p:nvPr/>
        </p:nvSpPr>
        <p:spPr>
          <a:xfrm>
            <a:off x="6446520" y="4846320"/>
            <a:ext cx="502920" cy="502920"/>
          </a:xfrm>
          <a:prstGeom prst="roundRect">
            <a:avLst/>
          </a:prstGeom>
          <a:solidFill>
            <a:srgbClr val="1E243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3</a:t>
            </a:r>
          </a:p>
        </p:txBody>
      </p:sp>
      <p:sp>
        <p:nvSpPr>
          <p:cNvPr id="45" name="TextBox 44"/>
          <p:cNvSpPr txBox="1"/>
          <p:nvPr/>
        </p:nvSpPr>
        <p:spPr>
          <a:xfrm>
            <a:off x="7086600" y="4846320"/>
            <a:ext cx="4206240" cy="822960"/>
          </a:xfrm>
          <a:prstGeom prst="rect">
            <a:avLst/>
          </a:prstGeom>
          <a:noFill/>
        </p:spPr>
        <p:txBody>
          <a:bodyPr wrap="square">
            <a:spAutoFit/>
          </a:bodyPr>
          <a:lstStyle/>
          <a:p>
            <a:pPr>
              <a:defRPr sz="1050">
                <a:solidFill>
                  <a:srgbClr val="A0AFC8"/>
                </a:solidFill>
                <a:latin typeface="Segoe UI"/>
              </a:defRPr>
            </a:pPr>
            <a:r>
              <a:t>CPU can temporarily disable or mask interrupt handling during critical kernel processing sections.</a:t>
            </a:r>
          </a:p>
        </p:txBody>
      </p:sp>
    </p:spTree>
  </p:cSld>
  <p:clrMapOvr>
    <a:masterClrMapping/>
  </p:clrMapOvr>
  <p:transition xmlns:p14="http://schemas.microsoft.com/office/powerpoint/2010/main" spd="med" dur="1500">
    <p14:morph option="byObject"/>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OS CONTROL &amp; MEMORY</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07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Interrupts &amp; System Calls</a:t>
            </a:r>
          </a:p>
        </p:txBody>
      </p:sp>
      <p:pic>
        <p:nvPicPr>
          <p:cNvPr id="7" name="Picture 6" descr="iso_stacked_layers.png"/>
          <p:cNvPicPr>
            <a:picLocks noChangeAspect="1"/>
          </p:cNvPicPr>
          <p:nvPr/>
        </p:nvPicPr>
        <p:blipFill>
          <a:blip r:embed="rId2"/>
          <a:stretch>
            <a:fillRect/>
          </a:stretch>
        </p:blipFill>
        <p:spPr>
          <a:xfrm>
            <a:off x="731520" y="1463040"/>
            <a:ext cx="4114800" cy="4114800"/>
          </a:xfrm>
          <a:prstGeom prst="rect">
            <a:avLst/>
          </a:prstGeom>
        </p:spPr>
      </p:pic>
      <p:sp>
        <p:nvSpPr>
          <p:cNvPr id="8" name="Rounded Rectangle 7"/>
          <p:cNvSpPr/>
          <p:nvPr/>
        </p:nvSpPr>
        <p:spPr>
          <a:xfrm>
            <a:off x="5120640" y="1463040"/>
            <a:ext cx="3063240" cy="16459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20640" y="1463040"/>
            <a:ext cx="73152" cy="1645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55279"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0096" y="1600200"/>
            <a:ext cx="2697480" cy="320040"/>
          </a:xfrm>
          <a:prstGeom prst="rect">
            <a:avLst/>
          </a:prstGeom>
          <a:noFill/>
        </p:spPr>
        <p:txBody>
          <a:bodyPr wrap="square" lIns="0" tIns="0" rIns="0" bIns="0">
            <a:spAutoFit/>
          </a:bodyPr>
          <a:lstStyle/>
          <a:p>
            <a:pPr>
              <a:defRPr sz="1300" b="1">
                <a:solidFill>
                  <a:srgbClr val="FFFFFF"/>
                </a:solidFill>
                <a:latin typeface="Segoe UI"/>
              </a:defRPr>
            </a:pPr>
            <a:r>
              <a:t>Hardware Interrupt</a:t>
            </a:r>
          </a:p>
        </p:txBody>
      </p:sp>
      <p:sp>
        <p:nvSpPr>
          <p:cNvPr id="12" name="TextBox 11"/>
          <p:cNvSpPr txBox="1"/>
          <p:nvPr/>
        </p:nvSpPr>
        <p:spPr>
          <a:xfrm>
            <a:off x="5303520" y="1874519"/>
            <a:ext cx="2743200" cy="1097280"/>
          </a:xfrm>
          <a:prstGeom prst="rect">
            <a:avLst/>
          </a:prstGeom>
          <a:noFill/>
        </p:spPr>
        <p:txBody>
          <a:bodyPr wrap="square">
            <a:spAutoFit/>
          </a:bodyPr>
          <a:lstStyle/>
          <a:p>
            <a:pPr>
              <a:defRPr sz="1050">
                <a:solidFill>
                  <a:srgbClr val="A0AFC8"/>
                </a:solidFill>
                <a:latin typeface="Segoe UI"/>
              </a:defRPr>
            </a:pPr>
            <a:r>
              <a:t>Generated by hardware/device — e.g., keyboard input, timer tick, or I/O completion signal.</a:t>
            </a:r>
          </a:p>
        </p:txBody>
      </p:sp>
      <p:sp>
        <p:nvSpPr>
          <p:cNvPr id="13" name="Rounded Rectangle 12"/>
          <p:cNvSpPr/>
          <p:nvPr/>
        </p:nvSpPr>
        <p:spPr>
          <a:xfrm>
            <a:off x="8366759" y="1463040"/>
            <a:ext cx="3063240" cy="16459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66759" y="1463040"/>
            <a:ext cx="73152" cy="16459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01399" y="153619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86215" y="1600200"/>
            <a:ext cx="2697480" cy="320040"/>
          </a:xfrm>
          <a:prstGeom prst="rect">
            <a:avLst/>
          </a:prstGeom>
          <a:noFill/>
        </p:spPr>
        <p:txBody>
          <a:bodyPr wrap="square" lIns="0" tIns="0" rIns="0" bIns="0">
            <a:spAutoFit/>
          </a:bodyPr>
          <a:lstStyle/>
          <a:p>
            <a:pPr>
              <a:defRPr sz="1300" b="1">
                <a:solidFill>
                  <a:srgbClr val="FFFFFF"/>
                </a:solidFill>
                <a:latin typeface="Segoe UI"/>
              </a:defRPr>
            </a:pPr>
            <a:r>
              <a:t>Trap / Exception</a:t>
            </a:r>
          </a:p>
        </p:txBody>
      </p:sp>
      <p:sp>
        <p:nvSpPr>
          <p:cNvPr id="17" name="TextBox 16"/>
          <p:cNvSpPr txBox="1"/>
          <p:nvPr/>
        </p:nvSpPr>
        <p:spPr>
          <a:xfrm>
            <a:off x="8549640" y="1874519"/>
            <a:ext cx="2743200" cy="1097280"/>
          </a:xfrm>
          <a:prstGeom prst="rect">
            <a:avLst/>
          </a:prstGeom>
          <a:noFill/>
        </p:spPr>
        <p:txBody>
          <a:bodyPr wrap="square">
            <a:spAutoFit/>
          </a:bodyPr>
          <a:lstStyle/>
          <a:p>
            <a:pPr>
              <a:defRPr sz="1050">
                <a:solidFill>
                  <a:srgbClr val="A0AFC8"/>
                </a:solidFill>
                <a:latin typeface="Segoe UI"/>
              </a:defRPr>
            </a:pPr>
            <a:r>
              <a:t>Generated by software error or exceptional condition (division by zero, page fault, software trap).</a:t>
            </a:r>
          </a:p>
        </p:txBody>
      </p:sp>
      <p:sp>
        <p:nvSpPr>
          <p:cNvPr id="18" name="Rounded Rectangle 17"/>
          <p:cNvSpPr/>
          <p:nvPr/>
        </p:nvSpPr>
        <p:spPr>
          <a:xfrm>
            <a:off x="5120640" y="3246120"/>
            <a:ext cx="6309360" cy="10058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0" y="3246120"/>
            <a:ext cx="73152" cy="100584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201400" y="331927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0096" y="3383279"/>
            <a:ext cx="5943600" cy="320040"/>
          </a:xfrm>
          <a:prstGeom prst="rect">
            <a:avLst/>
          </a:prstGeom>
          <a:noFill/>
        </p:spPr>
        <p:txBody>
          <a:bodyPr wrap="square" lIns="0" tIns="0" rIns="0" bIns="0">
            <a:spAutoFit/>
          </a:bodyPr>
          <a:lstStyle/>
          <a:p>
            <a:pPr>
              <a:defRPr sz="1300" b="1">
                <a:solidFill>
                  <a:srgbClr val="FFFFFF"/>
                </a:solidFill>
                <a:latin typeface="Segoe UI"/>
              </a:defRPr>
            </a:pPr>
            <a:r>
              <a:t>System Call Interface</a:t>
            </a:r>
          </a:p>
        </p:txBody>
      </p:sp>
      <p:sp>
        <p:nvSpPr>
          <p:cNvPr id="22" name="TextBox 21"/>
          <p:cNvSpPr txBox="1"/>
          <p:nvPr/>
        </p:nvSpPr>
        <p:spPr>
          <a:xfrm>
            <a:off x="5303520" y="3611880"/>
            <a:ext cx="5943600" cy="548640"/>
          </a:xfrm>
          <a:prstGeom prst="rect">
            <a:avLst/>
          </a:prstGeom>
          <a:noFill/>
        </p:spPr>
        <p:txBody>
          <a:bodyPr wrap="square">
            <a:spAutoFit/>
          </a:bodyPr>
          <a:lstStyle/>
          <a:p>
            <a:pPr>
              <a:defRPr sz="1050">
                <a:solidFill>
                  <a:srgbClr val="A0AFC8"/>
                </a:solidFill>
                <a:latin typeface="Segoe UI"/>
              </a:defRPr>
            </a:pPr>
            <a:r>
              <a:t>User program requests a privileged operating system service safely via a dedicated trap mechanism.</a:t>
            </a:r>
          </a:p>
        </p:txBody>
      </p:sp>
      <p:sp>
        <p:nvSpPr>
          <p:cNvPr id="23" name="TextBox 22"/>
          <p:cNvSpPr txBox="1"/>
          <p:nvPr/>
        </p:nvSpPr>
        <p:spPr>
          <a:xfrm>
            <a:off x="5120640" y="4389120"/>
            <a:ext cx="6309360" cy="365760"/>
          </a:xfrm>
          <a:prstGeom prst="rect">
            <a:avLst/>
          </a:prstGeom>
          <a:noFill/>
        </p:spPr>
        <p:txBody>
          <a:bodyPr wrap="none">
            <a:spAutoFit/>
          </a:bodyPr>
          <a:lstStyle/>
          <a:p>
            <a:pPr>
              <a:defRPr sz="1400" b="1">
                <a:solidFill>
                  <a:srgbClr val="FFFFFF"/>
                </a:solidFill>
                <a:latin typeface="Segoe UI"/>
              </a:defRPr>
            </a:pPr>
            <a:r>
              <a:t>System Call Execution Flow</a:t>
            </a:r>
          </a:p>
        </p:txBody>
      </p:sp>
      <p:sp>
        <p:nvSpPr>
          <p:cNvPr id="24" name="Oval 23"/>
          <p:cNvSpPr/>
          <p:nvPr/>
        </p:nvSpPr>
        <p:spPr>
          <a:xfrm>
            <a:off x="5166359" y="4800600"/>
            <a:ext cx="822960" cy="82296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83479" y="5029200"/>
            <a:ext cx="1188720" cy="365760"/>
          </a:xfrm>
          <a:prstGeom prst="rect">
            <a:avLst/>
          </a:prstGeom>
          <a:noFill/>
        </p:spPr>
        <p:txBody>
          <a:bodyPr wrap="square">
            <a:spAutoFit/>
          </a:bodyPr>
          <a:lstStyle/>
          <a:p>
            <a:pPr algn="ctr">
              <a:defRPr sz="1600" b="1">
                <a:solidFill>
                  <a:srgbClr val="FFFFFF"/>
                </a:solidFill>
                <a:latin typeface="Segoe UI"/>
              </a:defRPr>
            </a:pPr>
            <a:r>
              <a:t>1</a:t>
            </a:r>
          </a:p>
        </p:txBody>
      </p:sp>
      <p:sp>
        <p:nvSpPr>
          <p:cNvPr id="26" name="TextBox 25"/>
          <p:cNvSpPr txBox="1"/>
          <p:nvPr/>
        </p:nvSpPr>
        <p:spPr>
          <a:xfrm>
            <a:off x="4846320" y="5715000"/>
            <a:ext cx="1463040" cy="548640"/>
          </a:xfrm>
          <a:prstGeom prst="rect">
            <a:avLst/>
          </a:prstGeom>
          <a:noFill/>
        </p:spPr>
        <p:txBody>
          <a:bodyPr wrap="square">
            <a:spAutoFit/>
          </a:bodyPr>
          <a:lstStyle/>
          <a:p>
            <a:pPr algn="ctr">
              <a:defRPr sz="1050" b="1">
                <a:solidFill>
                  <a:srgbClr val="FFFFFF"/>
                </a:solidFill>
                <a:latin typeface="Segoe UI"/>
              </a:defRPr>
            </a:pPr>
            <a:r>
              <a:t>User Call</a:t>
            </a:r>
          </a:p>
        </p:txBody>
      </p:sp>
      <p:sp>
        <p:nvSpPr>
          <p:cNvPr id="27" name="Oval 26"/>
          <p:cNvSpPr/>
          <p:nvPr/>
        </p:nvSpPr>
        <p:spPr>
          <a:xfrm>
            <a:off x="6400799" y="4800600"/>
            <a:ext cx="822960" cy="822960"/>
          </a:xfrm>
          <a:prstGeom prst="ellipse">
            <a:avLst/>
          </a:prstGeom>
          <a:solidFill>
            <a:srgbClr val="1E2434"/>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19" y="5029200"/>
            <a:ext cx="1188720" cy="365760"/>
          </a:xfrm>
          <a:prstGeom prst="rect">
            <a:avLst/>
          </a:prstGeom>
          <a:noFill/>
        </p:spPr>
        <p:txBody>
          <a:bodyPr wrap="square">
            <a:spAutoFit/>
          </a:bodyPr>
          <a:lstStyle/>
          <a:p>
            <a:pPr algn="ctr">
              <a:defRPr sz="1600" b="1">
                <a:solidFill>
                  <a:srgbClr val="FFFFFF"/>
                </a:solidFill>
                <a:latin typeface="Segoe UI"/>
              </a:defRPr>
            </a:pPr>
            <a:r>
              <a:t>2</a:t>
            </a:r>
          </a:p>
        </p:txBody>
      </p:sp>
      <p:sp>
        <p:nvSpPr>
          <p:cNvPr id="29" name="TextBox 28"/>
          <p:cNvSpPr txBox="1"/>
          <p:nvPr/>
        </p:nvSpPr>
        <p:spPr>
          <a:xfrm>
            <a:off x="6080759" y="5715000"/>
            <a:ext cx="1463040" cy="548640"/>
          </a:xfrm>
          <a:prstGeom prst="rect">
            <a:avLst/>
          </a:prstGeom>
          <a:noFill/>
        </p:spPr>
        <p:txBody>
          <a:bodyPr wrap="square">
            <a:spAutoFit/>
          </a:bodyPr>
          <a:lstStyle/>
          <a:p>
            <a:pPr algn="ctr">
              <a:defRPr sz="1050" b="1">
                <a:solidFill>
                  <a:srgbClr val="FFFFFF"/>
                </a:solidFill>
                <a:latin typeface="Segoe UI"/>
              </a:defRPr>
            </a:pPr>
            <a:r>
              <a:t>Trap</a:t>
            </a:r>
          </a:p>
        </p:txBody>
      </p:sp>
      <p:sp>
        <p:nvSpPr>
          <p:cNvPr id="30" name="Oval 29"/>
          <p:cNvSpPr/>
          <p:nvPr/>
        </p:nvSpPr>
        <p:spPr>
          <a:xfrm>
            <a:off x="7635240" y="4800600"/>
            <a:ext cx="822960" cy="82296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52360" y="5029200"/>
            <a:ext cx="1188720" cy="365760"/>
          </a:xfrm>
          <a:prstGeom prst="rect">
            <a:avLst/>
          </a:prstGeom>
          <a:noFill/>
        </p:spPr>
        <p:txBody>
          <a:bodyPr wrap="square">
            <a:spAutoFit/>
          </a:bodyPr>
          <a:lstStyle/>
          <a:p>
            <a:pPr algn="ctr">
              <a:defRPr sz="1600" b="1">
                <a:solidFill>
                  <a:srgbClr val="FFFFFF"/>
                </a:solidFill>
                <a:latin typeface="Segoe UI"/>
              </a:defRPr>
            </a:pPr>
            <a:r>
              <a:t>3</a:t>
            </a:r>
          </a:p>
        </p:txBody>
      </p:sp>
      <p:sp>
        <p:nvSpPr>
          <p:cNvPr id="32" name="TextBox 31"/>
          <p:cNvSpPr txBox="1"/>
          <p:nvPr/>
        </p:nvSpPr>
        <p:spPr>
          <a:xfrm>
            <a:off x="7315200" y="5715000"/>
            <a:ext cx="1463040" cy="548640"/>
          </a:xfrm>
          <a:prstGeom prst="rect">
            <a:avLst/>
          </a:prstGeom>
          <a:noFill/>
        </p:spPr>
        <p:txBody>
          <a:bodyPr wrap="square">
            <a:spAutoFit/>
          </a:bodyPr>
          <a:lstStyle/>
          <a:p>
            <a:pPr algn="ctr">
              <a:defRPr sz="1050" b="1">
                <a:solidFill>
                  <a:srgbClr val="FFFFFF"/>
                </a:solidFill>
                <a:latin typeface="Segoe UI"/>
              </a:defRPr>
            </a:pPr>
            <a:r>
              <a:t>Vector</a:t>
            </a:r>
          </a:p>
        </p:txBody>
      </p:sp>
      <p:sp>
        <p:nvSpPr>
          <p:cNvPr id="33" name="Oval 32"/>
          <p:cNvSpPr/>
          <p:nvPr/>
        </p:nvSpPr>
        <p:spPr>
          <a:xfrm>
            <a:off x="8869680" y="4800600"/>
            <a:ext cx="822960" cy="82296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5029200"/>
            <a:ext cx="1188720" cy="365760"/>
          </a:xfrm>
          <a:prstGeom prst="rect">
            <a:avLst/>
          </a:prstGeom>
          <a:noFill/>
        </p:spPr>
        <p:txBody>
          <a:bodyPr wrap="square">
            <a:spAutoFit/>
          </a:bodyPr>
          <a:lstStyle/>
          <a:p>
            <a:pPr algn="ctr">
              <a:defRPr sz="1600" b="1">
                <a:solidFill>
                  <a:srgbClr val="FFFFFF"/>
                </a:solidFill>
                <a:latin typeface="Segoe UI"/>
              </a:defRPr>
            </a:pPr>
            <a:r>
              <a:t>4</a:t>
            </a:r>
          </a:p>
        </p:txBody>
      </p:sp>
      <p:sp>
        <p:nvSpPr>
          <p:cNvPr id="35" name="TextBox 34"/>
          <p:cNvSpPr txBox="1"/>
          <p:nvPr/>
        </p:nvSpPr>
        <p:spPr>
          <a:xfrm>
            <a:off x="8549640" y="5715000"/>
            <a:ext cx="1463040" cy="548640"/>
          </a:xfrm>
          <a:prstGeom prst="rect">
            <a:avLst/>
          </a:prstGeom>
          <a:noFill/>
        </p:spPr>
        <p:txBody>
          <a:bodyPr wrap="square">
            <a:spAutoFit/>
          </a:bodyPr>
          <a:lstStyle/>
          <a:p>
            <a:pPr algn="ctr">
              <a:defRPr sz="1050" b="1">
                <a:solidFill>
                  <a:srgbClr val="FFFFFF"/>
                </a:solidFill>
                <a:latin typeface="Segoe UI"/>
              </a:defRPr>
            </a:pPr>
            <a:r>
              <a:t>Kernel Routine</a:t>
            </a:r>
          </a:p>
        </p:txBody>
      </p:sp>
      <p:sp>
        <p:nvSpPr>
          <p:cNvPr id="36" name="Oval 35"/>
          <p:cNvSpPr/>
          <p:nvPr/>
        </p:nvSpPr>
        <p:spPr>
          <a:xfrm>
            <a:off x="10104120" y="4800600"/>
            <a:ext cx="822960" cy="82296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21240" y="5029200"/>
            <a:ext cx="1188720" cy="365760"/>
          </a:xfrm>
          <a:prstGeom prst="rect">
            <a:avLst/>
          </a:prstGeom>
          <a:noFill/>
        </p:spPr>
        <p:txBody>
          <a:bodyPr wrap="square">
            <a:spAutoFit/>
          </a:bodyPr>
          <a:lstStyle/>
          <a:p>
            <a:pPr algn="ctr">
              <a:defRPr sz="1600" b="1">
                <a:solidFill>
                  <a:srgbClr val="FFFFFF"/>
                </a:solidFill>
                <a:latin typeface="Segoe UI"/>
              </a:defRPr>
            </a:pPr>
            <a:r>
              <a:t>5</a:t>
            </a:r>
          </a:p>
        </p:txBody>
      </p:sp>
      <p:sp>
        <p:nvSpPr>
          <p:cNvPr id="38" name="TextBox 37"/>
          <p:cNvSpPr txBox="1"/>
          <p:nvPr/>
        </p:nvSpPr>
        <p:spPr>
          <a:xfrm>
            <a:off x="9784080" y="5715000"/>
            <a:ext cx="1463040" cy="548640"/>
          </a:xfrm>
          <a:prstGeom prst="rect">
            <a:avLst/>
          </a:prstGeom>
          <a:noFill/>
        </p:spPr>
        <p:txBody>
          <a:bodyPr wrap="square">
            <a:spAutoFit/>
          </a:bodyPr>
          <a:lstStyle/>
          <a:p>
            <a:pPr algn="ctr">
              <a:defRPr sz="1050" b="1">
                <a:solidFill>
                  <a:srgbClr val="FFFFFF"/>
                </a:solidFill>
                <a:latin typeface="Segoe UI"/>
              </a:defRPr>
            </a:pPr>
            <a:r>
              <a:t>OS Operation</a:t>
            </a:r>
          </a:p>
        </p:txBody>
      </p:sp>
    </p:spTree>
  </p:cSld>
  <p:clrMapOvr>
    <a:masterClrMapping/>
  </p:clrMapOvr>
  <p:transition xmlns:p14="http://schemas.microsoft.com/office/powerpoint/2010/main" spd="med" dur="1500">
    <p14:morph option="byObject"/>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OS CONTROL &amp; MEMORY</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08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Dual-Mode Operation</a:t>
            </a:r>
          </a:p>
        </p:txBody>
      </p:sp>
      <p:sp>
        <p:nvSpPr>
          <p:cNvPr id="7" name="Rounded Rectangle 6"/>
          <p:cNvSpPr/>
          <p:nvPr/>
        </p:nvSpPr>
        <p:spPr>
          <a:xfrm>
            <a:off x="731520" y="1463040"/>
            <a:ext cx="5212080" cy="27432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27432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Two Operating Modes &amp; Privileged Instructions</a:t>
            </a:r>
          </a:p>
        </p:txBody>
      </p:sp>
      <p:sp>
        <p:nvSpPr>
          <p:cNvPr id="11" name="TextBox 10"/>
          <p:cNvSpPr txBox="1"/>
          <p:nvPr/>
        </p:nvSpPr>
        <p:spPr>
          <a:xfrm>
            <a:off x="960120" y="1920240"/>
            <a:ext cx="4754880" cy="2103120"/>
          </a:xfrm>
          <a:prstGeom prst="rect">
            <a:avLst/>
          </a:prstGeom>
          <a:noFill/>
        </p:spPr>
        <p:txBody>
          <a:bodyPr wrap="square">
            <a:spAutoFit/>
          </a:bodyPr>
          <a:lstStyle/>
          <a:p/>
          <a:p>
            <a:pPr>
              <a:spcBef>
                <a:spcPts val="300"/>
              </a:spcBef>
              <a:defRPr sz="1050">
                <a:solidFill>
                  <a:srgbClr val="A0AFC8"/>
                </a:solidFill>
                <a:latin typeface="Segoe UI"/>
              </a:defRPr>
            </a:pPr>
            <a:r>
              <a:t>• Executable only in kernel mode (Mode Bit = 0)</a:t>
            </a:r>
          </a:p>
          <a:p>
            <a:pPr>
              <a:spcBef>
                <a:spcPts val="300"/>
              </a:spcBef>
              <a:defRPr sz="1050">
                <a:solidFill>
                  <a:srgbClr val="A0AFC8"/>
                </a:solidFill>
                <a:latin typeface="Segoe UI"/>
              </a:defRPr>
            </a:pPr>
            <a:r>
              <a:t>• Include: I/O control, timer management, interrupt disabling, memory protection setup</a:t>
            </a:r>
          </a:p>
          <a:p>
            <a:pPr>
              <a:spcBef>
                <a:spcPts val="300"/>
              </a:spcBef>
              <a:defRPr sz="1050">
                <a:solidFill>
                  <a:srgbClr val="A0AFC8"/>
                </a:solidFill>
                <a:latin typeface="Segoe UI"/>
              </a:defRPr>
            </a:pPr>
            <a:r>
              <a:t>• Hardware enforces mode distinction at the CPU status register level</a:t>
            </a:r>
          </a:p>
          <a:p>
            <a:pPr>
              <a:spcBef>
                <a:spcPts val="300"/>
              </a:spcBef>
              <a:defRPr sz="1050">
                <a:solidFill>
                  <a:srgbClr val="A0AFC8"/>
                </a:solidFill>
                <a:latin typeface="Segoe UI"/>
              </a:defRPr>
            </a:pPr>
            <a:r>
              <a:t>• Boot sequence starts in kernel mode, loads OS, and switches to user mode before running apps</a:t>
            </a:r>
          </a:p>
        </p:txBody>
      </p:sp>
      <p:sp>
        <p:nvSpPr>
          <p:cNvPr id="12" name="Rounded Rectangle 11"/>
          <p:cNvSpPr/>
          <p:nvPr/>
        </p:nvSpPr>
        <p:spPr>
          <a:xfrm>
            <a:off x="6217920" y="1463040"/>
            <a:ext cx="5212080" cy="2743200"/>
          </a:xfrm>
          <a:prstGeom prst="roundRect">
            <a:avLst/>
          </a:prstGeom>
          <a:solidFill>
            <a:srgbClr val="262D40"/>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274320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Why Dual-Mode Matters</a:t>
            </a:r>
          </a:p>
        </p:txBody>
      </p:sp>
      <p:sp>
        <p:nvSpPr>
          <p:cNvPr id="16" name="TextBox 15"/>
          <p:cNvSpPr txBox="1"/>
          <p:nvPr/>
        </p:nvSpPr>
        <p:spPr>
          <a:xfrm>
            <a:off x="6446520" y="1920240"/>
            <a:ext cx="4754880" cy="2103120"/>
          </a:xfrm>
          <a:prstGeom prst="rect">
            <a:avLst/>
          </a:prstGeom>
          <a:noFill/>
        </p:spPr>
        <p:txBody>
          <a:bodyPr wrap="square">
            <a:spAutoFit/>
          </a:bodyPr>
          <a:lstStyle/>
          <a:p/>
          <a:p>
            <a:pPr>
              <a:spcBef>
                <a:spcPts val="400"/>
              </a:spcBef>
              <a:defRPr sz="1050">
                <a:solidFill>
                  <a:srgbClr val="A0AFC8"/>
                </a:solidFill>
                <a:latin typeface="Segoe UI"/>
              </a:defRPr>
            </a:pPr>
            <a:r>
              <a:t>• Prevents incorrect or malicious user programs from interfering with the OS or other programs.</a:t>
            </a:r>
          </a:p>
          <a:p>
            <a:pPr>
              <a:spcBef>
                <a:spcPts val="400"/>
              </a:spcBef>
              <a:defRPr sz="1050">
                <a:solidFill>
                  <a:srgbClr val="A0AFC8"/>
                </a:solidFill>
                <a:latin typeface="Segoe UI"/>
              </a:defRPr>
            </a:pPr>
            <a:r>
              <a:t>• The mode bit is a hardware flag set by the CPU — not software — ensuring enforcement cannot be bypassed.</a:t>
            </a:r>
          </a:p>
          <a:p>
            <a:pPr>
              <a:spcBef>
                <a:spcPts val="400"/>
              </a:spcBef>
              <a:defRPr sz="1050">
                <a:solidFill>
                  <a:srgbClr val="A0AFC8"/>
                </a:solidFill>
                <a:latin typeface="Segoe UI"/>
              </a:defRPr>
            </a:pPr>
            <a:r>
              <a:t>• Every transition from user to kernel mode is a controlled, auditable hardware event via traps/syscalls.</a:t>
            </a:r>
          </a:p>
        </p:txBody>
      </p:sp>
      <p:sp>
        <p:nvSpPr>
          <p:cNvPr id="17" name="Rounded Rectangle 16"/>
          <p:cNvSpPr/>
          <p:nvPr/>
        </p:nvSpPr>
        <p:spPr>
          <a:xfrm>
            <a:off x="731520" y="4389120"/>
            <a:ext cx="5212080" cy="1737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4389120"/>
            <a:ext cx="73152" cy="1737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15000" y="446227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526280"/>
            <a:ext cx="4846320" cy="320040"/>
          </a:xfrm>
          <a:prstGeom prst="rect">
            <a:avLst/>
          </a:prstGeom>
          <a:noFill/>
        </p:spPr>
        <p:txBody>
          <a:bodyPr wrap="square" lIns="0" tIns="0" rIns="0" bIns="0">
            <a:spAutoFit/>
          </a:bodyPr>
          <a:lstStyle/>
          <a:p>
            <a:pPr>
              <a:defRPr sz="1300" b="1">
                <a:solidFill>
                  <a:srgbClr val="FFFFFF"/>
                </a:solidFill>
                <a:latin typeface="Segoe UI"/>
              </a:defRPr>
            </a:pPr>
            <a:r>
              <a:t>User Mode</a:t>
            </a:r>
          </a:p>
        </p:txBody>
      </p:sp>
      <p:sp>
        <p:nvSpPr>
          <p:cNvPr id="21" name="TextBox 20"/>
          <p:cNvSpPr txBox="1"/>
          <p:nvPr/>
        </p:nvSpPr>
        <p:spPr>
          <a:xfrm>
            <a:off x="960120" y="4846320"/>
            <a:ext cx="4846320" cy="1097280"/>
          </a:xfrm>
          <a:prstGeom prst="rect">
            <a:avLst/>
          </a:prstGeom>
          <a:noFill/>
        </p:spPr>
        <p:txBody>
          <a:bodyPr wrap="square">
            <a:spAutoFit/>
          </a:bodyPr>
          <a:lstStyle/>
          <a:p>
            <a:pPr>
              <a:defRPr sz="1100">
                <a:solidFill>
                  <a:srgbClr val="A0AFC8"/>
                </a:solidFill>
                <a:latin typeface="Segoe UI"/>
              </a:defRPr>
            </a:pPr>
            <a:r>
              <a:t>Active while executing user application code. Mode bit = 1.</a:t>
            </a:r>
            <a:br/>
            <a:r>
              <a:t>Cannot execute privileged instructions or access kernel memory directly.</a:t>
            </a:r>
          </a:p>
        </p:txBody>
      </p:sp>
      <p:sp>
        <p:nvSpPr>
          <p:cNvPr id="22" name="Rounded Rectangle 21"/>
          <p:cNvSpPr/>
          <p:nvPr/>
        </p:nvSpPr>
        <p:spPr>
          <a:xfrm>
            <a:off x="6217920" y="4389120"/>
            <a:ext cx="5212080" cy="1737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4389120"/>
            <a:ext cx="73152" cy="173736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201400" y="4462272"/>
            <a:ext cx="137160" cy="1828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4526280"/>
            <a:ext cx="4846320" cy="320040"/>
          </a:xfrm>
          <a:prstGeom prst="rect">
            <a:avLst/>
          </a:prstGeom>
          <a:noFill/>
        </p:spPr>
        <p:txBody>
          <a:bodyPr wrap="square" lIns="0" tIns="0" rIns="0" bIns="0">
            <a:spAutoFit/>
          </a:bodyPr>
          <a:lstStyle/>
          <a:p>
            <a:pPr>
              <a:defRPr sz="1300" b="1">
                <a:solidFill>
                  <a:srgbClr val="FFFFFF"/>
                </a:solidFill>
                <a:latin typeface="Segoe UI"/>
              </a:defRPr>
            </a:pPr>
            <a:r>
              <a:t>Kernel Mode</a:t>
            </a:r>
          </a:p>
        </p:txBody>
      </p:sp>
      <p:sp>
        <p:nvSpPr>
          <p:cNvPr id="26" name="TextBox 25"/>
          <p:cNvSpPr txBox="1"/>
          <p:nvPr/>
        </p:nvSpPr>
        <p:spPr>
          <a:xfrm>
            <a:off x="6446520" y="4846320"/>
            <a:ext cx="4846320" cy="1097280"/>
          </a:xfrm>
          <a:prstGeom prst="rect">
            <a:avLst/>
          </a:prstGeom>
          <a:noFill/>
        </p:spPr>
        <p:txBody>
          <a:bodyPr wrap="square">
            <a:spAutoFit/>
          </a:bodyPr>
          <a:lstStyle/>
          <a:p>
            <a:pPr>
              <a:defRPr sz="1100">
                <a:solidFill>
                  <a:srgbClr val="A0AFC8"/>
                </a:solidFill>
                <a:latin typeface="Segoe UI"/>
              </a:defRPr>
            </a:pPr>
            <a:r>
              <a:t>Active while executing operating system code. Mode bit = 0.</a:t>
            </a:r>
            <a:br/>
            <a:r>
              <a:t>Full access to all hardware instructions, memory spaces, and device controllers.</a:t>
            </a:r>
          </a:p>
        </p:txBody>
      </p:sp>
    </p:spTree>
  </p:cSld>
  <p:clrMapOvr>
    <a:masterClrMapping/>
  </p:clrMapOvr>
  <p:transition xmlns:p14="http://schemas.microsoft.com/office/powerpoint/2010/main" spd="med" dur="1500">
    <p14:morph option="byObject"/>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OS CONTROL &amp; MEMORY</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09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Protection &amp; Timer Control</a:t>
            </a:r>
          </a:p>
        </p:txBody>
      </p:sp>
      <p:sp>
        <p:nvSpPr>
          <p:cNvPr id="7" name="Rounded Rectangle 6"/>
          <p:cNvSpPr/>
          <p:nvPr/>
        </p:nvSpPr>
        <p:spPr>
          <a:xfrm>
            <a:off x="731520" y="1463040"/>
            <a:ext cx="5212080" cy="21945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219456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Protection via Privileged Instructions</a:t>
            </a:r>
          </a:p>
        </p:txBody>
      </p:sp>
      <p:sp>
        <p:nvSpPr>
          <p:cNvPr id="11" name="TextBox 10"/>
          <p:cNvSpPr txBox="1"/>
          <p:nvPr/>
        </p:nvSpPr>
        <p:spPr>
          <a:xfrm>
            <a:off x="960120" y="1874519"/>
            <a:ext cx="4754880" cy="1645920"/>
          </a:xfrm>
          <a:prstGeom prst="rect">
            <a:avLst/>
          </a:prstGeom>
          <a:noFill/>
        </p:spPr>
        <p:txBody>
          <a:bodyPr wrap="square">
            <a:spAutoFit/>
          </a:bodyPr>
          <a:lstStyle/>
          <a:p/>
          <a:p>
            <a:pPr>
              <a:spcBef>
                <a:spcPts val="300"/>
              </a:spcBef>
              <a:defRPr sz="1050">
                <a:solidFill>
                  <a:srgbClr val="A0AFC8"/>
                </a:solidFill>
                <a:latin typeface="Segoe UI"/>
              </a:defRPr>
            </a:pPr>
            <a:r>
              <a:t>• Harmful instructions can cause serious damage if ordinary programs execute them</a:t>
            </a:r>
          </a:p>
          <a:p>
            <a:pPr>
              <a:spcBef>
                <a:spcPts val="300"/>
              </a:spcBef>
              <a:defRPr sz="1050">
                <a:solidFill>
                  <a:srgbClr val="A0AFC8"/>
                </a:solidFill>
                <a:latin typeface="Segoe UI"/>
              </a:defRPr>
            </a:pPr>
            <a:r>
              <a:t>• Privileged instructions — I/O control, timer, interrupts — allowed only in kernel mode</a:t>
            </a:r>
          </a:p>
          <a:p>
            <a:pPr>
              <a:spcBef>
                <a:spcPts val="300"/>
              </a:spcBef>
              <a:defRPr sz="1050">
                <a:solidFill>
                  <a:srgbClr val="A0AFC8"/>
                </a:solidFill>
                <a:latin typeface="Segoe UI"/>
              </a:defRPr>
            </a:pPr>
            <a:r>
              <a:t>• CPU hardware enforces the mode distinction; user programs cannot bypass it</a:t>
            </a:r>
          </a:p>
        </p:txBody>
      </p:sp>
      <p:sp>
        <p:nvSpPr>
          <p:cNvPr id="12" name="TextBox 11"/>
          <p:cNvSpPr txBox="1"/>
          <p:nvPr/>
        </p:nvSpPr>
        <p:spPr>
          <a:xfrm>
            <a:off x="731520" y="3840480"/>
            <a:ext cx="5212080" cy="365760"/>
          </a:xfrm>
          <a:prstGeom prst="rect">
            <a:avLst/>
          </a:prstGeom>
          <a:noFill/>
        </p:spPr>
        <p:txBody>
          <a:bodyPr wrap="none">
            <a:spAutoFit/>
          </a:bodyPr>
          <a:lstStyle/>
          <a:p>
            <a:pPr>
              <a:defRPr sz="1400" b="1">
                <a:solidFill>
                  <a:srgbClr val="FFFFFF"/>
                </a:solidFill>
                <a:latin typeface="Segoe UI"/>
              </a:defRPr>
            </a:pPr>
            <a:r>
              <a:t>Illegal Operation Flow</a:t>
            </a:r>
          </a:p>
        </p:txBody>
      </p:sp>
      <p:sp>
        <p:nvSpPr>
          <p:cNvPr id="13" name="Oval 12"/>
          <p:cNvSpPr/>
          <p:nvPr/>
        </p:nvSpPr>
        <p:spPr>
          <a:xfrm>
            <a:off x="960120" y="4343400"/>
            <a:ext cx="1005840" cy="100584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63440"/>
            <a:ext cx="1371600" cy="365760"/>
          </a:xfrm>
          <a:prstGeom prst="rect">
            <a:avLst/>
          </a:prstGeom>
          <a:noFill/>
        </p:spPr>
        <p:txBody>
          <a:bodyPr wrap="square">
            <a:spAutoFit/>
          </a:bodyPr>
          <a:lstStyle/>
          <a:p>
            <a:pPr algn="ctr">
              <a:defRPr sz="1600" b="1">
                <a:solidFill>
                  <a:srgbClr val="FFFFFF"/>
                </a:solidFill>
                <a:latin typeface="Segoe UI"/>
              </a:defRPr>
            </a:pPr>
            <a:r>
              <a:t>1</a:t>
            </a:r>
          </a:p>
        </p:txBody>
      </p:sp>
      <p:sp>
        <p:nvSpPr>
          <p:cNvPr id="15" name="TextBox 14"/>
          <p:cNvSpPr txBox="1"/>
          <p:nvPr/>
        </p:nvSpPr>
        <p:spPr>
          <a:xfrm>
            <a:off x="731520" y="5440679"/>
            <a:ext cx="1463040" cy="548640"/>
          </a:xfrm>
          <a:prstGeom prst="rect">
            <a:avLst/>
          </a:prstGeom>
          <a:noFill/>
        </p:spPr>
        <p:txBody>
          <a:bodyPr wrap="square">
            <a:spAutoFit/>
          </a:bodyPr>
          <a:lstStyle/>
          <a:p>
            <a:pPr algn="ctr">
              <a:defRPr sz="1050" b="1">
                <a:solidFill>
                  <a:srgbClr val="FFFFFF"/>
                </a:solidFill>
                <a:latin typeface="Segoe UI"/>
              </a:defRPr>
            </a:pPr>
            <a:r>
              <a:t>User tries</a:t>
            </a:r>
            <a:br/>
            <a:r>
              <a:t>privileged</a:t>
            </a:r>
          </a:p>
        </p:txBody>
      </p:sp>
      <p:sp>
        <p:nvSpPr>
          <p:cNvPr id="16" name="Oval 15"/>
          <p:cNvSpPr/>
          <p:nvPr/>
        </p:nvSpPr>
        <p:spPr>
          <a:xfrm>
            <a:off x="2606040" y="4343400"/>
            <a:ext cx="1005840" cy="1005840"/>
          </a:xfrm>
          <a:prstGeom prst="ellipse">
            <a:avLst/>
          </a:prstGeom>
          <a:solidFill>
            <a:srgbClr val="1E2434"/>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23160" y="4663440"/>
            <a:ext cx="1371600" cy="365760"/>
          </a:xfrm>
          <a:prstGeom prst="rect">
            <a:avLst/>
          </a:prstGeom>
          <a:noFill/>
        </p:spPr>
        <p:txBody>
          <a:bodyPr wrap="square">
            <a:spAutoFit/>
          </a:bodyPr>
          <a:lstStyle/>
          <a:p>
            <a:pPr algn="ctr">
              <a:defRPr sz="1600" b="1">
                <a:solidFill>
                  <a:srgbClr val="FFFFFF"/>
                </a:solidFill>
                <a:latin typeface="Segoe UI"/>
              </a:defRPr>
            </a:pPr>
            <a:r>
              <a:t>2</a:t>
            </a:r>
          </a:p>
        </p:txBody>
      </p:sp>
      <p:sp>
        <p:nvSpPr>
          <p:cNvPr id="18" name="TextBox 17"/>
          <p:cNvSpPr txBox="1"/>
          <p:nvPr/>
        </p:nvSpPr>
        <p:spPr>
          <a:xfrm>
            <a:off x="2377440" y="5440679"/>
            <a:ext cx="1463040" cy="548640"/>
          </a:xfrm>
          <a:prstGeom prst="rect">
            <a:avLst/>
          </a:prstGeom>
          <a:noFill/>
        </p:spPr>
        <p:txBody>
          <a:bodyPr wrap="square">
            <a:spAutoFit/>
          </a:bodyPr>
          <a:lstStyle/>
          <a:p>
            <a:pPr algn="ctr">
              <a:defRPr sz="1050" b="1">
                <a:solidFill>
                  <a:srgbClr val="FFFFFF"/>
                </a:solidFill>
                <a:latin typeface="Segoe UI"/>
              </a:defRPr>
            </a:pPr>
            <a:r>
              <a:t>CPU generates</a:t>
            </a:r>
            <a:br/>
            <a:r>
              <a:t>trap</a:t>
            </a:r>
          </a:p>
        </p:txBody>
      </p:sp>
      <p:sp>
        <p:nvSpPr>
          <p:cNvPr id="19" name="Oval 18"/>
          <p:cNvSpPr/>
          <p:nvPr/>
        </p:nvSpPr>
        <p:spPr>
          <a:xfrm>
            <a:off x="4251960" y="4343400"/>
            <a:ext cx="1005840" cy="1005840"/>
          </a:xfrm>
          <a:prstGeom prst="ellipse">
            <a:avLst/>
          </a:prstGeom>
          <a:solidFill>
            <a:srgbClr val="1E2434"/>
          </a:solidFill>
          <a:ln w="254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69080" y="4663440"/>
            <a:ext cx="1371600" cy="365760"/>
          </a:xfrm>
          <a:prstGeom prst="rect">
            <a:avLst/>
          </a:prstGeom>
          <a:noFill/>
        </p:spPr>
        <p:txBody>
          <a:bodyPr wrap="square">
            <a:spAutoFit/>
          </a:bodyPr>
          <a:lstStyle/>
          <a:p>
            <a:pPr algn="ctr">
              <a:defRPr sz="1600" b="1">
                <a:solidFill>
                  <a:srgbClr val="FFFFFF"/>
                </a:solidFill>
                <a:latin typeface="Segoe UI"/>
              </a:defRPr>
            </a:pPr>
            <a:r>
              <a:t>3</a:t>
            </a:r>
          </a:p>
        </p:txBody>
      </p:sp>
      <p:sp>
        <p:nvSpPr>
          <p:cNvPr id="21" name="TextBox 20"/>
          <p:cNvSpPr txBox="1"/>
          <p:nvPr/>
        </p:nvSpPr>
        <p:spPr>
          <a:xfrm>
            <a:off x="4023360" y="5440679"/>
            <a:ext cx="1463040" cy="548640"/>
          </a:xfrm>
          <a:prstGeom prst="rect">
            <a:avLst/>
          </a:prstGeom>
          <a:noFill/>
        </p:spPr>
        <p:txBody>
          <a:bodyPr wrap="square">
            <a:spAutoFit/>
          </a:bodyPr>
          <a:lstStyle/>
          <a:p>
            <a:pPr algn="ctr">
              <a:defRPr sz="1050" b="1">
                <a:solidFill>
                  <a:srgbClr val="FFFFFF"/>
                </a:solidFill>
                <a:latin typeface="Segoe UI"/>
              </a:defRPr>
            </a:pPr>
            <a:r>
              <a:t>OS handles</a:t>
            </a:r>
            <a:br/>
            <a:r>
              <a:t>violation</a:t>
            </a:r>
          </a:p>
        </p:txBody>
      </p:sp>
      <p:sp>
        <p:nvSpPr>
          <p:cNvPr id="22" name="Rounded Rectangle 21"/>
          <p:cNvSpPr/>
          <p:nvPr/>
        </p:nvSpPr>
        <p:spPr>
          <a:xfrm>
            <a:off x="6217920" y="1463040"/>
            <a:ext cx="5212080" cy="13716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1463040"/>
            <a:ext cx="73152" cy="137160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201400" y="1536192"/>
            <a:ext cx="137160" cy="1828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The Problem</a:t>
            </a:r>
          </a:p>
        </p:txBody>
      </p:sp>
      <p:sp>
        <p:nvSpPr>
          <p:cNvPr id="26" name="Rounded Rectangle 25"/>
          <p:cNvSpPr/>
          <p:nvPr/>
        </p:nvSpPr>
        <p:spPr>
          <a:xfrm>
            <a:off x="6446520" y="1828800"/>
            <a:ext cx="502920" cy="502920"/>
          </a:xfrm>
          <a:prstGeom prst="roundRect">
            <a:avLst/>
          </a:prstGeom>
          <a:solidFill>
            <a:srgbClr val="1E243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1</a:t>
            </a:r>
          </a:p>
        </p:txBody>
      </p:sp>
      <p:sp>
        <p:nvSpPr>
          <p:cNvPr id="27" name="TextBox 26"/>
          <p:cNvSpPr txBox="1"/>
          <p:nvPr/>
        </p:nvSpPr>
        <p:spPr>
          <a:xfrm>
            <a:off x="7086600" y="1828800"/>
            <a:ext cx="4206240" cy="822960"/>
          </a:xfrm>
          <a:prstGeom prst="rect">
            <a:avLst/>
          </a:prstGeom>
          <a:noFill/>
        </p:spPr>
        <p:txBody>
          <a:bodyPr wrap="square">
            <a:spAutoFit/>
          </a:bodyPr>
          <a:lstStyle/>
          <a:p>
            <a:pPr>
              <a:defRPr sz="1050">
                <a:solidFill>
                  <a:srgbClr val="A0AFC8"/>
                </a:solidFill>
                <a:latin typeface="Segoe UI"/>
              </a:defRPr>
            </a:pPr>
            <a:r>
              <a:t>A user program could enter an infinite loop and never voluntarily return control to the operating system.</a:t>
            </a:r>
          </a:p>
        </p:txBody>
      </p:sp>
      <p:sp>
        <p:nvSpPr>
          <p:cNvPr id="28" name="Rounded Rectangle 27"/>
          <p:cNvSpPr/>
          <p:nvPr/>
        </p:nvSpPr>
        <p:spPr>
          <a:xfrm>
            <a:off x="6217920" y="2971800"/>
            <a:ext cx="5212080" cy="13716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17920" y="2971800"/>
            <a:ext cx="73152" cy="13716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201400" y="304495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3108960"/>
            <a:ext cx="4846320" cy="320040"/>
          </a:xfrm>
          <a:prstGeom prst="rect">
            <a:avLst/>
          </a:prstGeom>
          <a:noFill/>
        </p:spPr>
        <p:txBody>
          <a:bodyPr wrap="square" lIns="0" tIns="0" rIns="0" bIns="0">
            <a:spAutoFit/>
          </a:bodyPr>
          <a:lstStyle/>
          <a:p>
            <a:pPr>
              <a:defRPr sz="1300" b="1">
                <a:solidFill>
                  <a:srgbClr val="FFFFFF"/>
                </a:solidFill>
                <a:latin typeface="Segoe UI"/>
              </a:defRPr>
            </a:pPr>
            <a:r>
              <a:t>The Solution</a:t>
            </a:r>
          </a:p>
        </p:txBody>
      </p:sp>
      <p:sp>
        <p:nvSpPr>
          <p:cNvPr id="32" name="Rounded Rectangle 31"/>
          <p:cNvSpPr/>
          <p:nvPr/>
        </p:nvSpPr>
        <p:spPr>
          <a:xfrm>
            <a:off x="6446520" y="3337560"/>
            <a:ext cx="502920" cy="502920"/>
          </a:xfrm>
          <a:prstGeom prst="roundRect">
            <a:avLst/>
          </a:prstGeom>
          <a:solidFill>
            <a:srgbClr val="1E243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2</a:t>
            </a:r>
          </a:p>
        </p:txBody>
      </p:sp>
      <p:sp>
        <p:nvSpPr>
          <p:cNvPr id="33" name="TextBox 32"/>
          <p:cNvSpPr txBox="1"/>
          <p:nvPr/>
        </p:nvSpPr>
        <p:spPr>
          <a:xfrm>
            <a:off x="7086600" y="3337560"/>
            <a:ext cx="4206240" cy="822960"/>
          </a:xfrm>
          <a:prstGeom prst="rect">
            <a:avLst/>
          </a:prstGeom>
          <a:noFill/>
        </p:spPr>
        <p:txBody>
          <a:bodyPr wrap="square">
            <a:spAutoFit/>
          </a:bodyPr>
          <a:lstStyle/>
          <a:p>
            <a:pPr>
              <a:defRPr sz="1050">
                <a:solidFill>
                  <a:srgbClr val="A0AFC8"/>
                </a:solidFill>
                <a:latin typeface="Segoe UI"/>
              </a:defRPr>
            </a:pPr>
            <a:r>
              <a:t>A hardware timer interrupts the computer after a specified period — typically every 1–100 milliseconds.</a:t>
            </a:r>
          </a:p>
        </p:txBody>
      </p:sp>
      <p:sp>
        <p:nvSpPr>
          <p:cNvPr id="34" name="Rounded Rectangle 33"/>
          <p:cNvSpPr/>
          <p:nvPr/>
        </p:nvSpPr>
        <p:spPr>
          <a:xfrm>
            <a:off x="6217920" y="4480560"/>
            <a:ext cx="5212080" cy="13716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17920" y="4480560"/>
            <a:ext cx="73152" cy="13716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201400" y="455371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7376" y="4617720"/>
            <a:ext cx="4846320" cy="320040"/>
          </a:xfrm>
          <a:prstGeom prst="rect">
            <a:avLst/>
          </a:prstGeom>
          <a:noFill/>
        </p:spPr>
        <p:txBody>
          <a:bodyPr wrap="square" lIns="0" tIns="0" rIns="0" bIns="0">
            <a:spAutoFit/>
          </a:bodyPr>
          <a:lstStyle/>
          <a:p>
            <a:pPr>
              <a:defRPr sz="1300" b="1">
                <a:solidFill>
                  <a:srgbClr val="FFFFFF"/>
                </a:solidFill>
                <a:latin typeface="Segoe UI"/>
              </a:defRPr>
            </a:pPr>
            <a:r>
              <a:t>The Outcome</a:t>
            </a:r>
          </a:p>
        </p:txBody>
      </p:sp>
      <p:sp>
        <p:nvSpPr>
          <p:cNvPr id="38" name="Rounded Rectangle 37"/>
          <p:cNvSpPr/>
          <p:nvPr/>
        </p:nvSpPr>
        <p:spPr>
          <a:xfrm>
            <a:off x="6446520" y="4846320"/>
            <a:ext cx="502920" cy="502920"/>
          </a:xfrm>
          <a:prstGeom prst="roundRect">
            <a:avLst/>
          </a:prstGeom>
          <a:solidFill>
            <a:srgbClr val="1E243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3</a:t>
            </a:r>
          </a:p>
        </p:txBody>
      </p:sp>
      <p:sp>
        <p:nvSpPr>
          <p:cNvPr id="39" name="TextBox 38"/>
          <p:cNvSpPr txBox="1"/>
          <p:nvPr/>
        </p:nvSpPr>
        <p:spPr>
          <a:xfrm>
            <a:off x="7086600" y="4846320"/>
            <a:ext cx="4206240" cy="822960"/>
          </a:xfrm>
          <a:prstGeom prst="rect">
            <a:avLst/>
          </a:prstGeom>
          <a:noFill/>
        </p:spPr>
        <p:txBody>
          <a:bodyPr wrap="square">
            <a:spAutoFit/>
          </a:bodyPr>
          <a:lstStyle/>
          <a:p>
            <a:pPr>
              <a:defRPr sz="1050">
                <a:solidFill>
                  <a:srgbClr val="A0AFC8"/>
                </a:solidFill>
                <a:latin typeface="Segoe UI"/>
              </a:defRPr>
            </a:pPr>
            <a:r>
              <a:t>OS regains CPU control, invokes the scheduler, enforces time-sharing, then resumes the user program.</a:t>
            </a:r>
          </a:p>
        </p:txBody>
      </p:sp>
    </p:spTree>
  </p:cSld>
  <p:clrMapOvr>
    <a:masterClrMapping/>
  </p:clrMapOvr>
  <p:transition xmlns:p14="http://schemas.microsoft.com/office/powerpoint/2010/main" spd="med" dur="1500">
    <p14:morph option="byObject"/>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MULTIPROCESSORS &amp; I/O</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10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Storage Hierarchy</a:t>
            </a:r>
          </a:p>
        </p:txBody>
      </p:sp>
      <p:sp>
        <p:nvSpPr>
          <p:cNvPr id="7" name="Rounded Rectangle 6"/>
          <p:cNvSpPr/>
          <p:nvPr/>
        </p:nvSpPr>
        <p:spPr>
          <a:xfrm>
            <a:off x="7315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862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Registers &amp; Cache</a:t>
            </a:r>
          </a:p>
        </p:txBody>
      </p:sp>
      <p:sp>
        <p:nvSpPr>
          <p:cNvPr id="11" name="Rounded Rectangle 10"/>
          <p:cNvSpPr/>
          <p:nvPr/>
        </p:nvSpPr>
        <p:spPr>
          <a:xfrm>
            <a:off x="950976" y="1920240"/>
            <a:ext cx="822960" cy="320040"/>
          </a:xfrm>
          <a:prstGeom prst="roundRect">
            <a:avLst/>
          </a:prstGeom>
          <a:solidFill>
            <a:srgbClr val="1E243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Segoe UI"/>
              </a:defRPr>
            </a:pPr>
            <a:r>
              <a:t>CPU</a:t>
            </a:r>
          </a:p>
        </p:txBody>
      </p:sp>
      <p:sp>
        <p:nvSpPr>
          <p:cNvPr id="12" name="TextBox 11"/>
          <p:cNvSpPr txBox="1"/>
          <p:nvPr/>
        </p:nvSpPr>
        <p:spPr>
          <a:xfrm>
            <a:off x="950976" y="2377440"/>
            <a:ext cx="2971800" cy="2926080"/>
          </a:xfrm>
          <a:prstGeom prst="rect">
            <a:avLst/>
          </a:prstGeom>
          <a:noFill/>
        </p:spPr>
        <p:txBody>
          <a:bodyPr wrap="square">
            <a:spAutoFit/>
          </a:bodyPr>
          <a:lstStyle/>
          <a:p>
            <a:pPr>
              <a:defRPr sz="1100">
                <a:solidFill>
                  <a:srgbClr val="A0AFC8"/>
                </a:solidFill>
                <a:latin typeface="Segoe UI"/>
              </a:defRPr>
            </a:pPr>
            <a:r>
              <a:t>Fastest, most expensive storage. CPU registers are directly inside the processor; L1/L2/L3 cache sits between registers and main memory.</a:t>
            </a:r>
            <a:br/>
            <a:br/>
            <a:r>
              <a:t>Volatile — data lost on power off.</a:t>
            </a:r>
          </a:p>
        </p:txBody>
      </p:sp>
      <p:sp>
        <p:nvSpPr>
          <p:cNvPr id="13" name="Rounded Rectangle 12"/>
          <p:cNvSpPr/>
          <p:nvPr/>
        </p:nvSpPr>
        <p:spPr>
          <a:xfrm>
            <a:off x="43891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1463040"/>
            <a:ext cx="73152" cy="40233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15361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5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Main Memory (RAM)</a:t>
            </a:r>
          </a:p>
        </p:txBody>
      </p:sp>
      <p:sp>
        <p:nvSpPr>
          <p:cNvPr id="17" name="Rounded Rectangle 16"/>
          <p:cNvSpPr/>
          <p:nvPr/>
        </p:nvSpPr>
        <p:spPr>
          <a:xfrm>
            <a:off x="4608576" y="1920240"/>
            <a:ext cx="822960" cy="320040"/>
          </a:xfrm>
          <a:prstGeom prst="roundRect">
            <a:avLst/>
          </a:prstGeom>
          <a:solidFill>
            <a:srgbClr val="1E2434"/>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4D399"/>
                </a:solidFill>
                <a:latin typeface="Segoe UI"/>
              </a:defRPr>
            </a:pPr>
            <a:r>
              <a:t>RAM</a:t>
            </a:r>
          </a:p>
        </p:txBody>
      </p:sp>
      <p:sp>
        <p:nvSpPr>
          <p:cNvPr id="18" name="TextBox 17"/>
          <p:cNvSpPr txBox="1"/>
          <p:nvPr/>
        </p:nvSpPr>
        <p:spPr>
          <a:xfrm>
            <a:off x="4608576" y="2377440"/>
            <a:ext cx="2971800" cy="2926080"/>
          </a:xfrm>
          <a:prstGeom prst="rect">
            <a:avLst/>
          </a:prstGeom>
          <a:noFill/>
        </p:spPr>
        <p:txBody>
          <a:bodyPr wrap="square">
            <a:spAutoFit/>
          </a:bodyPr>
          <a:lstStyle/>
          <a:p>
            <a:pPr>
              <a:defRPr sz="1100">
                <a:solidFill>
                  <a:srgbClr val="A0AFC8"/>
                </a:solidFill>
                <a:latin typeface="Segoe UI"/>
              </a:defRPr>
            </a:pPr>
            <a:r>
              <a:t>Programs must be loaded here for execution. Directly accessible by the processor via the memory bus.</a:t>
            </a:r>
            <a:br/>
            <a:br/>
            <a:r>
              <a:t>Volatile — larger capacity but slower than cache.</a:t>
            </a:r>
          </a:p>
        </p:txBody>
      </p:sp>
      <p:sp>
        <p:nvSpPr>
          <p:cNvPr id="19" name="Rounded Rectangle 18"/>
          <p:cNvSpPr/>
          <p:nvPr/>
        </p:nvSpPr>
        <p:spPr>
          <a:xfrm>
            <a:off x="80467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0" y="1463040"/>
            <a:ext cx="73152" cy="402336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2014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Secondary &amp; Tertiary</a:t>
            </a:r>
          </a:p>
        </p:txBody>
      </p:sp>
      <p:sp>
        <p:nvSpPr>
          <p:cNvPr id="23" name="Rounded Rectangle 22"/>
          <p:cNvSpPr/>
          <p:nvPr/>
        </p:nvSpPr>
        <p:spPr>
          <a:xfrm>
            <a:off x="8266176" y="1920240"/>
            <a:ext cx="822960" cy="320040"/>
          </a:xfrm>
          <a:prstGeom prst="roundRect">
            <a:avLst/>
          </a:prstGeom>
          <a:solidFill>
            <a:srgbClr val="1E2434"/>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818CF8"/>
                </a:solidFill>
                <a:latin typeface="Segoe UI"/>
              </a:defRPr>
            </a:pPr>
            <a:r>
              <a:t>SSD</a:t>
            </a:r>
          </a:p>
        </p:txBody>
      </p:sp>
      <p:sp>
        <p:nvSpPr>
          <p:cNvPr id="24" name="TextBox 23"/>
          <p:cNvSpPr txBox="1"/>
          <p:nvPr/>
        </p:nvSpPr>
        <p:spPr>
          <a:xfrm>
            <a:off x="8266176" y="2377440"/>
            <a:ext cx="2971800" cy="2926080"/>
          </a:xfrm>
          <a:prstGeom prst="rect">
            <a:avLst/>
          </a:prstGeom>
          <a:noFill/>
        </p:spPr>
        <p:txBody>
          <a:bodyPr wrap="square">
            <a:spAutoFit/>
          </a:bodyPr>
          <a:lstStyle/>
          <a:p>
            <a:pPr>
              <a:defRPr sz="1100">
                <a:solidFill>
                  <a:srgbClr val="A0AFC8"/>
                </a:solidFill>
                <a:latin typeface="Segoe UI"/>
              </a:defRPr>
            </a:pPr>
            <a:r>
              <a:t>HDDs and NVM devices (SSDs) provide large, nonvolatile capacity.</a:t>
            </a:r>
            <a:br/>
            <a:br/>
            <a:r>
              <a:t>Magnetic tapes and optical disks serve as tertiary backup storage for special archiving.</a:t>
            </a:r>
          </a:p>
        </p:txBody>
      </p:sp>
      <p:sp>
        <p:nvSpPr>
          <p:cNvPr id="25" name="Rounded Rectangle 24"/>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Key Trade-off: </a:t>
            </a:r>
            <a:r>
              <a:rPr sz="1050">
                <a:solidFill>
                  <a:srgbClr val="FFFFFF"/>
                </a:solidFill>
                <a:latin typeface="Segoe UI"/>
              </a:rPr>
              <a:t>Faster memory is more expensive per bit. The storage hierarchy balances speed, cost, and capacity across every level.</a:t>
            </a:r>
          </a:p>
        </p:txBody>
      </p:sp>
    </p:spTree>
  </p:cSld>
  <p:clrMapOvr>
    <a:masterClrMapping/>
  </p:clrMapOvr>
  <p:transition xmlns:p14="http://schemas.microsoft.com/office/powerpoint/2010/main" spd="med" dur="1500">
    <p14:morph option="byObject"/>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MULTIPROCESSORS &amp; I/O</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11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I/O Structure &amp; Direct Memory Access (DMA)</a:t>
            </a:r>
          </a:p>
        </p:txBody>
      </p:sp>
      <p:sp>
        <p:nvSpPr>
          <p:cNvPr id="7" name="Rounded Rectangle 6"/>
          <p:cNvSpPr/>
          <p:nvPr/>
        </p:nvSpPr>
        <p:spPr>
          <a:xfrm>
            <a:off x="731520" y="1463040"/>
            <a:ext cx="3383280" cy="2926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292608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862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Device Controllers</a:t>
            </a:r>
          </a:p>
        </p:txBody>
      </p:sp>
      <p:sp>
        <p:nvSpPr>
          <p:cNvPr id="11" name="TextBox 10"/>
          <p:cNvSpPr txBox="1"/>
          <p:nvPr/>
        </p:nvSpPr>
        <p:spPr>
          <a:xfrm>
            <a:off x="950976" y="1920240"/>
            <a:ext cx="2971800" cy="2377440"/>
          </a:xfrm>
          <a:prstGeom prst="rect">
            <a:avLst/>
          </a:prstGeom>
          <a:noFill/>
        </p:spPr>
        <p:txBody>
          <a:bodyPr wrap="square">
            <a:spAutoFit/>
          </a:bodyPr>
          <a:lstStyle/>
          <a:p>
            <a:pPr>
              <a:defRPr sz="1100" b="1">
                <a:solidFill>
                  <a:srgbClr val="38BDF8"/>
                </a:solidFill>
                <a:latin typeface="Segoe UI"/>
              </a:defRPr>
            </a:pPr>
            <a:r>
              <a:t>Dedicated Hardware: </a:t>
            </a:r>
            <a:r>
              <a:rPr sz="1000" b="0">
                <a:solidFill>
                  <a:srgbClr val="A0AFC8"/>
                </a:solidFill>
                <a:latin typeface="Segoe UI"/>
              </a:rPr>
              <a:t>Hardware unit managing specific device types (disk, keyboard, network).</a:t>
            </a:r>
          </a:p>
          <a:p>
            <a:pPr>
              <a:spcBef>
                <a:spcPts val="400"/>
              </a:spcBef>
              <a:defRPr sz="1100" b="1">
                <a:solidFill>
                  <a:srgbClr val="38BDF8"/>
                </a:solidFill>
                <a:latin typeface="Segoe UI"/>
              </a:defRPr>
            </a:pPr>
            <a:r>
              <a:t>Local Buffers: </a:t>
            </a:r>
            <a:r>
              <a:rPr sz="1000" b="0">
                <a:solidFill>
                  <a:srgbClr val="A0AFC8"/>
                </a:solidFill>
                <a:latin typeface="Segoe UI"/>
              </a:rPr>
              <a:t>Maintains local buffer storage and control registers for data staging.</a:t>
            </a:r>
          </a:p>
          <a:p>
            <a:pPr>
              <a:spcBef>
                <a:spcPts val="400"/>
              </a:spcBef>
              <a:defRPr sz="1100" b="1">
                <a:solidFill>
                  <a:srgbClr val="38BDF8"/>
                </a:solidFill>
                <a:latin typeface="Segoe UI"/>
              </a:defRPr>
            </a:pPr>
            <a:r>
              <a:t>Autonomous: </a:t>
            </a:r>
            <a:r>
              <a:rPr sz="1000" b="0">
                <a:solidFill>
                  <a:srgbClr val="A0AFC8"/>
                </a:solidFill>
                <a:latin typeface="Segoe UI"/>
              </a:rPr>
              <a:t>Moves data between device and local buffer independently.</a:t>
            </a:r>
          </a:p>
        </p:txBody>
      </p:sp>
      <p:sp>
        <p:nvSpPr>
          <p:cNvPr id="12" name="Rounded Rectangle 11"/>
          <p:cNvSpPr/>
          <p:nvPr/>
        </p:nvSpPr>
        <p:spPr>
          <a:xfrm>
            <a:off x="4389120" y="1463040"/>
            <a:ext cx="3383280" cy="2926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463040"/>
            <a:ext cx="73152" cy="292608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Device Drivers</a:t>
            </a:r>
          </a:p>
        </p:txBody>
      </p:sp>
      <p:sp>
        <p:nvSpPr>
          <p:cNvPr id="16" name="TextBox 15"/>
          <p:cNvSpPr txBox="1"/>
          <p:nvPr/>
        </p:nvSpPr>
        <p:spPr>
          <a:xfrm>
            <a:off x="4608576" y="1920240"/>
            <a:ext cx="2971800" cy="2377440"/>
          </a:xfrm>
          <a:prstGeom prst="rect">
            <a:avLst/>
          </a:prstGeom>
          <a:noFill/>
        </p:spPr>
        <p:txBody>
          <a:bodyPr wrap="square">
            <a:spAutoFit/>
          </a:bodyPr>
          <a:lstStyle/>
          <a:p>
            <a:pPr>
              <a:defRPr sz="1100" b="1">
                <a:solidFill>
                  <a:srgbClr val="818CF8"/>
                </a:solidFill>
                <a:latin typeface="Segoe UI"/>
              </a:defRPr>
            </a:pPr>
            <a:r>
              <a:t>Software Interface: </a:t>
            </a:r>
            <a:r>
              <a:rPr sz="1000" b="0">
                <a:solidFill>
                  <a:srgbClr val="A0AFC8"/>
                </a:solidFill>
                <a:latin typeface="Segoe UI"/>
              </a:rPr>
              <a:t>OS module understanding controller register protocols.</a:t>
            </a:r>
          </a:p>
          <a:p>
            <a:pPr>
              <a:spcBef>
                <a:spcPts val="400"/>
              </a:spcBef>
              <a:defRPr sz="1100" b="1">
                <a:solidFill>
                  <a:srgbClr val="818CF8"/>
                </a:solidFill>
                <a:latin typeface="Segoe UI"/>
              </a:defRPr>
            </a:pPr>
            <a:r>
              <a:t>Uniform Interface: </a:t>
            </a:r>
            <a:r>
              <a:rPr sz="1000" b="0">
                <a:solidFill>
                  <a:srgbClr val="A0AFC8"/>
                </a:solidFill>
                <a:latin typeface="Segoe UI"/>
              </a:rPr>
              <a:t>Presents a clean, uniform I/O interface to the rest of the OS.</a:t>
            </a:r>
          </a:p>
          <a:p>
            <a:pPr>
              <a:spcBef>
                <a:spcPts val="400"/>
              </a:spcBef>
              <a:defRPr sz="1100" b="1">
                <a:solidFill>
                  <a:srgbClr val="818CF8"/>
                </a:solidFill>
                <a:latin typeface="Segoe UI"/>
              </a:defRPr>
            </a:pPr>
            <a:r>
              <a:t>Register Dispatch: </a:t>
            </a:r>
            <a:r>
              <a:rPr sz="1000" b="0">
                <a:solidFill>
                  <a:srgbClr val="A0AFC8"/>
                </a:solidFill>
                <a:latin typeface="Segoe UI"/>
              </a:rPr>
              <a:t>Writes command registers to initiate physical I/O.</a:t>
            </a:r>
          </a:p>
        </p:txBody>
      </p:sp>
      <p:sp>
        <p:nvSpPr>
          <p:cNvPr id="17" name="Rounded Rectangle 16"/>
          <p:cNvSpPr/>
          <p:nvPr/>
        </p:nvSpPr>
        <p:spPr>
          <a:xfrm>
            <a:off x="8046720" y="1463040"/>
            <a:ext cx="3383280" cy="2926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1463040"/>
            <a:ext cx="73152" cy="292608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201400" y="15361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Direct Memory Access (DMA)</a:t>
            </a:r>
          </a:p>
        </p:txBody>
      </p:sp>
      <p:sp>
        <p:nvSpPr>
          <p:cNvPr id="21" name="TextBox 20"/>
          <p:cNvSpPr txBox="1"/>
          <p:nvPr/>
        </p:nvSpPr>
        <p:spPr>
          <a:xfrm>
            <a:off x="8266176" y="1920240"/>
            <a:ext cx="2971800" cy="2377440"/>
          </a:xfrm>
          <a:prstGeom prst="rect">
            <a:avLst/>
          </a:prstGeom>
          <a:noFill/>
        </p:spPr>
        <p:txBody>
          <a:bodyPr wrap="square">
            <a:spAutoFit/>
          </a:bodyPr>
          <a:lstStyle/>
          <a:p>
            <a:pPr>
              <a:defRPr sz="1100" b="1">
                <a:solidFill>
                  <a:srgbClr val="34D399"/>
                </a:solidFill>
                <a:latin typeface="Segoe UI"/>
              </a:defRPr>
            </a:pPr>
            <a:r>
              <a:t>High-Speed Devices: </a:t>
            </a:r>
            <a:r>
              <a:rPr sz="1000" b="0">
                <a:solidFill>
                  <a:srgbClr val="A0AFC8"/>
                </a:solidFill>
                <a:latin typeface="Segoe UI"/>
              </a:rPr>
              <a:t>Essential for high-throughput disk and network interfaces.</a:t>
            </a:r>
          </a:p>
          <a:p>
            <a:pPr>
              <a:spcBef>
                <a:spcPts val="400"/>
              </a:spcBef>
              <a:defRPr sz="1100" b="1">
                <a:solidFill>
                  <a:srgbClr val="34D399"/>
                </a:solidFill>
                <a:latin typeface="Segoe UI"/>
              </a:defRPr>
            </a:pPr>
            <a:r>
              <a:t>CPU Bypass: </a:t>
            </a:r>
            <a:r>
              <a:rPr sz="1000" b="0">
                <a:solidFill>
                  <a:srgbClr val="A0AFC8"/>
                </a:solidFill>
                <a:latin typeface="Segoe UI"/>
              </a:rPr>
              <a:t>Transfers whole data blocks directly between buffer and RAM.</a:t>
            </a:r>
          </a:p>
          <a:p>
            <a:pPr>
              <a:spcBef>
                <a:spcPts val="400"/>
              </a:spcBef>
              <a:defRPr sz="1100" b="1">
                <a:solidFill>
                  <a:srgbClr val="34D399"/>
                </a:solidFill>
                <a:latin typeface="Segoe UI"/>
              </a:defRPr>
            </a:pPr>
            <a:r>
              <a:t>Single Interrupt per Block: </a:t>
            </a:r>
            <a:r>
              <a:rPr sz="1000" b="0">
                <a:solidFill>
                  <a:srgbClr val="A0AFC8"/>
                </a:solidFill>
                <a:latin typeface="Segoe UI"/>
              </a:rPr>
              <a:t>Generates only one interrupt per block instead of one per byte.</a:t>
            </a:r>
          </a:p>
        </p:txBody>
      </p:sp>
      <p:sp>
        <p:nvSpPr>
          <p:cNvPr id="22" name="Rounded Rectangle 21"/>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897880"/>
            <a:ext cx="10332720" cy="411480"/>
          </a:xfrm>
          <a:prstGeom prst="rect">
            <a:avLst/>
          </a:prstGeom>
          <a:noFill/>
        </p:spPr>
        <p:txBody>
          <a:bodyPr wrap="square" lIns="0" tIns="0" rIns="0" bIns="0">
            <a:spAutoFit/>
          </a:bodyPr>
          <a:lstStyle/>
          <a:p>
            <a:r>
              <a:rPr sz="1050" b="1">
                <a:solidFill>
                  <a:srgbClr val="34D399"/>
                </a:solidFill>
                <a:latin typeface="Segoe UI"/>
              </a:rPr>
              <a:t>□ I/O Execution Cycle: </a:t>
            </a:r>
            <a:r>
              <a:rPr sz="1050">
                <a:solidFill>
                  <a:srgbClr val="FFFFFF"/>
                </a:solidFill>
                <a:latin typeface="Segoe UI"/>
              </a:rPr>
              <a:t>Application request → Driver loads registers → Controller stages buffer → DMA block transfer → Interrupt completion.</a:t>
            </a:r>
          </a:p>
        </p:txBody>
      </p:sp>
    </p:spTree>
  </p:cSld>
  <p:clrMapOvr>
    <a:masterClrMapping/>
  </p:clrMapOvr>
  <p:transition xmlns:p14="http://schemas.microsoft.com/office/powerpoint/2010/main" spd="med" dur="1500">
    <p14:morph option="byObject"/>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MULTIPROCESSORS &amp; I/O</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12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Multiprocessor Systems: SMP vs NUMA</a:t>
            </a:r>
          </a:p>
        </p:txBody>
      </p:sp>
      <p:sp>
        <p:nvSpPr>
          <p:cNvPr id="7" name="Rounded Rectangle 6"/>
          <p:cNvSpPr/>
          <p:nvPr/>
        </p:nvSpPr>
        <p:spPr>
          <a:xfrm>
            <a:off x="731520" y="1463040"/>
            <a:ext cx="10728655"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246888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575"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10362895" cy="320040"/>
          </a:xfrm>
          <a:prstGeom prst="rect">
            <a:avLst/>
          </a:prstGeom>
          <a:noFill/>
        </p:spPr>
        <p:txBody>
          <a:bodyPr wrap="square" lIns="0" tIns="0" rIns="0" bIns="0">
            <a:spAutoFit/>
          </a:bodyPr>
          <a:lstStyle/>
          <a:p>
            <a:pPr>
              <a:defRPr sz="1300" b="1">
                <a:solidFill>
                  <a:srgbClr val="FFFFFF"/>
                </a:solidFill>
                <a:latin typeface="Segoe UI"/>
              </a:defRPr>
            </a:pPr>
            <a:r>
              <a:t>Direct Architectural Comparison: SMP vs NUMA</a:t>
            </a:r>
          </a:p>
        </p:txBody>
      </p:sp>
      <p:graphicFrame>
        <p:nvGraphicFramePr>
          <p:cNvPr id="11" name="Table 10"/>
          <p:cNvGraphicFramePr>
            <a:graphicFrameLocks noGrp="1"/>
          </p:cNvGraphicFramePr>
          <p:nvPr/>
        </p:nvGraphicFramePr>
        <p:xfrm>
          <a:off x="1005840" y="1828800"/>
          <a:ext cx="10149839" cy="1920240"/>
        </p:xfrm>
        <a:graphic>
          <a:graphicData uri="http://schemas.openxmlformats.org/drawingml/2006/table">
            <a:tbl>
              <a:tblPr firstRow="1" bandRow="1">
                <a:tableStyleId>{5C22544A-7EE6-4342-B048-85BDC9FD1C3A}</a:tableStyleId>
              </a:tblPr>
              <a:tblGrid>
                <a:gridCol w="2560320"/>
                <a:gridCol w="3749039"/>
                <a:gridCol w="3840480"/>
              </a:tblGrid>
              <a:tr h="480060">
                <a:tc>
                  <a:txBody>
                    <a:bodyPr/>
                    <a:lstStyle/>
                    <a:p>
                      <a:pPr>
                        <a:defRPr sz="1050" b="1">
                          <a:solidFill>
                            <a:srgbClr val="38BDF8"/>
                          </a:solidFill>
                          <a:latin typeface="Segoe UI"/>
                        </a:defRPr>
                      </a:pPr>
                      <a:r>
                        <a:t>Architectural Feature</a:t>
                      </a:r>
                    </a:p>
                  </a:txBody>
                  <a:tcPr>
                    <a:solidFill>
                      <a:srgbClr val="232A3C"/>
                    </a:solidFill>
                  </a:tcPr>
                </a:tc>
                <a:tc>
                  <a:txBody>
                    <a:bodyPr/>
                    <a:lstStyle/>
                    <a:p>
                      <a:pPr>
                        <a:defRPr sz="1050" b="1">
                          <a:solidFill>
                            <a:srgbClr val="38BDF8"/>
                          </a:solidFill>
                          <a:latin typeface="Segoe UI"/>
                        </a:defRPr>
                      </a:pPr>
                      <a:r>
                        <a:t>Symmetric Multiprocessing (SMP / UMA)</a:t>
                      </a:r>
                    </a:p>
                  </a:txBody>
                  <a:tcPr>
                    <a:solidFill>
                      <a:srgbClr val="232A3C"/>
                    </a:solidFill>
                  </a:tcPr>
                </a:tc>
                <a:tc>
                  <a:txBody>
                    <a:bodyPr/>
                    <a:lstStyle/>
                    <a:p>
                      <a:pPr>
                        <a:defRPr sz="1050" b="1">
                          <a:solidFill>
                            <a:srgbClr val="38BDF8"/>
                          </a:solidFill>
                          <a:latin typeface="Segoe UI"/>
                        </a:defRPr>
                      </a:pPr>
                      <a:r>
                        <a:t>Non-Uniform Memory Access (NUMA)</a:t>
                      </a:r>
                    </a:p>
                  </a:txBody>
                  <a:tcPr>
                    <a:solidFill>
                      <a:srgbClr val="232A3C"/>
                    </a:solidFill>
                  </a:tcPr>
                </a:tc>
              </a:tr>
              <a:tr h="480060">
                <a:tc>
                  <a:txBody>
                    <a:bodyPr/>
                    <a:lstStyle/>
                    <a:p>
                      <a:pPr>
                        <a:defRPr sz="1000" b="1">
                          <a:solidFill>
                            <a:srgbClr val="FFFFFF"/>
                          </a:solidFill>
                          <a:latin typeface="Segoe UI"/>
                        </a:defRPr>
                      </a:pPr>
                      <a:r>
                        <a:t>Memory Access Time</a:t>
                      </a:r>
                    </a:p>
                  </a:txBody>
                  <a:tcPr>
                    <a:solidFill>
                      <a:srgbClr val="161A26"/>
                    </a:solidFill>
                  </a:tcPr>
                </a:tc>
                <a:tc>
                  <a:txBody>
                    <a:bodyPr/>
                    <a:lstStyle/>
                    <a:p>
                      <a:pPr>
                        <a:defRPr sz="1000" b="0">
                          <a:solidFill>
                            <a:srgbClr val="A0AFC8"/>
                          </a:solidFill>
                          <a:latin typeface="Segoe UI"/>
                        </a:defRPr>
                      </a:pPr>
                      <a:r>
                        <a:t>Uniform access time across all CPUs / cores.</a:t>
                      </a:r>
                    </a:p>
                  </a:txBody>
                  <a:tcPr>
                    <a:solidFill>
                      <a:srgbClr val="161A26"/>
                    </a:solidFill>
                  </a:tcPr>
                </a:tc>
                <a:tc>
                  <a:txBody>
                    <a:bodyPr/>
                    <a:lstStyle/>
                    <a:p>
                      <a:pPr>
                        <a:defRPr sz="1000" b="0">
                          <a:solidFill>
                            <a:srgbClr val="A0AFC8"/>
                          </a:solidFill>
                          <a:latin typeface="Segoe UI"/>
                        </a:defRPr>
                      </a:pPr>
                      <a:r>
                        <a:t>Non-uniform: Local memory is fast; remote memory is slower.</a:t>
                      </a:r>
                    </a:p>
                  </a:txBody>
                  <a:tcPr>
                    <a:solidFill>
                      <a:srgbClr val="161A26"/>
                    </a:solidFill>
                  </a:tcPr>
                </a:tc>
              </a:tr>
              <a:tr h="480060">
                <a:tc>
                  <a:txBody>
                    <a:bodyPr/>
                    <a:lstStyle/>
                    <a:p>
                      <a:pPr>
                        <a:defRPr sz="1000" b="1">
                          <a:solidFill>
                            <a:srgbClr val="FFFFFF"/>
                          </a:solidFill>
                          <a:latin typeface="Segoe UI"/>
                        </a:defRPr>
                      </a:pPr>
                      <a:r>
                        <a:t>System Interconnect</a:t>
                      </a:r>
                    </a:p>
                  </a:txBody>
                  <a:tcPr>
                    <a:solidFill>
                      <a:srgbClr val="161A26"/>
                    </a:solidFill>
                  </a:tcPr>
                </a:tc>
                <a:tc>
                  <a:txBody>
                    <a:bodyPr/>
                    <a:lstStyle/>
                    <a:p>
                      <a:pPr>
                        <a:defRPr sz="1000" b="0">
                          <a:solidFill>
                            <a:srgbClr val="A0AFC8"/>
                          </a:solidFill>
                          <a:latin typeface="Segoe UI"/>
                        </a:defRPr>
                      </a:pPr>
                      <a:r>
                        <a:t>Single shared system bus connecting all CPUs to RAM.</a:t>
                      </a:r>
                    </a:p>
                  </a:txBody>
                  <a:tcPr>
                    <a:solidFill>
                      <a:srgbClr val="161A26"/>
                    </a:solidFill>
                  </a:tcPr>
                </a:tc>
                <a:tc>
                  <a:txBody>
                    <a:bodyPr/>
                    <a:lstStyle/>
                    <a:p>
                      <a:pPr>
                        <a:defRPr sz="1000" b="0">
                          <a:solidFill>
                            <a:srgbClr val="A0AFC8"/>
                          </a:solidFill>
                          <a:latin typeface="Segoe UI"/>
                        </a:defRPr>
                      </a:pPr>
                      <a:r>
                        <a:t>Point-to-point interconnect linking distributed nodes.</a:t>
                      </a:r>
                    </a:p>
                  </a:txBody>
                  <a:tcPr>
                    <a:solidFill>
                      <a:srgbClr val="161A26"/>
                    </a:solidFill>
                  </a:tcPr>
                </a:tc>
              </a:tr>
              <a:tr h="480060">
                <a:tc>
                  <a:txBody>
                    <a:bodyPr/>
                    <a:lstStyle/>
                    <a:p>
                      <a:pPr>
                        <a:defRPr sz="1000" b="1">
                          <a:solidFill>
                            <a:srgbClr val="FFFFFF"/>
                          </a:solidFill>
                          <a:latin typeface="Segoe UI"/>
                        </a:defRPr>
                      </a:pPr>
                      <a:r>
                        <a:t>Scalability &amp; OS Role</a:t>
                      </a:r>
                    </a:p>
                  </a:txBody>
                  <a:tcPr>
                    <a:solidFill>
                      <a:srgbClr val="161A26"/>
                    </a:solidFill>
                  </a:tcPr>
                </a:tc>
                <a:tc>
                  <a:txBody>
                    <a:bodyPr/>
                    <a:lstStyle/>
                    <a:p>
                      <a:pPr>
                        <a:defRPr sz="1000" b="0">
                          <a:solidFill>
                            <a:srgbClr val="A0AFC8"/>
                          </a:solidFill>
                          <a:latin typeface="Segoe UI"/>
                        </a:defRPr>
                      </a:pPr>
                      <a:r>
                        <a:t>Scalability limited by shared bus contention.</a:t>
                      </a:r>
                    </a:p>
                  </a:txBody>
                  <a:tcPr>
                    <a:solidFill>
                      <a:srgbClr val="161A26"/>
                    </a:solidFill>
                  </a:tcPr>
                </a:tc>
                <a:tc>
                  <a:txBody>
                    <a:bodyPr/>
                    <a:lstStyle/>
                    <a:p>
                      <a:pPr>
                        <a:defRPr sz="1000" b="0">
                          <a:solidFill>
                            <a:srgbClr val="A0AFC8"/>
                          </a:solidFill>
                          <a:latin typeface="Segoe UI"/>
                        </a:defRPr>
                      </a:pPr>
                      <a:r>
                        <a:t>Highly scalable; OS must optimize thread memory locality.</a:t>
                      </a:r>
                    </a:p>
                  </a:txBody>
                  <a:tcPr>
                    <a:solidFill>
                      <a:srgbClr val="161A26"/>
                    </a:solidFill>
                  </a:tcPr>
                </a:tc>
              </a:tr>
            </a:tbl>
          </a:graphicData>
        </a:graphic>
      </p:graphicFrame>
      <p:sp>
        <p:nvSpPr>
          <p:cNvPr id="12" name="Rounded Rectangle 11"/>
          <p:cNvSpPr/>
          <p:nvPr/>
        </p:nvSpPr>
        <p:spPr>
          <a:xfrm>
            <a:off x="731520" y="4114800"/>
            <a:ext cx="5212080" cy="20116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114800"/>
            <a:ext cx="73152" cy="20116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15000" y="418795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4251960"/>
            <a:ext cx="4846320" cy="320040"/>
          </a:xfrm>
          <a:prstGeom prst="rect">
            <a:avLst/>
          </a:prstGeom>
          <a:noFill/>
        </p:spPr>
        <p:txBody>
          <a:bodyPr wrap="square" lIns="0" tIns="0" rIns="0" bIns="0">
            <a:spAutoFit/>
          </a:bodyPr>
          <a:lstStyle/>
          <a:p>
            <a:pPr>
              <a:defRPr sz="1300" b="1">
                <a:solidFill>
                  <a:srgbClr val="FFFFFF"/>
                </a:solidFill>
                <a:latin typeface="Segoe UI"/>
              </a:defRPr>
            </a:pPr>
            <a:r>
              <a:t>The NUMA Latency Trade-Off</a:t>
            </a:r>
          </a:p>
        </p:txBody>
      </p:sp>
      <p:sp>
        <p:nvSpPr>
          <p:cNvPr id="16" name="TextBox 15"/>
          <p:cNvSpPr txBox="1"/>
          <p:nvPr/>
        </p:nvSpPr>
        <p:spPr>
          <a:xfrm>
            <a:off x="960120" y="4480560"/>
            <a:ext cx="4754880" cy="1463040"/>
          </a:xfrm>
          <a:prstGeom prst="rect">
            <a:avLst/>
          </a:prstGeom>
          <a:noFill/>
        </p:spPr>
        <p:txBody>
          <a:bodyPr wrap="square">
            <a:spAutoFit/>
          </a:bodyPr>
          <a:lstStyle/>
          <a:p>
            <a:pPr>
              <a:defRPr sz="1100" b="1">
                <a:solidFill>
                  <a:srgbClr val="FFFFFF"/>
                </a:solidFill>
                <a:latin typeface="Segoe UI"/>
              </a:defRPr>
            </a:pPr>
            <a:r>
              <a:t>• Local Memory Access: </a:t>
            </a:r>
            <a:r>
              <a:rPr sz="1000" b="0">
                <a:solidFill>
                  <a:srgbClr val="A0AFC8"/>
                </a:solidFill>
                <a:latin typeface="Segoe UI"/>
              </a:rPr>
              <a:t>CPU directly accesses its own attached memory channel at minimum latency.</a:t>
            </a:r>
          </a:p>
          <a:p>
            <a:pPr>
              <a:spcBef>
                <a:spcPts val="300"/>
              </a:spcBef>
              <a:defRPr sz="1100" b="1">
                <a:solidFill>
                  <a:srgbClr val="FFFFFF"/>
                </a:solidFill>
                <a:latin typeface="Segoe UI"/>
              </a:defRPr>
            </a:pPr>
            <a:r>
              <a:t>• Remote Memory Access: </a:t>
            </a:r>
            <a:r>
              <a:rPr sz="1000" b="0">
                <a:solidFill>
                  <a:srgbClr val="A0AFC8"/>
                </a:solidFill>
                <a:latin typeface="Segoe UI"/>
              </a:rPr>
              <a:t>Accessing memory on another node incurs interconnect delays and increases penalty.</a:t>
            </a:r>
          </a:p>
        </p:txBody>
      </p:sp>
      <p:sp>
        <p:nvSpPr>
          <p:cNvPr id="17" name="Rounded Rectangle 16"/>
          <p:cNvSpPr/>
          <p:nvPr/>
        </p:nvSpPr>
        <p:spPr>
          <a:xfrm>
            <a:off x="6217920" y="4114800"/>
            <a:ext cx="5212080" cy="20116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4114800"/>
            <a:ext cx="73152" cy="201168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201400" y="418795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4251960"/>
            <a:ext cx="4846320" cy="320040"/>
          </a:xfrm>
          <a:prstGeom prst="rect">
            <a:avLst/>
          </a:prstGeom>
          <a:noFill/>
        </p:spPr>
        <p:txBody>
          <a:bodyPr wrap="square" lIns="0" tIns="0" rIns="0" bIns="0">
            <a:spAutoFit/>
          </a:bodyPr>
          <a:lstStyle/>
          <a:p>
            <a:pPr>
              <a:defRPr sz="1300" b="1">
                <a:solidFill>
                  <a:srgbClr val="FFFFFF"/>
                </a:solidFill>
                <a:latin typeface="Segoe UI"/>
              </a:defRPr>
            </a:pPr>
            <a:r>
              <a:t>OS NUMA Memory &amp; Thread Scheduling</a:t>
            </a:r>
          </a:p>
        </p:txBody>
      </p:sp>
      <p:sp>
        <p:nvSpPr>
          <p:cNvPr id="21" name="TextBox 20"/>
          <p:cNvSpPr txBox="1"/>
          <p:nvPr/>
        </p:nvSpPr>
        <p:spPr>
          <a:xfrm>
            <a:off x="6446520" y="4480560"/>
            <a:ext cx="4754880" cy="1463040"/>
          </a:xfrm>
          <a:prstGeom prst="rect">
            <a:avLst/>
          </a:prstGeom>
          <a:noFill/>
        </p:spPr>
        <p:txBody>
          <a:bodyPr wrap="square">
            <a:spAutoFit/>
          </a:bodyPr>
          <a:lstStyle/>
          <a:p>
            <a:pPr>
              <a:defRPr sz="1100" b="1">
                <a:solidFill>
                  <a:srgbClr val="FFFFFF"/>
                </a:solidFill>
                <a:latin typeface="Segoe UI"/>
              </a:defRPr>
            </a:pPr>
            <a:r>
              <a:t>• Thread Affinity: </a:t>
            </a:r>
            <a:r>
              <a:rPr sz="1000" b="0">
                <a:solidFill>
                  <a:srgbClr val="A0AFC8"/>
                </a:solidFill>
                <a:latin typeface="Segoe UI"/>
              </a:rPr>
              <a:t>The OS scheduler binds threads to CPU cores physically close to the thread's allocated memory.</a:t>
            </a:r>
          </a:p>
          <a:p>
            <a:pPr>
              <a:spcBef>
                <a:spcPts val="300"/>
              </a:spcBef>
              <a:defRPr sz="1100" b="1">
                <a:solidFill>
                  <a:srgbClr val="FFFFFF"/>
                </a:solidFill>
                <a:latin typeface="Segoe UI"/>
              </a:defRPr>
            </a:pPr>
            <a:r>
              <a:t>• Locality-Aware Allocation: </a:t>
            </a:r>
            <a:r>
              <a:rPr sz="1000" b="0">
                <a:solidFill>
                  <a:srgbClr val="A0AFC8"/>
                </a:solidFill>
                <a:latin typeface="Segoe UI"/>
              </a:rPr>
              <a:t>Memory managers prioritize allocating physical frames from the local NUMA node.</a:t>
            </a:r>
          </a:p>
        </p:txBody>
      </p:sp>
    </p:spTree>
  </p:cSld>
  <p:clrMapOvr>
    <a:masterClrMapping/>
  </p:clrMapOvr>
  <p:transition xmlns:p14="http://schemas.microsoft.com/office/powerpoint/2010/main" spd="med" dur="1500">
    <p14:morph option="byObject"/>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MULTIPROCESSORS &amp; I/O</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13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Clustered Systems Architecture</a:t>
            </a:r>
          </a:p>
        </p:txBody>
      </p:sp>
      <p:sp>
        <p:nvSpPr>
          <p:cNvPr id="7" name="Rounded Rectangle 6"/>
          <p:cNvSpPr/>
          <p:nvPr/>
        </p:nvSpPr>
        <p:spPr>
          <a:xfrm>
            <a:off x="731520" y="1463040"/>
            <a:ext cx="5212080" cy="43891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3891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Clustered Systems Architecture</a:t>
            </a:r>
          </a:p>
        </p:txBody>
      </p:sp>
      <p:sp>
        <p:nvSpPr>
          <p:cNvPr id="11" name="TextBox 10"/>
          <p:cNvSpPr txBox="1"/>
          <p:nvPr/>
        </p:nvSpPr>
        <p:spPr>
          <a:xfrm>
            <a:off x="960120" y="1920240"/>
            <a:ext cx="4754880" cy="3749039"/>
          </a:xfrm>
          <a:prstGeom prst="rect">
            <a:avLst/>
          </a:prstGeom>
          <a:noFill/>
        </p:spPr>
        <p:txBody>
          <a:bodyPr wrap="square">
            <a:spAutoFit/>
          </a:bodyPr>
          <a:lstStyle/>
          <a:p>
            <a:pPr>
              <a:defRPr sz="1100" b="1">
                <a:solidFill>
                  <a:srgbClr val="FFFFFF"/>
                </a:solidFill>
                <a:latin typeface="Segoe UI"/>
              </a:defRPr>
            </a:pPr>
            <a:r>
              <a:t>• Loosely Coupled Nodes:</a:t>
            </a:r>
            <a:br/>
            <a:r>
              <a:rPr sz="1000" b="0">
                <a:solidFill>
                  <a:srgbClr val="A0AFC8"/>
                </a:solidFill>
                <a:latin typeface="Segoe UI"/>
              </a:rPr>
              <a:t>Two or more individual computer systems/nodes connected via a high-speed network or SAN interconnect.</a:t>
            </a:r>
          </a:p>
          <a:p>
            <a:pPr>
              <a:spcBef>
                <a:spcPts val="400"/>
              </a:spcBef>
              <a:defRPr sz="1100" b="1">
                <a:solidFill>
                  <a:srgbClr val="FFFFFF"/>
                </a:solidFill>
                <a:latin typeface="Segoe UI"/>
              </a:defRPr>
            </a:pPr>
            <a:r>
              <a:t>• Shared Storage (SAN):</a:t>
            </a:r>
            <a:br/>
            <a:r>
              <a:rPr sz="1000" b="0">
                <a:solidFill>
                  <a:srgbClr val="A0AFC8"/>
                </a:solidFill>
                <a:latin typeface="Segoe UI"/>
              </a:rPr>
              <a:t>Nodes share a Storage Area Network, providing uniform data access across all machines.</a:t>
            </a:r>
          </a:p>
          <a:p>
            <a:pPr>
              <a:spcBef>
                <a:spcPts val="400"/>
              </a:spcBef>
              <a:defRPr sz="1100" b="1">
                <a:solidFill>
                  <a:srgbClr val="FFFFFF"/>
                </a:solidFill>
                <a:latin typeface="Segoe UI"/>
              </a:defRPr>
            </a:pPr>
            <a:r>
              <a:t>• High Availability &amp; Fault Tolerance:</a:t>
            </a:r>
            <a:br/>
            <a:r>
              <a:rPr sz="1000" b="0">
                <a:solidFill>
                  <a:srgbClr val="A0AFC8"/>
                </a:solidFill>
                <a:latin typeface="Segoe UI"/>
              </a:rPr>
              <a:t>Failure of any individual node does not interrupt service; remaining nodes take over the workload.</a:t>
            </a:r>
          </a:p>
          <a:p>
            <a:pPr>
              <a:spcBef>
                <a:spcPts val="400"/>
              </a:spcBef>
              <a:defRPr sz="1100" b="1">
                <a:solidFill>
                  <a:srgbClr val="FFFFFF"/>
                </a:solidFill>
                <a:latin typeface="Segoe UI"/>
              </a:defRPr>
            </a:pPr>
            <a:r>
              <a:t>• Asymmetric Clustering:</a:t>
            </a:r>
            <a:br/>
            <a:r>
              <a:rPr sz="1000" b="0">
                <a:solidFill>
                  <a:srgbClr val="A0AFC8"/>
                </a:solidFill>
                <a:latin typeface="Segoe UI"/>
              </a:rPr>
              <a:t>One machine runs applications while another remains in hot-standby mode monitoring the active server.</a:t>
            </a:r>
          </a:p>
          <a:p>
            <a:pPr>
              <a:spcBef>
                <a:spcPts val="400"/>
              </a:spcBef>
              <a:defRPr sz="1100" b="1">
                <a:solidFill>
                  <a:srgbClr val="FFFFFF"/>
                </a:solidFill>
                <a:latin typeface="Segoe UI"/>
              </a:defRPr>
            </a:pPr>
            <a:r>
              <a:t>• Symmetric Clustering:</a:t>
            </a:r>
            <a:br/>
            <a:r>
              <a:rPr sz="1000" b="0">
                <a:solidFill>
                  <a:srgbClr val="A0AFC8"/>
                </a:solidFill>
                <a:latin typeface="Segoe UI"/>
              </a:rPr>
              <a:t>Multiple nodes run applications concurrently while monitoring each other for failure.</a:t>
            </a:r>
          </a:p>
        </p:txBody>
      </p:sp>
      <p:sp>
        <p:nvSpPr>
          <p:cNvPr id="12" name="Rounded Rectangle 11"/>
          <p:cNvSpPr/>
          <p:nvPr/>
        </p:nvSpPr>
        <p:spPr>
          <a:xfrm>
            <a:off x="6217920" y="1463040"/>
            <a:ext cx="5212080" cy="43891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438912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High Availability Mechanics</a:t>
            </a:r>
          </a:p>
        </p:txBody>
      </p:sp>
      <p:sp>
        <p:nvSpPr>
          <p:cNvPr id="16" name="TextBox 15"/>
          <p:cNvSpPr txBox="1"/>
          <p:nvPr/>
        </p:nvSpPr>
        <p:spPr>
          <a:xfrm>
            <a:off x="6446520" y="1920240"/>
            <a:ext cx="4754880" cy="3749039"/>
          </a:xfrm>
          <a:prstGeom prst="rect">
            <a:avLst/>
          </a:prstGeom>
          <a:noFill/>
        </p:spPr>
        <p:txBody>
          <a:bodyPr wrap="square">
            <a:spAutoFit/>
          </a:bodyPr>
          <a:lstStyle/>
          <a:p>
            <a:pPr>
              <a:defRPr sz="1100" b="1">
                <a:solidFill>
                  <a:srgbClr val="FFFFFF"/>
                </a:solidFill>
                <a:latin typeface="Segoe UI"/>
              </a:defRPr>
            </a:pPr>
            <a:r>
              <a:t>• Heartbeat Monitoring:</a:t>
            </a:r>
            <a:br/>
            <a:r>
              <a:rPr sz="1000" b="0">
                <a:solidFill>
                  <a:srgbClr val="A0AFC8"/>
                </a:solidFill>
                <a:latin typeface="Segoe UI"/>
              </a:rPr>
              <a:t>Continuous health checks between cluster nodes detect hardware or OS failures in milliseconds.</a:t>
            </a:r>
          </a:p>
          <a:p>
            <a:pPr>
              <a:spcBef>
                <a:spcPts val="400"/>
              </a:spcBef>
              <a:defRPr sz="1100" b="1">
                <a:solidFill>
                  <a:srgbClr val="FFFFFF"/>
                </a:solidFill>
                <a:latin typeface="Segoe UI"/>
              </a:defRPr>
            </a:pPr>
            <a:r>
              <a:t>• Automatic Failover:</a:t>
            </a:r>
            <a:br/>
            <a:r>
              <a:rPr sz="1000" b="0">
                <a:solidFill>
                  <a:srgbClr val="A0AFC8"/>
                </a:solidFill>
                <a:latin typeface="Segoe UI"/>
              </a:rPr>
              <a:t>Cluster manager software migrates active database or application state to healthy standby nodes without downtime.</a:t>
            </a:r>
          </a:p>
          <a:p>
            <a:pPr>
              <a:spcBef>
                <a:spcPts val="400"/>
              </a:spcBef>
              <a:defRPr sz="1100" b="1">
                <a:solidFill>
                  <a:srgbClr val="FFFFFF"/>
                </a:solidFill>
                <a:latin typeface="Segoe UI"/>
              </a:defRPr>
            </a:pPr>
            <a:r>
              <a:t>• Parallel Clusters:</a:t>
            </a:r>
            <a:br/>
            <a:r>
              <a:rPr sz="1000" b="0">
                <a:solidFill>
                  <a:srgbClr val="A0AFC8"/>
                </a:solidFill>
                <a:latin typeface="Segoe UI"/>
              </a:rPr>
              <a:t>Multiple nodes access shared disks concurrently with distributed lock manager (DLM) synchronization.</a:t>
            </a:r>
          </a:p>
          <a:p>
            <a:pPr>
              <a:spcBef>
                <a:spcPts val="400"/>
              </a:spcBef>
              <a:defRPr sz="1100" b="1">
                <a:solidFill>
                  <a:srgbClr val="FFFFFF"/>
                </a:solidFill>
                <a:latin typeface="Segoe UI"/>
              </a:defRPr>
            </a:pPr>
            <a:r>
              <a:t>• Grid &amp; Cloud Scaling:</a:t>
            </a:r>
            <a:br/>
            <a:r>
              <a:rPr sz="1000" b="0">
                <a:solidFill>
                  <a:srgbClr val="A0AFC8"/>
                </a:solidFill>
                <a:latin typeface="Segoe UI"/>
              </a:rPr>
              <a:t>Clustering forms the bedrock of modern cloud computing infrastructures and hyperscale datacenters.</a:t>
            </a:r>
          </a:p>
        </p:txBody>
      </p:sp>
    </p:spTree>
  </p:cSld>
  <p:clrMapOvr>
    <a:masterClrMapping/>
  </p:clrMapOvr>
  <p:transition xmlns:p14="http://schemas.microsoft.com/office/powerpoint/2010/main" spd="med" dur="1500">
    <p14:morph option="byObject"/>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MULTIPROCESSORS &amp; I/O</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14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Diverse Computing Environments</a:t>
            </a:r>
          </a:p>
        </p:txBody>
      </p:sp>
      <p:sp>
        <p:nvSpPr>
          <p:cNvPr id="7" name="Rounded Rectangle 6"/>
          <p:cNvSpPr/>
          <p:nvPr/>
        </p:nvSpPr>
        <p:spPr>
          <a:xfrm>
            <a:off x="731520" y="1463040"/>
            <a:ext cx="5212080" cy="21031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21031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Traditional / Desktop Computing</a:t>
            </a:r>
          </a:p>
        </p:txBody>
      </p:sp>
      <p:sp>
        <p:nvSpPr>
          <p:cNvPr id="11" name="TextBox 10"/>
          <p:cNvSpPr txBox="1"/>
          <p:nvPr/>
        </p:nvSpPr>
        <p:spPr>
          <a:xfrm>
            <a:off x="960120" y="1965960"/>
            <a:ext cx="4754880" cy="1463040"/>
          </a:xfrm>
          <a:prstGeom prst="rect">
            <a:avLst/>
          </a:prstGeom>
          <a:noFill/>
        </p:spPr>
        <p:txBody>
          <a:bodyPr wrap="square">
            <a:spAutoFit/>
          </a:bodyPr>
          <a:lstStyle/>
          <a:p>
            <a:pPr>
              <a:defRPr sz="1100">
                <a:solidFill>
                  <a:srgbClr val="A0AFC8"/>
                </a:solidFill>
                <a:latin typeface="Segoe UI"/>
              </a:defRPr>
            </a:pPr>
            <a:r>
              <a:t>Standard PCs, workstations, and dedicated file servers running general-purpose multitasking operating systems with rich UI frameworks.</a:t>
            </a:r>
          </a:p>
        </p:txBody>
      </p:sp>
      <p:sp>
        <p:nvSpPr>
          <p:cNvPr id="12" name="Rounded Rectangle 11"/>
          <p:cNvSpPr/>
          <p:nvPr/>
        </p:nvSpPr>
        <p:spPr>
          <a:xfrm>
            <a:off x="6217920" y="1463040"/>
            <a:ext cx="5212080" cy="21031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210312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Mobile Computing</a:t>
            </a:r>
          </a:p>
        </p:txBody>
      </p:sp>
      <p:sp>
        <p:nvSpPr>
          <p:cNvPr id="16" name="TextBox 15"/>
          <p:cNvSpPr txBox="1"/>
          <p:nvPr/>
        </p:nvSpPr>
        <p:spPr>
          <a:xfrm>
            <a:off x="6446520" y="1965960"/>
            <a:ext cx="4754880" cy="1463040"/>
          </a:xfrm>
          <a:prstGeom prst="rect">
            <a:avLst/>
          </a:prstGeom>
          <a:noFill/>
        </p:spPr>
        <p:txBody>
          <a:bodyPr wrap="square">
            <a:spAutoFit/>
          </a:bodyPr>
          <a:lstStyle/>
          <a:p>
            <a:pPr>
              <a:defRPr sz="1100">
                <a:solidFill>
                  <a:srgbClr val="A0AFC8"/>
                </a:solidFill>
                <a:latin typeface="Segoe UI"/>
              </a:defRPr>
            </a:pPr>
            <a:r>
              <a:t>Smartphones and tablets with power-constrained architectures, touch/sensor interfaces, and wireless communications (iOS/Android).</a:t>
            </a:r>
          </a:p>
        </p:txBody>
      </p:sp>
      <p:sp>
        <p:nvSpPr>
          <p:cNvPr id="17" name="Rounded Rectangle 16"/>
          <p:cNvSpPr/>
          <p:nvPr/>
        </p:nvSpPr>
        <p:spPr>
          <a:xfrm>
            <a:off x="731520" y="3840480"/>
            <a:ext cx="5212080" cy="21031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840480"/>
            <a:ext cx="73152" cy="210312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15000" y="391363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3977640"/>
            <a:ext cx="4846320" cy="320040"/>
          </a:xfrm>
          <a:prstGeom prst="rect">
            <a:avLst/>
          </a:prstGeom>
          <a:noFill/>
        </p:spPr>
        <p:txBody>
          <a:bodyPr wrap="square" lIns="0" tIns="0" rIns="0" bIns="0">
            <a:spAutoFit/>
          </a:bodyPr>
          <a:lstStyle/>
          <a:p>
            <a:pPr>
              <a:defRPr sz="1300" b="1">
                <a:solidFill>
                  <a:srgbClr val="FFFFFF"/>
                </a:solidFill>
                <a:latin typeface="Segoe UI"/>
              </a:defRPr>
            </a:pPr>
            <a:r>
              <a:t>Distributed Systems</a:t>
            </a:r>
          </a:p>
        </p:txBody>
      </p:sp>
      <p:sp>
        <p:nvSpPr>
          <p:cNvPr id="21" name="TextBox 20"/>
          <p:cNvSpPr txBox="1"/>
          <p:nvPr/>
        </p:nvSpPr>
        <p:spPr>
          <a:xfrm>
            <a:off x="960120" y="4343400"/>
            <a:ext cx="4754880" cy="1463040"/>
          </a:xfrm>
          <a:prstGeom prst="rect">
            <a:avLst/>
          </a:prstGeom>
          <a:noFill/>
        </p:spPr>
        <p:txBody>
          <a:bodyPr wrap="square">
            <a:spAutoFit/>
          </a:bodyPr>
          <a:lstStyle/>
          <a:p>
            <a:pPr>
              <a:defRPr sz="1100">
                <a:solidFill>
                  <a:srgbClr val="A0AFC8"/>
                </a:solidFill>
                <a:latin typeface="Segoe UI"/>
              </a:defRPr>
            </a:pPr>
            <a:r>
              <a:t>Networked collection of physically separate computational nodes presenting a single unified computing system to users.</a:t>
            </a:r>
          </a:p>
        </p:txBody>
      </p:sp>
      <p:sp>
        <p:nvSpPr>
          <p:cNvPr id="22" name="Rounded Rectangle 21"/>
          <p:cNvSpPr/>
          <p:nvPr/>
        </p:nvSpPr>
        <p:spPr>
          <a:xfrm>
            <a:off x="6217920" y="3840480"/>
            <a:ext cx="5212080" cy="21031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3840480"/>
            <a:ext cx="73152" cy="21031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201400" y="391363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3977640"/>
            <a:ext cx="4846320" cy="320040"/>
          </a:xfrm>
          <a:prstGeom prst="rect">
            <a:avLst/>
          </a:prstGeom>
          <a:noFill/>
        </p:spPr>
        <p:txBody>
          <a:bodyPr wrap="square" lIns="0" tIns="0" rIns="0" bIns="0">
            <a:spAutoFit/>
          </a:bodyPr>
          <a:lstStyle/>
          <a:p>
            <a:pPr>
              <a:defRPr sz="1300" b="1">
                <a:solidFill>
                  <a:srgbClr val="FFFFFF"/>
                </a:solidFill>
                <a:latin typeface="Segoe UI"/>
              </a:defRPr>
            </a:pPr>
            <a:r>
              <a:t>Cloud &amp; Real-Time Computing</a:t>
            </a:r>
          </a:p>
        </p:txBody>
      </p:sp>
      <p:sp>
        <p:nvSpPr>
          <p:cNvPr id="26" name="TextBox 25"/>
          <p:cNvSpPr txBox="1"/>
          <p:nvPr/>
        </p:nvSpPr>
        <p:spPr>
          <a:xfrm>
            <a:off x="6446520" y="4343400"/>
            <a:ext cx="4754880" cy="1463040"/>
          </a:xfrm>
          <a:prstGeom prst="rect">
            <a:avLst/>
          </a:prstGeom>
          <a:noFill/>
        </p:spPr>
        <p:txBody>
          <a:bodyPr wrap="square">
            <a:spAutoFit/>
          </a:bodyPr>
          <a:lstStyle/>
          <a:p>
            <a:pPr>
              <a:defRPr sz="1100">
                <a:solidFill>
                  <a:srgbClr val="A0AFC8"/>
                </a:solidFill>
                <a:latin typeface="Segoe UI"/>
              </a:defRPr>
            </a:pPr>
            <a:r>
              <a:t>Virtualized compute/storage delivered on-demand via massive server clusters, alongside embedded deterministic real-time systems.</a:t>
            </a:r>
          </a:p>
        </p:txBody>
      </p:sp>
    </p:spTree>
  </p:cSld>
  <p:clrMapOvr>
    <a:masterClrMapping/>
  </p:clrMapOvr>
  <p:transition xmlns:p14="http://schemas.microsoft.com/office/powerpoint/2010/main" spd="med" dur="1500">
    <p14:morph option="byObject"/>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SYNTHESIS &amp; CONCLUSION</a:t>
            </a:r>
          </a:p>
        </p:txBody>
      </p:sp>
      <p:sp>
        <p:nvSpPr>
          <p:cNvPr id="4" name="Rounded Rectangle 3"/>
          <p:cNvSpPr/>
          <p:nvPr/>
        </p:nvSpPr>
        <p:spPr>
          <a:xfrm>
            <a:off x="8046720" y="365760"/>
            <a:ext cx="228600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 · VEDHANTH · 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15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Key Takeaways</a:t>
            </a:r>
          </a:p>
        </p:txBody>
      </p:sp>
      <p:sp>
        <p:nvSpPr>
          <p:cNvPr id="7" name="Rounded Rectangle 6"/>
          <p:cNvSpPr/>
          <p:nvPr/>
        </p:nvSpPr>
        <p:spPr>
          <a:xfrm>
            <a:off x="7315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175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System Organization</a:t>
            </a:r>
          </a:p>
        </p:txBody>
      </p:sp>
      <p:sp>
        <p:nvSpPr>
          <p:cNvPr id="10" name="Oval 9"/>
          <p:cNvSpPr/>
          <p:nvPr/>
        </p:nvSpPr>
        <p:spPr>
          <a:xfrm>
            <a:off x="1760219" y="1280160"/>
            <a:ext cx="457200" cy="457200"/>
          </a:xfrm>
          <a:prstGeom prst="ellipse">
            <a:avLst/>
          </a:prstGeom>
          <a:solidFill>
            <a:srgbClr val="1E24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1</a:t>
            </a:r>
          </a:p>
        </p:txBody>
      </p:sp>
      <p:sp>
        <p:nvSpPr>
          <p:cNvPr id="11" name="TextBox 10"/>
          <p:cNvSpPr txBox="1"/>
          <p:nvPr/>
        </p:nvSpPr>
        <p:spPr>
          <a:xfrm>
            <a:off x="868680" y="1828800"/>
            <a:ext cx="2240280" cy="1920240"/>
          </a:xfrm>
          <a:prstGeom prst="rect">
            <a:avLst/>
          </a:prstGeom>
          <a:noFill/>
        </p:spPr>
        <p:txBody>
          <a:bodyPr wrap="square">
            <a:spAutoFit/>
          </a:bodyPr>
          <a:lstStyle/>
          <a:p>
            <a:pPr>
              <a:defRPr sz="1000">
                <a:solidFill>
                  <a:srgbClr val="A0AFC8"/>
                </a:solidFill>
                <a:latin typeface="Segoe UI"/>
              </a:defRPr>
            </a:pPr>
            <a:r>
              <a:t>CPUs, device controllers, and shared memory cooperate via a common bus — concurrency drives the need for OS coordination.</a:t>
            </a:r>
          </a:p>
        </p:txBody>
      </p:sp>
      <p:sp>
        <p:nvSpPr>
          <p:cNvPr id="12" name="Rounded Rectangle 11"/>
          <p:cNvSpPr/>
          <p:nvPr/>
        </p:nvSpPr>
        <p:spPr>
          <a:xfrm>
            <a:off x="34747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Interrupts</a:t>
            </a:r>
          </a:p>
        </p:txBody>
      </p:sp>
      <p:sp>
        <p:nvSpPr>
          <p:cNvPr id="15" name="Oval 14"/>
          <p:cNvSpPr/>
          <p:nvPr/>
        </p:nvSpPr>
        <p:spPr>
          <a:xfrm>
            <a:off x="4503420" y="1280160"/>
            <a:ext cx="457200" cy="457200"/>
          </a:xfrm>
          <a:prstGeom prst="ellipse">
            <a:avLst/>
          </a:prstGeom>
          <a:solidFill>
            <a:srgbClr val="1E2434"/>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2</a:t>
            </a:r>
          </a:p>
        </p:txBody>
      </p:sp>
      <p:sp>
        <p:nvSpPr>
          <p:cNvPr id="16" name="TextBox 15"/>
          <p:cNvSpPr txBox="1"/>
          <p:nvPr/>
        </p:nvSpPr>
        <p:spPr>
          <a:xfrm>
            <a:off x="3611879" y="1828800"/>
            <a:ext cx="2240280" cy="1920240"/>
          </a:xfrm>
          <a:prstGeom prst="rect">
            <a:avLst/>
          </a:prstGeom>
          <a:noFill/>
        </p:spPr>
        <p:txBody>
          <a:bodyPr wrap="square">
            <a:spAutoFit/>
          </a:bodyPr>
          <a:lstStyle/>
          <a:p>
            <a:pPr>
              <a:defRPr sz="1000">
                <a:solidFill>
                  <a:srgbClr val="A0AFC8"/>
                </a:solidFill>
                <a:latin typeface="Segoe UI"/>
              </a:defRPr>
            </a:pPr>
            <a:r>
              <a:t>The fundamental mechanism for hardware–OS communication; interrupt vectors and priority levels enable efficient, ordered response.</a:t>
            </a:r>
          </a:p>
        </p:txBody>
      </p:sp>
      <p:sp>
        <p:nvSpPr>
          <p:cNvPr id="17" name="Rounded Rectangle 16"/>
          <p:cNvSpPr/>
          <p:nvPr/>
        </p:nvSpPr>
        <p:spPr>
          <a:xfrm>
            <a:off x="62179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039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Dual-Mode Operation</a:t>
            </a:r>
          </a:p>
        </p:txBody>
      </p:sp>
      <p:sp>
        <p:nvSpPr>
          <p:cNvPr id="20" name="Oval 19"/>
          <p:cNvSpPr/>
          <p:nvPr/>
        </p:nvSpPr>
        <p:spPr>
          <a:xfrm>
            <a:off x="7246620" y="1280160"/>
            <a:ext cx="457200" cy="457200"/>
          </a:xfrm>
          <a:prstGeom prst="ellipse">
            <a:avLst/>
          </a:prstGeom>
          <a:solidFill>
            <a:srgbClr val="1E2434"/>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3</a:t>
            </a:r>
          </a:p>
        </p:txBody>
      </p:sp>
      <p:sp>
        <p:nvSpPr>
          <p:cNvPr id="21" name="TextBox 20"/>
          <p:cNvSpPr txBox="1"/>
          <p:nvPr/>
        </p:nvSpPr>
        <p:spPr>
          <a:xfrm>
            <a:off x="6355080" y="1828800"/>
            <a:ext cx="2240280" cy="1920240"/>
          </a:xfrm>
          <a:prstGeom prst="rect">
            <a:avLst/>
          </a:prstGeom>
          <a:noFill/>
        </p:spPr>
        <p:txBody>
          <a:bodyPr wrap="square">
            <a:spAutoFit/>
          </a:bodyPr>
          <a:lstStyle/>
          <a:p>
            <a:pPr>
              <a:defRPr sz="1000">
                <a:solidFill>
                  <a:srgbClr val="A0AFC8"/>
                </a:solidFill>
                <a:latin typeface="Segoe UI"/>
              </a:defRPr>
            </a:pPr>
            <a:r>
              <a:t>User mode and kernel mode — enforced by a hardware mode bit — protect the OS and users from erroneous or malicious programs.</a:t>
            </a:r>
          </a:p>
        </p:txBody>
      </p:sp>
      <p:sp>
        <p:nvSpPr>
          <p:cNvPr id="22" name="Rounded Rectangle 21"/>
          <p:cNvSpPr/>
          <p:nvPr/>
        </p:nvSpPr>
        <p:spPr>
          <a:xfrm>
            <a:off x="89611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2471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Multicore &amp; SMP</a:t>
            </a:r>
          </a:p>
        </p:txBody>
      </p:sp>
      <p:sp>
        <p:nvSpPr>
          <p:cNvPr id="25" name="Oval 24"/>
          <p:cNvSpPr/>
          <p:nvPr/>
        </p:nvSpPr>
        <p:spPr>
          <a:xfrm>
            <a:off x="9989820" y="1280160"/>
            <a:ext cx="457200" cy="457200"/>
          </a:xfrm>
          <a:prstGeom prst="ellipse">
            <a:avLst/>
          </a:prstGeom>
          <a:solidFill>
            <a:srgbClr val="1E243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4</a:t>
            </a:r>
          </a:p>
        </p:txBody>
      </p:sp>
      <p:sp>
        <p:nvSpPr>
          <p:cNvPr id="26" name="TextBox 25"/>
          <p:cNvSpPr txBox="1"/>
          <p:nvPr/>
        </p:nvSpPr>
        <p:spPr>
          <a:xfrm>
            <a:off x="9098280" y="1828800"/>
            <a:ext cx="2240280" cy="1920240"/>
          </a:xfrm>
          <a:prstGeom prst="rect">
            <a:avLst/>
          </a:prstGeom>
          <a:noFill/>
        </p:spPr>
        <p:txBody>
          <a:bodyPr wrap="square">
            <a:spAutoFit/>
          </a:bodyPr>
          <a:lstStyle/>
          <a:p>
            <a:pPr>
              <a:defRPr sz="1000">
                <a:solidFill>
                  <a:srgbClr val="A0AFC8"/>
                </a:solidFill>
                <a:latin typeface="Segoe UI"/>
              </a:defRPr>
            </a:pPr>
            <a:r>
              <a:t>Multiple cores on one chip deliver throughput gains with lower power; speed-up with N processors is always less than N.</a:t>
            </a:r>
          </a:p>
        </p:txBody>
      </p:sp>
      <p:sp>
        <p:nvSpPr>
          <p:cNvPr id="27" name="Rounded Rectangle 26"/>
          <p:cNvSpPr/>
          <p:nvPr/>
        </p:nvSpPr>
        <p:spPr>
          <a:xfrm>
            <a:off x="731520" y="4206240"/>
            <a:ext cx="10728655" cy="9144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 y="4206240"/>
            <a:ext cx="73152" cy="9144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231575" y="42793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 y="4343400"/>
            <a:ext cx="10362895" cy="320040"/>
          </a:xfrm>
          <a:prstGeom prst="rect">
            <a:avLst/>
          </a:prstGeom>
          <a:noFill/>
        </p:spPr>
        <p:txBody>
          <a:bodyPr wrap="square" lIns="0" tIns="0" rIns="0" bIns="0">
            <a:spAutoFit/>
          </a:bodyPr>
          <a:lstStyle/>
          <a:p>
            <a:pPr>
              <a:defRPr sz="1300" b="1">
                <a:solidFill>
                  <a:srgbClr val="FFFFFF"/>
                </a:solidFill>
                <a:latin typeface="Segoe UI"/>
              </a:defRPr>
            </a:pPr>
            <a:r>
              <a:t>Storage Hierarchy</a:t>
            </a:r>
          </a:p>
        </p:txBody>
      </p:sp>
      <p:sp>
        <p:nvSpPr>
          <p:cNvPr id="31" name="Oval 30"/>
          <p:cNvSpPr/>
          <p:nvPr/>
        </p:nvSpPr>
        <p:spPr>
          <a:xfrm>
            <a:off x="5867247" y="4023360"/>
            <a:ext cx="457200" cy="457200"/>
          </a:xfrm>
          <a:prstGeom prst="ellipse">
            <a:avLst/>
          </a:prstGeom>
          <a:solidFill>
            <a:srgbClr val="1E2434"/>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5</a:t>
            </a:r>
          </a:p>
        </p:txBody>
      </p:sp>
      <p:sp>
        <p:nvSpPr>
          <p:cNvPr id="32" name="TextBox 31"/>
          <p:cNvSpPr txBox="1"/>
          <p:nvPr/>
        </p:nvSpPr>
        <p:spPr>
          <a:xfrm>
            <a:off x="1005840" y="4480560"/>
            <a:ext cx="10241280" cy="548640"/>
          </a:xfrm>
          <a:prstGeom prst="rect">
            <a:avLst/>
          </a:prstGeom>
          <a:noFill/>
        </p:spPr>
        <p:txBody>
          <a:bodyPr wrap="square">
            <a:spAutoFit/>
          </a:bodyPr>
          <a:lstStyle/>
          <a:p>
            <a:pPr>
              <a:defRPr sz="1050">
                <a:solidFill>
                  <a:srgbClr val="A0AFC8"/>
                </a:solidFill>
                <a:latin typeface="Segoe UI"/>
              </a:defRPr>
            </a:pPr>
            <a:r>
              <a:t>Speed, cost, and capacity trade-offs define a hierarchy from registers to tertiary storage — the OS manages movement across all levels.</a:t>
            </a:r>
          </a:p>
        </p:txBody>
      </p:sp>
      <p:sp>
        <p:nvSpPr>
          <p:cNvPr id="33" name="Rounded Rectangle 32"/>
          <p:cNvSpPr/>
          <p:nvPr/>
        </p:nvSpPr>
        <p:spPr>
          <a:xfrm>
            <a:off x="7315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31520" y="5303520"/>
            <a:ext cx="73152" cy="109728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86200" y="537667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0976" y="5440680"/>
            <a:ext cx="3017520" cy="320040"/>
          </a:xfrm>
          <a:prstGeom prst="rect">
            <a:avLst/>
          </a:prstGeom>
          <a:noFill/>
        </p:spPr>
        <p:txBody>
          <a:bodyPr wrap="square" lIns="0" tIns="0" rIns="0" bIns="0">
            <a:spAutoFit/>
          </a:bodyPr>
          <a:lstStyle/>
          <a:p>
            <a:pPr>
              <a:defRPr sz="1300" b="1">
                <a:solidFill>
                  <a:srgbClr val="FFFFFF"/>
                </a:solidFill>
                <a:latin typeface="Segoe UI"/>
              </a:defRPr>
            </a:pPr>
            <a:r>
              <a:t>V. Ram Charan</a:t>
            </a:r>
          </a:p>
        </p:txBody>
      </p:sp>
      <p:sp>
        <p:nvSpPr>
          <p:cNvPr id="37" name="TextBox 36"/>
          <p:cNvSpPr txBox="1"/>
          <p:nvPr/>
        </p:nvSpPr>
        <p:spPr>
          <a:xfrm>
            <a:off x="914400" y="5715000"/>
            <a:ext cx="3017520" cy="548640"/>
          </a:xfrm>
          <a:prstGeom prst="rect">
            <a:avLst/>
          </a:prstGeom>
          <a:noFill/>
        </p:spPr>
        <p:txBody>
          <a:bodyPr wrap="none">
            <a:spAutoFit/>
          </a:bodyPr>
          <a:lstStyle/>
          <a:p>
            <a:pPr>
              <a:defRPr sz="1050">
                <a:solidFill>
                  <a:srgbClr val="38BDF8"/>
                </a:solidFill>
                <a:latin typeface="Segoe UI"/>
              </a:defRPr>
            </a:pPr>
            <a:r>
              <a:t>Slides 1–5 · Act I</a:t>
            </a:r>
          </a:p>
        </p:txBody>
      </p:sp>
      <p:sp>
        <p:nvSpPr>
          <p:cNvPr id="38" name="Rounded Rectangle 37"/>
          <p:cNvSpPr/>
          <p:nvPr/>
        </p:nvSpPr>
        <p:spPr>
          <a:xfrm>
            <a:off x="43891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389120" y="5303520"/>
            <a:ext cx="73152" cy="109728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43800" y="537667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08576" y="5440680"/>
            <a:ext cx="3017520" cy="320040"/>
          </a:xfrm>
          <a:prstGeom prst="rect">
            <a:avLst/>
          </a:prstGeom>
          <a:noFill/>
        </p:spPr>
        <p:txBody>
          <a:bodyPr wrap="square" lIns="0" tIns="0" rIns="0" bIns="0">
            <a:spAutoFit/>
          </a:bodyPr>
          <a:lstStyle/>
          <a:p>
            <a:pPr>
              <a:defRPr sz="1300" b="1">
                <a:solidFill>
                  <a:srgbClr val="FFFFFF"/>
                </a:solidFill>
                <a:latin typeface="Segoe UI"/>
              </a:defRPr>
            </a:pPr>
            <a:r>
              <a:t>Vedhanth</a:t>
            </a:r>
          </a:p>
        </p:txBody>
      </p:sp>
      <p:sp>
        <p:nvSpPr>
          <p:cNvPr id="42" name="TextBox 41"/>
          <p:cNvSpPr txBox="1"/>
          <p:nvPr/>
        </p:nvSpPr>
        <p:spPr>
          <a:xfrm>
            <a:off x="4572000" y="5715000"/>
            <a:ext cx="3017520" cy="548640"/>
          </a:xfrm>
          <a:prstGeom prst="rect">
            <a:avLst/>
          </a:prstGeom>
          <a:noFill/>
        </p:spPr>
        <p:txBody>
          <a:bodyPr wrap="none">
            <a:spAutoFit/>
          </a:bodyPr>
          <a:lstStyle/>
          <a:p>
            <a:pPr>
              <a:defRPr sz="1050">
                <a:solidFill>
                  <a:srgbClr val="818CF8"/>
                </a:solidFill>
                <a:latin typeface="Segoe UI"/>
              </a:defRPr>
            </a:pPr>
            <a:r>
              <a:t>Slides 6–10 · Act II</a:t>
            </a:r>
          </a:p>
        </p:txBody>
      </p:sp>
      <p:sp>
        <p:nvSpPr>
          <p:cNvPr id="43" name="Rounded Rectangle 42"/>
          <p:cNvSpPr/>
          <p:nvPr/>
        </p:nvSpPr>
        <p:spPr>
          <a:xfrm>
            <a:off x="80467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046720" y="5303520"/>
            <a:ext cx="73152" cy="109728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201400" y="537667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66176" y="5440680"/>
            <a:ext cx="3017520" cy="320040"/>
          </a:xfrm>
          <a:prstGeom prst="rect">
            <a:avLst/>
          </a:prstGeom>
          <a:noFill/>
        </p:spPr>
        <p:txBody>
          <a:bodyPr wrap="square" lIns="0" tIns="0" rIns="0" bIns="0">
            <a:spAutoFit/>
          </a:bodyPr>
          <a:lstStyle/>
          <a:p>
            <a:pPr>
              <a:defRPr sz="1300" b="1">
                <a:solidFill>
                  <a:srgbClr val="FFFFFF"/>
                </a:solidFill>
                <a:latin typeface="Segoe UI"/>
              </a:defRPr>
            </a:pPr>
            <a:r>
              <a:t>Lochan</a:t>
            </a:r>
          </a:p>
        </p:txBody>
      </p:sp>
      <p:sp>
        <p:nvSpPr>
          <p:cNvPr id="47" name="TextBox 46"/>
          <p:cNvSpPr txBox="1"/>
          <p:nvPr/>
        </p:nvSpPr>
        <p:spPr>
          <a:xfrm>
            <a:off x="8229600" y="5715000"/>
            <a:ext cx="3017520" cy="548640"/>
          </a:xfrm>
          <a:prstGeom prst="rect">
            <a:avLst/>
          </a:prstGeom>
          <a:noFill/>
        </p:spPr>
        <p:txBody>
          <a:bodyPr wrap="none">
            <a:spAutoFit/>
          </a:bodyPr>
          <a:lstStyle/>
          <a:p>
            <a:pPr>
              <a:defRPr sz="1050">
                <a:solidFill>
                  <a:srgbClr val="34D399"/>
                </a:solidFill>
                <a:latin typeface="Segoe UI"/>
              </a:defRPr>
            </a:pPr>
            <a:r>
              <a:t>Slides 11–15 · Act III</a:t>
            </a:r>
          </a:p>
        </p:txBody>
      </p:sp>
    </p:spTree>
  </p:cSld>
  <p:clrMapOvr>
    <a:masterClrMapping/>
  </p:clrMapOvr>
  <p:transition xmlns:p14="http://schemas.microsoft.com/office/powerpoint/2010/main" spd="med" dur="1500">
    <p14:morph option="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