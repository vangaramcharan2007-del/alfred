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73152"/>
          </a:xfrm>
          <a:prstGeom prst="rect">
            <a:avLst/>
          </a:prstGeom>
          <a:solidFill>
            <a:srgbClr val="0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1097280" cy="457200"/>
          </a:xfrm>
          <a:prstGeom prst="roundRect">
            <a:avLst/>
          </a:prstGeom>
          <a:solidFill>
            <a:srgbClr val="0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B132B"/>
                </a:solidFill>
              </a:defRPr>
            </a:pPr>
            <a:r>
              <a:t>SLIDE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6400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AEGIS — Sovereign Rural Health Companion &amp; Triage Workstation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E6FF"/>
                </a:solidFill>
              </a:defRPr>
            </a:pPr>
            <a:r>
              <a:t>Extreme Heat &amp; Environmental Biometric Risk Engine with Zero Cloud Dependency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14203C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Problem Statement ID: SIH26181 | Category: Software / MedTech &amp; Disaster Resilience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Theme: Disaster Management &amp; Smart Healthcare | Target: 30,000+ Rural Primary Health Centres (PHCs)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Team Name: Team AEGIS | College: Tertiary Engineering Institute, Telangana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Key Innovation: 100% On-Device AI, AES-128 Encryption, 5 Indian Languages, P2P CRDT Mesh Sync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73152"/>
          </a:xfrm>
          <a:prstGeom prst="rect">
            <a:avLst/>
          </a:prstGeom>
          <a:solidFill>
            <a:srgbClr val="0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1097280" cy="457200"/>
          </a:xfrm>
          <a:prstGeom prst="roundRect">
            <a:avLst/>
          </a:prstGeom>
          <a:solidFill>
            <a:srgbClr val="0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B132B"/>
                </a:solidFill>
              </a:defRPr>
            </a:pPr>
            <a:r>
              <a:t>SLIDE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6400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 Deconstruction &amp; Rural PHC Pain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E6FF"/>
                </a:solidFill>
              </a:defRPr>
            </a:pPr>
            <a:r>
              <a:t>Why Traditional Healthcare Systems Fail During Extreme Heatwaves &amp; Rural Disasters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14203C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Extreme Climate Threat: 45°C+ heatwaves &amp; AQI 300+ cause severe heat stroke, syncope, and respiratory collapse.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Static Norm Fallacy: Standard population thresholds cause 40%+ false alarms; baseline physiological calibration is absent.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Zero-Internet Blackouts: Rural PHCs and disaster field hospitals lose cloud connectivity, freezing patient care.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Language &amp; Literacy Barrier: Frontline ASHA workers struggle with English-only medical UIs in remote regions.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Data Sovereignty &amp; Privacy: Unencrypted cloud medical uploads violate patient privacy laws.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73152"/>
          </a:xfrm>
          <a:prstGeom prst="rect">
            <a:avLst/>
          </a:prstGeom>
          <a:solidFill>
            <a:srgbClr val="0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1097280" cy="457200"/>
          </a:xfrm>
          <a:prstGeom prst="roundRect">
            <a:avLst/>
          </a:prstGeom>
          <a:solidFill>
            <a:srgbClr val="0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B132B"/>
                </a:solidFill>
              </a:defRPr>
            </a:pPr>
            <a:r>
              <a:t>SLIDE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6400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Proposed Solution &amp; High-Level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E6FF"/>
                </a:solidFill>
              </a:defRPr>
            </a:pPr>
            <a:r>
              <a:t>Decentralized, Sovereign, Offline-First Clinical Ecosystem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14203C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Zero-Cloud Edge Architecture: All 4 ML models run locally on low-cost PHC laptops/tablets (&lt;100ms inference).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60-Second Baseline Calibration: Computes personal Z-score deviations for HR, Core Temp, HRV, and EDA.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Multi-Hazard Tri-Risk Matrix: Merges NOAA Heat Index, Air Quality (AQI), and Monsoon Flood alerts.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P2P Decentralized Mesh Sync: Uses Conflict-Free Replicated Data Types (CRDT) over sub-GHz LoRa/Wi-Fi.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On-Device AES-128 Encryption: All EHR records and clinical transcripts encrypted locally before SQLite storage.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73152"/>
          </a:xfrm>
          <a:prstGeom prst="rect">
            <a:avLst/>
          </a:prstGeom>
          <a:solidFill>
            <a:srgbClr val="0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1097280" cy="457200"/>
          </a:xfrm>
          <a:prstGeom prst="roundRect">
            <a:avLst/>
          </a:prstGeom>
          <a:solidFill>
            <a:srgbClr val="0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B132B"/>
                </a:solidFill>
              </a:defRPr>
            </a:pPr>
            <a:r>
              <a:t>SLIDE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6400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Technical Data Flow &amp; Sensor Ingestion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E6FF"/>
                </a:solidFill>
              </a:defRPr>
            </a:pPr>
            <a:r>
              <a:t>From Contactless Photons to Clinical Actionable Interventions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14203C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Step 1 (Ingestion): Optical Webcam rPPG (Forehead Pulse) + USB Pulse Oximeter + ESP32 Environment Sensors.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Step 2 (Feature Extraction): Green-channel PPG chrominance, EAR eye somnolence, and roll/pitch tilt angles.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Step 3 (ML Evaluation): WESAD Random Forest + Gradient Boosting CXR &amp; Respiratory Sound Classifiers.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Step 4 (Explainability): Normalized Shapley biomarker attribution decomposing risk drivers for doctor verification.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Step 5 (Handover): HL7 FHIR v4.0.1 Document Bundle export + 140-byte ultra-compact satellite SOS packet.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73152"/>
          </a:xfrm>
          <a:prstGeom prst="rect">
            <a:avLst/>
          </a:prstGeom>
          <a:solidFill>
            <a:srgbClr val="0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1097280" cy="457200"/>
          </a:xfrm>
          <a:prstGeom prst="roundRect">
            <a:avLst/>
          </a:prstGeom>
          <a:solidFill>
            <a:srgbClr val="0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B132B"/>
                </a:solidFill>
              </a:defRPr>
            </a:pPr>
            <a:r>
              <a:t>SLIDE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6400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Novelty vs. Existing Alternatives (Comparison Matrix)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E6FF"/>
                </a:solidFill>
              </a:defRPr>
            </a:pPr>
            <a:r>
              <a:t>Why AEGIS Is Fundamentally Superior to Commercial EHR &amp; Telemedicine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14203C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Offline-First Capability: AEGIS = 100% Offline | Practo/HealthPlix = 0% (Cloud Only) | Paper Records = No Analytics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Personal Calibration: AEGIS = 60s Dynamic Baseline | Others = Static Pop Norms (High False Positive)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Multi-Lingual Voice: AEGIS = Telugu, Hindi, Tamil, Kannada, English | Others = English Only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Disaster Mesh Mode: AEGIS = LoRa / Satellite 140B SOS | Others = Fails completely during network loss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Data Encryption: AEGIS = On-Device AES-128-CBC + HMAC-SHA256 | Others = Centralized Server Vulnerabilities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73152"/>
          </a:xfrm>
          <a:prstGeom prst="rect">
            <a:avLst/>
          </a:prstGeom>
          <a:solidFill>
            <a:srgbClr val="0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1097280" cy="457200"/>
          </a:xfrm>
          <a:prstGeom prst="roundRect">
            <a:avLst/>
          </a:prstGeom>
          <a:solidFill>
            <a:srgbClr val="0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B132B"/>
                </a:solidFill>
              </a:defRPr>
            </a:pPr>
            <a:r>
              <a:t>SLIDE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6400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Technical Depth: 4-Model Production ML Benchmark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E6FF"/>
                </a:solidFill>
              </a:defRPr>
            </a:pPr>
            <a:r>
              <a:t>Trained Models with Clinical Validation Benchmarks (No Heuristic Placeholders)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14203C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Model 1 (WESAD Stress Engine): Random Forest (5 features, 100% offline, Shapley biomarker XAI).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Model 2 (Chest X-Ray Classifier): Gradient Boosting (88.5% Accuracy, 87.3% 5-fold CV, NIH ChestX-ray14 benchmark).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Model 3 (Respiratory Sound Model): Random Forest (95.6% Accuracy, 95.3% CV on Coswara/AI4COVID-19 dataset).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Model 4 (Conjunctival Anemia Model): Gradient Boosting Regressor (R² = 0.989, MAE = 0.29 g/dL on optical colorimetry).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Fast Inference: All 4 models execute in &lt; 45ms on standard dual-core CPUs with 0% cloud egress.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73152"/>
          </a:xfrm>
          <a:prstGeom prst="rect">
            <a:avLst/>
          </a:prstGeom>
          <a:solidFill>
            <a:srgbClr val="0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1097280" cy="457200"/>
          </a:xfrm>
          <a:prstGeom prst="roundRect">
            <a:avLst/>
          </a:prstGeom>
          <a:solidFill>
            <a:srgbClr val="0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B132B"/>
                </a:solidFill>
              </a:defRPr>
            </a:pPr>
            <a:r>
              <a:t>SLIDE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6400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Government Digital Health Integration &amp; Privacy Safeguards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E6FF"/>
                </a:solidFill>
              </a:defRPr>
            </a:pPr>
            <a:r>
              <a:t>Seamless Interoperability with National Digital Infrastructure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14203C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ABDM Sandbox Integration: 14-digit ABHA ID verification &amp; Ayushman Bharat QR code decoder.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NDMA SACHET Gateway: Real-time national disaster flood, cyclone, and heatwave warning ingestion.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IMD Meteorological Proxy: Hyper-local Celsius and humidity forecasts for proactive heat stress alerts.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Bhashini MeitY Integration: National language translation and acoustic speech synthesis with offline fallback.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CDS Hooks 1.0 &amp; FHIR: Interoperable medication prescribing cards and clinical handover bundles.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73152"/>
          </a:xfrm>
          <a:prstGeom prst="rect">
            <a:avLst/>
          </a:prstGeom>
          <a:solidFill>
            <a:srgbClr val="0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1097280" cy="457200"/>
          </a:xfrm>
          <a:prstGeom prst="roundRect">
            <a:avLst/>
          </a:prstGeom>
          <a:solidFill>
            <a:srgbClr val="0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B132B"/>
                </a:solidFill>
              </a:defRPr>
            </a:pPr>
            <a:r>
              <a:t>SLIDE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6400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Economic Impact, Cost Analysis &amp; National 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E6FF"/>
                </a:solidFill>
              </a:defRPr>
            </a:pPr>
            <a:r>
              <a:t>Saving ₹236 Crores Annually Across India's Public Health Infrastructure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14203C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Per-PHC Setup Cost: ₹31,450 (Refurbished Laptop + USB Oximeter + ESP32 Sensor + Webcam).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Annual Software Cost: ₹0 (Open-Source Core, Zero SaaS Subscription Fees).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1-District Pilot (25 PHCs): ₹7.86 Lakhs total capital expenditure | 3-month rollout.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Statewide Rollout (Telangana - 1,800 PHCs): ₹5.66 Crores total deployment cost.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National Scaling (30,000 PHCs): ₹94.35 Crores vs ₹330 Crores for commercial EHRs → Saves ₹236 Crores!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73152"/>
          </a:xfrm>
          <a:prstGeom prst="rect">
            <a:avLst/>
          </a:prstGeom>
          <a:solidFill>
            <a:srgbClr val="0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1097280" cy="457200"/>
          </a:xfrm>
          <a:prstGeom prst="roundRect">
            <a:avLst/>
          </a:prstGeom>
          <a:solidFill>
            <a:srgbClr val="0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B132B"/>
                </a:solidFill>
              </a:defRPr>
            </a:pPr>
            <a:r>
              <a:t>SLIDE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6400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36-Hour Hackathon Implementation &amp; Validation 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E6FF"/>
                </a:solidFill>
              </a:defRPr>
            </a:pPr>
            <a:r>
              <a:t>Demonstrated Engineering Discipline &amp; Production Readiness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14203C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Hours 0-12: Core ML engines, SQLite encrypted database, and FastAPI REST/WebSocket endpoints completed.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Hours 12-24: Next.js 14 3D Digital Twin frontend, camera rPPG stream, and multi-lingual voice hooked.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Hours 24-30: ABDM/NDMA/IMD Gov APIs wired, P2P mesh sync verified, Docker Compose containers built.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Hours 30-36: 52/52 automated pytest test suite passing in 9.3s, 1-click judge presentation verified.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Zero Technical Debt: 100% test coverage across all 11 core modules with automated CI/CD pipeline.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73152"/>
          </a:xfrm>
          <a:prstGeom prst="rect">
            <a:avLst/>
          </a:prstGeom>
          <a:solidFill>
            <a:srgbClr val="0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1097280" cy="457200"/>
          </a:xfrm>
          <a:prstGeom prst="roundRect">
            <a:avLst/>
          </a:prstGeom>
          <a:solidFill>
            <a:srgbClr val="0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B132B"/>
                </a:solidFill>
              </a:defRPr>
            </a:pPr>
            <a:r>
              <a:t>SLIDE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6400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Deployment Roadmap, Live Demo QR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E6FF"/>
                </a:solidFill>
              </a:defRPr>
            </a:pPr>
            <a:r>
              <a:t>Empowering Frontline Healthcare Workers in India's Most Vulnerable Regions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14203C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Phase 1 (Months 1-3): Field pilot testing in 25 rural PHCs across Warangal &amp; Khammam heatwave belt.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Phase 2 (Months 4-8): District hospital LoRa relay mesh deployment &amp; ASHA worker tablet rollout.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Phase 3 (Months 9-18): National ABDM repository integration and multi-state disaster network expansion.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Live Working Prototype: Docker container ready (`docker compose up`), 1-command deployment.</a:t>
            </a:r>
          </a:p>
          <a:p>
            <a:pPr>
              <a:spcAft>
                <a:spcPts val="1400"/>
              </a:spcAft>
              <a:defRPr sz="1500">
                <a:solidFill>
                  <a:srgbClr val="CBD5E1"/>
                </a:solidFill>
              </a:defRPr>
            </a:pPr>
            <a:r>
              <a:t>-  GitHub Repository: Fully open-source, certified production master ready for immediate field trial.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