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Good morning everyone. I’ll be explaining the core hardware of a computer system. Together with Vedhanth and Lochan, we will walk you through how hardware components communicate, how memory hierarchies optimize speed and capacity, and how modern multiprocessing systems scale concurrent execution.</a:t>
            </a:r>
          </a:p>
          <a:p/>
          <a:p>
            <a:r>
              <a:t>2. KEY ARCHITECTURAL CONCEPT:</a:t>
            </a:r>
          </a:p>
          <a:p>
            <a:r>
              <a:t>Computer system architecture establishes the hardware foundation for operating system process management, memory allocation, and I/O handling.</a:t>
            </a:r>
          </a:p>
          <a:p/>
          <a:p>
            <a:r>
              <a:t>3. TRANSITION TO NEXT SLIDE:</a:t>
            </a:r>
          </a:p>
          <a:p>
            <a:r>
              <a:t>Let us begin with Slide 2 by examining the three fundamental hardware pillars: the CPU, main memory, and I/O devices.</a:t>
            </a:r>
          </a:p>
          <a:p/>
          <a:p>
            <a:r>
              <a:t>4. PRESENTATION CUE:</a:t>
            </a:r>
          </a:p>
          <a:p>
            <a:r>
              <a:t>Stand center, introduce team members, gesture to the presenter cards.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Good morning everyone. I’ll be explaining the core hardware of a computer system. A computer system mainly consists of three parts: the CPU, main memory, and I/O devices. The CPU is responsible for fetching, decoding, and executing instructions. Main memory stores the data and programs that are currently being used, while I/O devices help the computer communicate with the outside world.</a:t>
            </a:r>
          </a:p>
          <a:p/>
          <a:p>
            <a:r>
              <a:t>2. KEY ARCHITECTURAL CONCEPT:</a:t>
            </a:r>
          </a:p>
          <a:p>
            <a:r>
              <a:t>The CPU, RAM, and I/O form the triad of computer architecture; the CPU cannot run code that is not first loaded into main memory.</a:t>
            </a:r>
          </a:p>
          <a:p/>
          <a:p>
            <a:r>
              <a:t>3. TRANSITION TO NEXT SLIDE:</a:t>
            </a:r>
          </a:p>
          <a:p>
            <a:r>
              <a:t>Now let's examine how these three components communicate with each other over the system bus.</a:t>
            </a:r>
          </a:p>
          <a:p/>
          <a:p>
            <a:r>
              <a:t>4. PRESENTATION CUE:</a:t>
            </a:r>
          </a:p>
          <a:p>
            <a:r>
              <a:t>Point to the 3 distinct cards highlighting CPU, Main Memory, and I/O Devices.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These components communicate through a system bus, which has three parts: the address bus, which tells where the data should go; the data bus, which carries the actual data; and the control bus, which carries control signals.</a:t>
            </a:r>
          </a:p>
          <a:p/>
          <a:p>
            <a:r>
              <a:t>2. KEY ARCHITECTURAL CONCEPT:</a:t>
            </a:r>
          </a:p>
          <a:p>
            <a:r>
              <a:t>The system bus connects CPU, memory, and I/O controllers; bus width determines addressable memory limits and throughput bandwidth.</a:t>
            </a:r>
          </a:p>
          <a:p/>
          <a:p>
            <a:r>
              <a:t>3. TRANSITION TO NEXT SLIDE:</a:t>
            </a:r>
          </a:p>
          <a:p>
            <a:r>
              <a:t>Next, let's look at two critical concepts in hardware communication: Interrupts and DMA.</a:t>
            </a:r>
          </a:p>
          <a:p/>
          <a:p>
            <a:r>
              <a:t>4. PRESENTATION CUE:</a:t>
            </a:r>
          </a:p>
          <a:p>
            <a:r>
              <a:t>Trace the Address, Data, and Control lines on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Two important concepts are interrupts and DMA. Interrupts allow devices to get the CPU’s attention when they need it. DMA allows devices to transfer data directly to memory without making the CPU handle every piece of data.</a:t>
            </a:r>
          </a:p>
          <a:p/>
          <a:p>
            <a:r>
              <a:t>2. KEY ARCHITECTURAL CONCEPT:</a:t>
            </a:r>
          </a:p>
          <a:p>
            <a:r>
              <a:t>Interrupts eliminate busy-wait polling overhead; DMA offloads byte-by-byte data transfer from the CPU.</a:t>
            </a:r>
          </a:p>
          <a:p/>
          <a:p>
            <a:r>
              <a:t>3. TRANSITION TO NEXT SLIDE:</a:t>
            </a:r>
          </a:p>
          <a:p>
            <a:r>
              <a:t>Let us summarize how core hardware components integrate before moving to memory hierarchy.</a:t>
            </a:r>
          </a:p>
          <a:p/>
          <a:p>
            <a:r>
              <a:t>4. PRESENTATION CUE:</a:t>
            </a:r>
          </a:p>
          <a:p>
            <a:r>
              <a:t>Contrast the event-driven signal flow of interrupts with the high-throughput block stream of DMA.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That’s the basic idea of how the hardware components communicate. Now I’ll hand it over to explain memory and storage hierarchy.</a:t>
            </a:r>
          </a:p>
          <a:p/>
          <a:p>
            <a:r>
              <a:t>2. KEY ARCHITECTURAL CONCEPT:</a:t>
            </a:r>
          </a:p>
          <a:p>
            <a:r>
              <a:t>Hardware components form a tightly synchronized system coordinated by the system bus, interrupts, and DMA.</a:t>
            </a:r>
          </a:p>
          <a:p/>
          <a:p>
            <a:r>
              <a:t>3. TRANSITION TO NEXT SLIDE:</a:t>
            </a:r>
          </a:p>
          <a:p>
            <a:r>
              <a:t>Pass presentation to Vedhanth for Act II.</a:t>
            </a:r>
          </a:p>
          <a:p/>
          <a:p>
            <a:r>
              <a:t>4. PRESENTATION CUE:</a:t>
            </a:r>
          </a:p>
          <a:p>
            <a:r>
              <a:t>Hand over clicker to Vedhanth.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Now I’ll explain memory and storage hierarchy. Computers use different types of memory because faster memory is usually smaller and more expensive, while slower memory can provide much larger capacity.</a:t>
            </a:r>
          </a:p>
          <a:p/>
          <a:p>
            <a:r>
              <a:t>2. KEY ARCHITECTURAL CONCEPT:</a:t>
            </a:r>
          </a:p>
          <a:p>
            <a:r>
              <a:t>Trade-off between access latency, cost per bit, and storage capacity across the memory hierarchy.</a:t>
            </a:r>
          </a:p>
          <a:p/>
          <a:p>
            <a:r>
              <a:t>3. TRANSITION TO NEXT SLIDE:</a:t>
            </a:r>
          </a:p>
          <a:p>
            <a:r>
              <a:t>Let us examine each tier of the hierarchy from internal registers down to secondary storage.</a:t>
            </a:r>
          </a:p>
          <a:p/>
          <a:p>
            <a:r>
              <a:t>4. PRESENTATION CUE:</a:t>
            </a:r>
          </a:p>
          <a:p>
            <a:r>
              <a:t>Trace the pyramid from top (Registers/Cache) to bottom (RAM/SSD).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The hierarchy starts with registers, which are the fastest and smallest, followed by cache, RAM, and finally secondary storage such as SSDs and hard disks.</a:t>
            </a:r>
          </a:p>
          <a:p/>
          <a:p>
            <a:r>
              <a:t>2. KEY ARCHITECTURAL CONCEPT:</a:t>
            </a:r>
          </a:p>
          <a:p>
            <a:r>
              <a:t>Step-by-step characteristics of Registers, Cache (SRAM), Main Memory (DRAM), and Secondary Storage (NVM/Disks).</a:t>
            </a:r>
          </a:p>
          <a:p/>
          <a:p>
            <a:r>
              <a:t>3. TRANSITION TO NEXT SLIDE:</a:t>
            </a:r>
          </a:p>
          <a:p>
            <a:r>
              <a:t>Next, why does caching work so effectively? Let's look at the Locality of Reference.</a:t>
            </a:r>
          </a:p>
          <a:p/>
          <a:p>
            <a:r>
              <a:t>4. PRESENTATION CUE:</a:t>
            </a:r>
          </a:p>
          <a:p>
            <a:r>
              <a:t>Point to the 4 columns from fastest (Registers) to largest (Secondary Storage).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Cache is important because programs usually show locality of reference. Temporal locality means that data used recently is likely to be used again soon. Spatial locality means that data near recently used data is likely to be needed next.</a:t>
            </a:r>
          </a:p>
          <a:p/>
          <a:p>
            <a:r>
              <a:t>2. KEY ARCHITECTURAL CONCEPT:</a:t>
            </a:r>
          </a:p>
          <a:p>
            <a:r>
              <a:t>Temporal locality (reuse in time) and Spatial locality (adjacency in space) are the core reasons caching succeeds.</a:t>
            </a:r>
          </a:p>
          <a:p/>
          <a:p>
            <a:r>
              <a:t>3. TRANSITION TO NEXT SLIDE:</a:t>
            </a:r>
          </a:p>
          <a:p>
            <a:r>
              <a:t>Now let's examine the difference between volatile and non-volatile storage.</a:t>
            </a:r>
          </a:p>
          <a:p/>
          <a:p>
            <a:r>
              <a:t>4. PRESENTATION CUE:</a:t>
            </a:r>
          </a:p>
          <a:p>
            <a:r>
              <a:t>Highlight the contrast between loop re-execution (Temporal) and sequential array scans (Spatial).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RAM is volatile, meaning it loses its contents when power is turned off. SSDs and hard disks are non-volatile, so they retain data even without power.</a:t>
            </a:r>
          </a:p>
          <a:p/>
          <a:p>
            <a:r>
              <a:t>2. KEY ARCHITECTURAL CONCEPT:</a:t>
            </a:r>
          </a:p>
          <a:p>
            <a:r>
              <a:t>Volatile working RAM vs Non-volatile secondary storage (SSDs/HDDs) and the role of permanent file storage.</a:t>
            </a:r>
          </a:p>
          <a:p/>
          <a:p>
            <a:r>
              <a:t>3. TRANSITION TO NEXT SLIDE:</a:t>
            </a:r>
          </a:p>
          <a:p>
            <a:r>
              <a:t>Next, how does the Operating System manage this entire storage hierarchy efficiently?</a:t>
            </a:r>
          </a:p>
          <a:p/>
          <a:p>
            <a:r>
              <a:t>4. PRESENTATION CUE:</a:t>
            </a:r>
          </a:p>
          <a:p>
            <a:r>
              <a:t>Emphasize that volatile RAM provides execution speed while non-volatile SSDs provide data permanence.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The OS uses techniques such as paging, buffering, disk caching, and prefetching to use this hierarchy efficiently. Now Lochan will take over to discuss multiprocessing.</a:t>
            </a:r>
          </a:p>
          <a:p/>
          <a:p>
            <a:r>
              <a:t>2. KEY ARCHITECTURAL CONCEPT:</a:t>
            </a:r>
          </a:p>
          <a:p>
            <a:r>
              <a:t>Operating system storage management techniques: Paging, Buffering, Disk Caching, and Prefetching.</a:t>
            </a:r>
          </a:p>
          <a:p/>
          <a:p>
            <a:r>
              <a:t>3. TRANSITION TO NEXT SLIDE:</a:t>
            </a:r>
          </a:p>
          <a:p>
            <a:r>
              <a:t>I will now pass the presentation to Lochan, who will explain multiprocessing, modern multicore systems, and OS challenges.</a:t>
            </a:r>
          </a:p>
          <a:p/>
          <a:p>
            <a:r>
              <a:t>4. PRESENTATION CUE:</a:t>
            </a:r>
          </a:p>
          <a:p>
            <a:r>
              <a:t>Hand over clicker to Lochan.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Thank you. Moving into modern architectures, we look at multiprocessing. Unlike older systems with a single CPU, multiprocessor systems use multiple CPUs sharing the same bus and memory to run tasks simultaneously.</a:t>
            </a:r>
          </a:p>
          <a:p/>
          <a:p>
            <a:r>
              <a:t>2. KEY ARCHITECTURAL CONCEPT:</a:t>
            </a:r>
          </a:p>
          <a:p>
            <a:r>
              <a:t>Single-processor serial execution vs multiprocessor concurrent hardware execution.</a:t>
            </a:r>
          </a:p>
          <a:p/>
          <a:p>
            <a:r>
              <a:t>3. TRANSITION TO NEXT SLIDE:</a:t>
            </a:r>
          </a:p>
          <a:p>
            <a:r>
              <a:t>Let us examine the two primary multiprocessing architectural approaches: SMP and AMP.</a:t>
            </a:r>
          </a:p>
          <a:p/>
          <a:p>
            <a:r>
              <a:t>4. PRESENTATION CUE:</a:t>
            </a:r>
          </a:p>
          <a:p>
            <a:r>
              <a:t>Point to the single CPU path versus the multiple parallel CPU paths on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There are two main approaches here: Symmetric, where all processors are equal peers, and Asymmetric, where a master processor delegates work to slave processors.</a:t>
            </a:r>
          </a:p>
          <a:p/>
          <a:p>
            <a:r>
              <a:t>2. KEY ARCHITECTURAL CONCEPT:</a:t>
            </a:r>
          </a:p>
          <a:p>
            <a:r>
              <a:t>Symmetric (peer-to-peer) vs Asymmetric (master-slave) multiprocessing models and their trade-offs.</a:t>
            </a:r>
          </a:p>
          <a:p/>
          <a:p>
            <a:r>
              <a:t>3. TRANSITION TO NEXT SLIDE:</a:t>
            </a:r>
          </a:p>
          <a:p>
            <a:r>
              <a:t>Now let's examine modern systems: Multicore chips and Clustered systems.</a:t>
            </a:r>
          </a:p>
          <a:p/>
          <a:p>
            <a:r>
              <a:t>4. PRESENTATION CUE:</a:t>
            </a:r>
          </a:p>
          <a:p>
            <a:r>
              <a:t>Contrast the decentralized peer model of SMP with the centralized master-slave model of AMP.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Today, this scales up into Multicore processors, where multiple cores live on one chip, and Clustered systems, where whole independent computers network together to act as one.</a:t>
            </a:r>
          </a:p>
          <a:p/>
          <a:p>
            <a:r>
              <a:t>2. KEY ARCHITECTURAL CONCEPT:</a:t>
            </a:r>
          </a:p>
          <a:p>
            <a:r>
              <a:t>Multicore processors (on-chip parallelism) and Clustered systems (distributed high-availability nodes).</a:t>
            </a:r>
          </a:p>
          <a:p/>
          <a:p>
            <a:r>
              <a:t>3. TRANSITION TO NEXT SLIDE:</a:t>
            </a:r>
          </a:p>
          <a:p>
            <a:r>
              <a:t>However, multiprocessing creates significant challenges for the operating system. Let's look at those challenges.</a:t>
            </a:r>
          </a:p>
          <a:p/>
          <a:p>
            <a:r>
              <a:t>4. PRESENTATION CUE:</a:t>
            </a:r>
          </a:p>
          <a:p>
            <a:r>
              <a:t>Contrast on-chip multicore scaling with distributed networked cluster scaling.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While this hardware is powerful, it forces the operating system to work harder. The OS must handle complex challenges like CPU scheduling, cache coherence, and load balancing to keep everything running smoothly.</a:t>
            </a:r>
          </a:p>
          <a:p/>
          <a:p>
            <a:r>
              <a:t>2. KEY ARCHITECTURAL CONCEPT:</a:t>
            </a:r>
          </a:p>
          <a:p>
            <a:r>
              <a:t>Four major OS multiprocessing challenges: Scheduling, Cache Coherence, Load Balancing, and Synchronization.</a:t>
            </a:r>
          </a:p>
          <a:p/>
          <a:p>
            <a:r>
              <a:t>3. TRANSITION TO NEXT SLIDE:</a:t>
            </a:r>
          </a:p>
          <a:p>
            <a:r>
              <a:t>Now let's bring our entire presentation together into our final synthesis and key takeaways.</a:t>
            </a:r>
          </a:p>
          <a:p/>
          <a:p>
            <a:r>
              <a:t>4. PRESENTATION CUE:</a:t>
            </a:r>
          </a:p>
          <a:p>
            <a:r>
              <a:t>Review each of the four challenges and explain why hardware parallelism demands sophisticated OS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To summarize our complete presentation: Ram Charan walked us through the core hardware and 3-part system bus; Vedhanth explained the storage hierarchy, locality of reference, and OS caching optimizations; and Lochan covered multiprocessing architectures, SMP vs AMP, multicore, clustering, and OS coordination challenges. On behalf of Ram Charan, Vedhanth, and Lochan, thank you for your attention. We are now open for questions.</a:t>
            </a:r>
          </a:p>
          <a:p/>
          <a:p>
            <a:r>
              <a:t>2. KEY ARCHITECTURAL CONCEPT:</a:t>
            </a:r>
          </a:p>
          <a:p>
            <a:r>
              <a:t>Comprehensive architectural synthesis covering core hardware, system bus, storage hierarchy, locality, multiprocessing, and OS coordination.</a:t>
            </a:r>
          </a:p>
          <a:p/>
          <a:p>
            <a:r>
              <a:t>3. TRANSITION TO NEXT SLIDE:</a:t>
            </a:r>
          </a:p>
          <a:p>
            <a:r>
              <a:t>End of presentation — open floor for Q&amp;A.</a:t>
            </a:r>
          </a:p>
          <a:p/>
          <a:p>
            <a:r>
              <a:t>4. PRESENTATION CUE:</a:t>
            </a:r>
          </a:p>
          <a:p>
            <a:r>
              <a:t>All three presenters step forward together, smile, and invite questions from the professor and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TextBox 1"/>
          <p:cNvSpPr txBox="1"/>
          <p:nvPr/>
        </p:nvSpPr>
        <p:spPr>
          <a:xfrm>
            <a:off x="731520" y="914400"/>
            <a:ext cx="6400800" cy="2011680"/>
          </a:xfrm>
          <a:prstGeom prst="rect">
            <a:avLst/>
          </a:prstGeom>
          <a:noFill/>
        </p:spPr>
        <p:txBody>
          <a:bodyPr wrap="square">
            <a:spAutoFit/>
          </a:bodyPr>
          <a:lstStyle/>
          <a:p>
            <a:pPr>
              <a:defRPr sz="3200" b="1">
                <a:solidFill>
                  <a:srgbClr val="FFFFFF"/>
                </a:solidFill>
                <a:latin typeface="Segoe UI"/>
              </a:defRPr>
            </a:pPr>
            <a:r>
              <a:t>Computer System Architecture</a:t>
            </a:r>
          </a:p>
          <a:p>
            <a:pPr>
              <a:spcBef>
                <a:spcPts val="600"/>
              </a:spcBef>
              <a:defRPr sz="1400" b="1">
                <a:solidFill>
                  <a:srgbClr val="38BDF8"/>
                </a:solidFill>
                <a:latin typeface="Segoe UI"/>
              </a:defRPr>
            </a:pPr>
            <a:r>
              <a:t>Core Hardware, Storage Hierarchies &amp; Modern Multiprocessing</a:t>
            </a:r>
          </a:p>
          <a:p>
            <a:pPr>
              <a:spcBef>
                <a:spcPts val="400"/>
              </a:spcBef>
              <a:defRPr sz="1100">
                <a:solidFill>
                  <a:srgbClr val="A0AFC8"/>
                </a:solidFill>
                <a:latin typeface="Segoe UI"/>
              </a:defRPr>
            </a:pPr>
            <a:r>
              <a:t>Operating Systems — System Architecture &amp; Execution Foundations</a:t>
            </a:r>
          </a:p>
        </p:txBody>
      </p:sp>
      <p:sp>
        <p:nvSpPr>
          <p:cNvPr id="3" name="Oval 2"/>
          <p:cNvSpPr/>
          <p:nvPr/>
        </p:nvSpPr>
        <p:spPr>
          <a:xfrm>
            <a:off x="731520" y="3017520"/>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4" name="TextBox 3"/>
          <p:cNvSpPr txBox="1"/>
          <p:nvPr/>
        </p:nvSpPr>
        <p:spPr>
          <a:xfrm>
            <a:off x="1508760" y="3063239"/>
            <a:ext cx="5029200" cy="548640"/>
          </a:xfrm>
          <a:prstGeom prst="rect">
            <a:avLst/>
          </a:prstGeom>
          <a:noFill/>
        </p:spPr>
        <p:txBody>
          <a:bodyPr wrap="none">
            <a:spAutoFit/>
          </a:bodyPr>
          <a:lstStyle/>
          <a:p>
            <a:pPr>
              <a:defRPr sz="1400" b="1">
                <a:solidFill>
                  <a:srgbClr val="FFFFFF"/>
                </a:solidFill>
                <a:latin typeface="Segoe UI"/>
              </a:defRPr>
            </a:pPr>
            <a:r>
              <a:t>V. Ram Charan</a:t>
            </a:r>
          </a:p>
          <a:p>
            <a:pPr>
              <a:defRPr sz="1000">
                <a:solidFill>
                  <a:srgbClr val="38BDF8"/>
                </a:solidFill>
                <a:latin typeface="Segoe UI"/>
              </a:defRPr>
            </a:pPr>
            <a:r>
              <a:t>Act I Lead — Core Hardware &amp; System Bus</a:t>
            </a:r>
          </a:p>
        </p:txBody>
      </p:sp>
      <p:sp>
        <p:nvSpPr>
          <p:cNvPr id="5" name="Oval 4"/>
          <p:cNvSpPr/>
          <p:nvPr/>
        </p:nvSpPr>
        <p:spPr>
          <a:xfrm>
            <a:off x="731520" y="3886200"/>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6" name="TextBox 5"/>
          <p:cNvSpPr txBox="1"/>
          <p:nvPr/>
        </p:nvSpPr>
        <p:spPr>
          <a:xfrm>
            <a:off x="1508760" y="3931920"/>
            <a:ext cx="5029200" cy="548640"/>
          </a:xfrm>
          <a:prstGeom prst="rect">
            <a:avLst/>
          </a:prstGeom>
          <a:noFill/>
        </p:spPr>
        <p:txBody>
          <a:bodyPr wrap="none">
            <a:spAutoFit/>
          </a:bodyPr>
          <a:lstStyle/>
          <a:p>
            <a:pPr>
              <a:defRPr sz="1400" b="1">
                <a:solidFill>
                  <a:srgbClr val="FFFFFF"/>
                </a:solidFill>
                <a:latin typeface="Segoe UI"/>
              </a:defRPr>
            </a:pPr>
            <a:r>
              <a:t>Vedhanth</a:t>
            </a:r>
          </a:p>
          <a:p>
            <a:pPr>
              <a:defRPr sz="1000">
                <a:solidFill>
                  <a:srgbClr val="818CF8"/>
                </a:solidFill>
                <a:latin typeface="Segoe UI"/>
              </a:defRPr>
            </a:pPr>
            <a:r>
              <a:t>Act II Lead — Memory &amp; Storage Hierarchy</a:t>
            </a:r>
          </a:p>
        </p:txBody>
      </p:sp>
      <p:sp>
        <p:nvSpPr>
          <p:cNvPr id="7" name="Oval 6"/>
          <p:cNvSpPr/>
          <p:nvPr/>
        </p:nvSpPr>
        <p:spPr>
          <a:xfrm>
            <a:off x="731520" y="4754879"/>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8" name="TextBox 7"/>
          <p:cNvSpPr txBox="1"/>
          <p:nvPr/>
        </p:nvSpPr>
        <p:spPr>
          <a:xfrm>
            <a:off x="1508760" y="4800599"/>
            <a:ext cx="5029200" cy="548640"/>
          </a:xfrm>
          <a:prstGeom prst="rect">
            <a:avLst/>
          </a:prstGeom>
          <a:noFill/>
        </p:spPr>
        <p:txBody>
          <a:bodyPr wrap="none">
            <a:spAutoFit/>
          </a:bodyPr>
          <a:lstStyle/>
          <a:p>
            <a:pPr>
              <a:defRPr sz="1400" b="1">
                <a:solidFill>
                  <a:srgbClr val="FFFFFF"/>
                </a:solidFill>
                <a:latin typeface="Segoe UI"/>
              </a:defRPr>
            </a:pPr>
            <a:r>
              <a:t>Lochan</a:t>
            </a:r>
          </a:p>
          <a:p>
            <a:pPr>
              <a:defRPr sz="1000">
                <a:solidFill>
                  <a:srgbClr val="34D399"/>
                </a:solidFill>
                <a:latin typeface="Segoe UI"/>
              </a:defRPr>
            </a:pPr>
            <a:r>
              <a:t>Act III Lead — Multiprocessing &amp; Modern Architectures</a:t>
            </a:r>
          </a:p>
        </p:txBody>
      </p:sp>
      <p:sp>
        <p:nvSpPr>
          <p:cNvPr id="9" name="Rectangle 8"/>
          <p:cNvSpPr/>
          <p:nvPr/>
        </p:nvSpPr>
        <p:spPr>
          <a:xfrm>
            <a:off x="731520" y="5760720"/>
            <a:ext cx="54864" cy="5943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760720"/>
            <a:ext cx="6217920" cy="594360"/>
          </a:xfrm>
          <a:prstGeom prst="rect">
            <a:avLst/>
          </a:prstGeom>
          <a:noFill/>
        </p:spPr>
        <p:txBody>
          <a:bodyPr wrap="square">
            <a:spAutoFit/>
          </a:bodyPr>
          <a:lstStyle/>
          <a:p>
            <a:pPr>
              <a:defRPr sz="1100" i="1">
                <a:solidFill>
                  <a:srgbClr val="A0AFC8"/>
                </a:solidFill>
                <a:latin typeface="Segoe UI"/>
              </a:defRPr>
            </a:pPr>
            <a:r>
              <a:t>"The operating system is the software most intimately involved with computer hardware."</a:t>
            </a:r>
          </a:p>
        </p:txBody>
      </p:sp>
      <p:pic>
        <p:nvPicPr>
          <p:cNvPr id="11" name="Picture 10" descr="iso_motherboard.png"/>
          <p:cNvPicPr>
            <a:picLocks noChangeAspect="1"/>
          </p:cNvPicPr>
          <p:nvPr/>
        </p:nvPicPr>
        <p:blipFill>
          <a:blip r:embed="rId2"/>
          <a:stretch>
            <a:fillRect/>
          </a:stretch>
        </p:blipFill>
        <p:spPr>
          <a:xfrm>
            <a:off x="6583680" y="1188720"/>
            <a:ext cx="4937760" cy="2755959"/>
          </a:xfrm>
          <a:prstGeom prst="rect">
            <a:avLst/>
          </a:prstGeom>
        </p:spPr>
      </p:pic>
    </p:spTree>
  </p:cSld>
  <p:clrMapOvr>
    <a:masterClrMapping/>
  </p:clrMapOvr>
  <p:transition spd="med" advClick="1">
    <p:morph option="byObject"/>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 CORE HARDWARE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 RAM CHARAN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02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The Three Fundamental Hardware Pillars</a:t>
            </a:r>
          </a:p>
          <a:p>
            <a:pPr>
              <a:spcBef>
                <a:spcPts val="200"/>
              </a:spcBef>
              <a:defRPr sz="1150">
                <a:solidFill>
                  <a:srgbClr val="A0AFC8"/>
                </a:solidFill>
                <a:latin typeface="Segoe UI"/>
              </a:defRPr>
            </a:pPr>
            <a:r>
              <a:t>The CPU, Main Memory &amp; I/O Devices Powering Computation</a:t>
            </a:r>
          </a:p>
        </p:txBody>
      </p:sp>
      <p:sp>
        <p:nvSpPr>
          <p:cNvPr id="6" name="Rounded Rectangle 5"/>
          <p:cNvSpPr/>
          <p:nvPr/>
        </p:nvSpPr>
        <p:spPr>
          <a:xfrm>
            <a:off x="731520" y="1645920"/>
            <a:ext cx="333756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3192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3794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2880360" cy="365760"/>
          </a:xfrm>
          <a:prstGeom prst="rect">
            <a:avLst/>
          </a:prstGeom>
          <a:noFill/>
        </p:spPr>
        <p:txBody>
          <a:bodyPr wrap="square" lIns="0" tIns="0" rIns="0" bIns="0">
            <a:spAutoFit/>
          </a:bodyPr>
          <a:lstStyle/>
          <a:p>
            <a:pPr>
              <a:defRPr sz="1300" b="1">
                <a:solidFill>
                  <a:srgbClr val="FFFFFF"/>
                </a:solidFill>
                <a:latin typeface="Segoe UI"/>
              </a:defRPr>
            </a:pPr>
            <a:r>
              <a:t>The CPU (Processor)</a:t>
            </a:r>
          </a:p>
        </p:txBody>
      </p:sp>
      <p:sp>
        <p:nvSpPr>
          <p:cNvPr id="10" name="TextBox 9"/>
          <p:cNvSpPr txBox="1"/>
          <p:nvPr/>
        </p:nvSpPr>
        <p:spPr>
          <a:xfrm>
            <a:off x="960120" y="2057400"/>
            <a:ext cx="2880360" cy="320040"/>
          </a:xfrm>
          <a:prstGeom prst="rect">
            <a:avLst/>
          </a:prstGeom>
          <a:noFill/>
        </p:spPr>
        <p:txBody>
          <a:bodyPr wrap="none">
            <a:spAutoFit/>
          </a:bodyPr>
          <a:lstStyle/>
          <a:p>
            <a:pPr>
              <a:defRPr sz="950" b="1">
                <a:solidFill>
                  <a:srgbClr val="38BDF8"/>
                </a:solidFill>
                <a:latin typeface="Segoe UI"/>
              </a:defRPr>
            </a:pPr>
            <a:r>
              <a:t>Fetch, Decode, Execute</a:t>
            </a:r>
          </a:p>
        </p:txBody>
      </p:sp>
      <p:sp>
        <p:nvSpPr>
          <p:cNvPr id="11" name="TextBox 10"/>
          <p:cNvSpPr txBox="1"/>
          <p:nvPr/>
        </p:nvSpPr>
        <p:spPr>
          <a:xfrm>
            <a:off x="960120" y="2468880"/>
            <a:ext cx="2880360" cy="3017520"/>
          </a:xfrm>
          <a:prstGeom prst="rect">
            <a:avLst/>
          </a:prstGeom>
          <a:noFill/>
        </p:spPr>
        <p:txBody>
          <a:bodyPr wrap="square" lIns="0" tIns="0" rIns="0" bIns="0">
            <a:spAutoFit/>
          </a:bodyPr>
          <a:lstStyle/>
          <a:p>
            <a:pPr>
              <a:spcBef>
                <a:spcPts val="0"/>
              </a:spcBef>
              <a:defRPr sz="1050">
                <a:solidFill>
                  <a:srgbClr val="A0AFC8"/>
                </a:solidFill>
                <a:latin typeface="Segoe UI"/>
              </a:defRPr>
            </a:pPr>
            <a:r>
              <a:t>• Responsible for fetching, decoding, and executing instructions.</a:t>
            </a:r>
          </a:p>
          <a:p>
            <a:pPr>
              <a:spcBef>
                <a:spcPts val="400"/>
              </a:spcBef>
              <a:defRPr sz="1050">
                <a:solidFill>
                  <a:srgbClr val="A0AFC8"/>
                </a:solidFill>
                <a:latin typeface="Segoe UI"/>
              </a:defRPr>
            </a:pPr>
            <a:r>
              <a:t>• Contains Arithmetic Logic Unit (ALU), Control Unit (CU), and high-speed registers.</a:t>
            </a:r>
          </a:p>
          <a:p>
            <a:pPr>
              <a:spcBef>
                <a:spcPts val="400"/>
              </a:spcBef>
              <a:defRPr sz="1050">
                <a:solidFill>
                  <a:srgbClr val="A0AFC8"/>
                </a:solidFill>
                <a:latin typeface="Segoe UI"/>
              </a:defRPr>
            </a:pPr>
            <a:r>
              <a:t>• Coordinates calculations and directs binary program flow.</a:t>
            </a:r>
          </a:p>
        </p:txBody>
      </p:sp>
      <p:sp>
        <p:nvSpPr>
          <p:cNvPr id="12" name="Rounded Rectangle 11"/>
          <p:cNvSpPr/>
          <p:nvPr/>
        </p:nvSpPr>
        <p:spPr>
          <a:xfrm>
            <a:off x="4434840" y="1645920"/>
            <a:ext cx="333756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17190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36576" cy="379476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783080"/>
            <a:ext cx="2880360" cy="365760"/>
          </a:xfrm>
          <a:prstGeom prst="rect">
            <a:avLst/>
          </a:prstGeom>
          <a:noFill/>
        </p:spPr>
        <p:txBody>
          <a:bodyPr wrap="square" lIns="0" tIns="0" rIns="0" bIns="0">
            <a:spAutoFit/>
          </a:bodyPr>
          <a:lstStyle/>
          <a:p>
            <a:pPr>
              <a:defRPr sz="1300" b="1">
                <a:solidFill>
                  <a:srgbClr val="FFFFFF"/>
                </a:solidFill>
                <a:latin typeface="Segoe UI"/>
              </a:defRPr>
            </a:pPr>
            <a:r>
              <a:t>Main Memory (RAM)</a:t>
            </a:r>
          </a:p>
        </p:txBody>
      </p:sp>
      <p:sp>
        <p:nvSpPr>
          <p:cNvPr id="16" name="TextBox 15"/>
          <p:cNvSpPr txBox="1"/>
          <p:nvPr/>
        </p:nvSpPr>
        <p:spPr>
          <a:xfrm>
            <a:off x="4663440" y="2057400"/>
            <a:ext cx="2880360" cy="320040"/>
          </a:xfrm>
          <a:prstGeom prst="rect">
            <a:avLst/>
          </a:prstGeom>
          <a:noFill/>
        </p:spPr>
        <p:txBody>
          <a:bodyPr wrap="none">
            <a:spAutoFit/>
          </a:bodyPr>
          <a:lstStyle/>
          <a:p>
            <a:pPr>
              <a:defRPr sz="950" b="1">
                <a:solidFill>
                  <a:srgbClr val="818CF8"/>
                </a:solidFill>
                <a:latin typeface="Segoe UI"/>
              </a:defRPr>
            </a:pPr>
            <a:r>
              <a:t>Active Program Workspace</a:t>
            </a:r>
          </a:p>
        </p:txBody>
      </p:sp>
      <p:sp>
        <p:nvSpPr>
          <p:cNvPr id="17" name="TextBox 16"/>
          <p:cNvSpPr txBox="1"/>
          <p:nvPr/>
        </p:nvSpPr>
        <p:spPr>
          <a:xfrm>
            <a:off x="4663440" y="2468880"/>
            <a:ext cx="2880360" cy="3017520"/>
          </a:xfrm>
          <a:prstGeom prst="rect">
            <a:avLst/>
          </a:prstGeom>
          <a:noFill/>
        </p:spPr>
        <p:txBody>
          <a:bodyPr wrap="square" lIns="0" tIns="0" rIns="0" bIns="0">
            <a:spAutoFit/>
          </a:bodyPr>
          <a:lstStyle/>
          <a:p>
            <a:pPr>
              <a:spcBef>
                <a:spcPts val="0"/>
              </a:spcBef>
              <a:defRPr sz="1050">
                <a:solidFill>
                  <a:srgbClr val="A0AFC8"/>
                </a:solidFill>
                <a:latin typeface="Segoe UI"/>
              </a:defRPr>
            </a:pPr>
            <a:r>
              <a:t>• Stores the data and programs that are currently being used.</a:t>
            </a:r>
          </a:p>
          <a:p>
            <a:pPr>
              <a:spcBef>
                <a:spcPts val="400"/>
              </a:spcBef>
              <a:defRPr sz="1050">
                <a:solidFill>
                  <a:srgbClr val="A0AFC8"/>
                </a:solidFill>
                <a:latin typeface="Segoe UI"/>
              </a:defRPr>
            </a:pPr>
            <a:r>
              <a:t>• The only large storage medium directly accessible and executable by the CPU.</a:t>
            </a:r>
          </a:p>
          <a:p>
            <a:pPr>
              <a:spcBef>
                <a:spcPts val="400"/>
              </a:spcBef>
              <a:defRPr sz="1050">
                <a:solidFill>
                  <a:srgbClr val="A0AFC8"/>
                </a:solidFill>
                <a:latin typeface="Segoe UI"/>
              </a:defRPr>
            </a:pPr>
            <a:r>
              <a:t>• Volatile working area holding active instructions.</a:t>
            </a:r>
          </a:p>
        </p:txBody>
      </p:sp>
      <p:sp>
        <p:nvSpPr>
          <p:cNvPr id="18" name="Rounded Rectangle 17"/>
          <p:cNvSpPr/>
          <p:nvPr/>
        </p:nvSpPr>
        <p:spPr>
          <a:xfrm>
            <a:off x="8138160" y="1645920"/>
            <a:ext cx="333756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38560" y="17190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783080"/>
            <a:ext cx="36576" cy="37947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783080"/>
            <a:ext cx="2880360" cy="365760"/>
          </a:xfrm>
          <a:prstGeom prst="rect">
            <a:avLst/>
          </a:prstGeom>
          <a:noFill/>
        </p:spPr>
        <p:txBody>
          <a:bodyPr wrap="square" lIns="0" tIns="0" rIns="0" bIns="0">
            <a:spAutoFit/>
          </a:bodyPr>
          <a:lstStyle/>
          <a:p>
            <a:pPr>
              <a:defRPr sz="1300" b="1">
                <a:solidFill>
                  <a:srgbClr val="FFFFFF"/>
                </a:solidFill>
                <a:latin typeface="Segoe UI"/>
              </a:defRPr>
            </a:pPr>
            <a:r>
              <a:t>I/O Devices</a:t>
            </a:r>
          </a:p>
        </p:txBody>
      </p:sp>
      <p:sp>
        <p:nvSpPr>
          <p:cNvPr id="22" name="TextBox 21"/>
          <p:cNvSpPr txBox="1"/>
          <p:nvPr/>
        </p:nvSpPr>
        <p:spPr>
          <a:xfrm>
            <a:off x="8366760" y="2057400"/>
            <a:ext cx="2880360" cy="320040"/>
          </a:xfrm>
          <a:prstGeom prst="rect">
            <a:avLst/>
          </a:prstGeom>
          <a:noFill/>
        </p:spPr>
        <p:txBody>
          <a:bodyPr wrap="none">
            <a:spAutoFit/>
          </a:bodyPr>
          <a:lstStyle/>
          <a:p>
            <a:pPr>
              <a:defRPr sz="950" b="1">
                <a:solidFill>
                  <a:srgbClr val="34D399"/>
                </a:solidFill>
                <a:latin typeface="Segoe UI"/>
              </a:defRPr>
            </a:pPr>
            <a:r>
              <a:t>Peripherals &amp; External Bridge</a:t>
            </a:r>
          </a:p>
        </p:txBody>
      </p:sp>
      <p:sp>
        <p:nvSpPr>
          <p:cNvPr id="23" name="TextBox 22"/>
          <p:cNvSpPr txBox="1"/>
          <p:nvPr/>
        </p:nvSpPr>
        <p:spPr>
          <a:xfrm>
            <a:off x="8366760" y="2468880"/>
            <a:ext cx="2880360" cy="3017520"/>
          </a:xfrm>
          <a:prstGeom prst="rect">
            <a:avLst/>
          </a:prstGeom>
          <a:noFill/>
        </p:spPr>
        <p:txBody>
          <a:bodyPr wrap="square" lIns="0" tIns="0" rIns="0" bIns="0">
            <a:spAutoFit/>
          </a:bodyPr>
          <a:lstStyle/>
          <a:p>
            <a:pPr>
              <a:spcBef>
                <a:spcPts val="0"/>
              </a:spcBef>
              <a:defRPr sz="1050">
                <a:solidFill>
                  <a:srgbClr val="A0AFC8"/>
                </a:solidFill>
                <a:latin typeface="Segoe UI"/>
              </a:defRPr>
            </a:pPr>
            <a:r>
              <a:t>• Helps the computer communicate with the outside world.</a:t>
            </a:r>
          </a:p>
          <a:p>
            <a:pPr>
              <a:spcBef>
                <a:spcPts val="400"/>
              </a:spcBef>
              <a:defRPr sz="1050">
                <a:solidFill>
                  <a:srgbClr val="A0AFC8"/>
                </a:solidFill>
                <a:latin typeface="Segoe UI"/>
              </a:defRPr>
            </a:pPr>
            <a:r>
              <a:t>• Includes storage drives, displays, input devices, and network cards.</a:t>
            </a:r>
          </a:p>
          <a:p>
            <a:pPr>
              <a:spcBef>
                <a:spcPts val="400"/>
              </a:spcBef>
              <a:defRPr sz="1050">
                <a:solidFill>
                  <a:srgbClr val="A0AFC8"/>
                </a:solidFill>
                <a:latin typeface="Segoe UI"/>
              </a:defRPr>
            </a:pPr>
            <a:r>
              <a:t>• Managed by dedicated hardware device controllers.</a:t>
            </a:r>
          </a:p>
        </p:txBody>
      </p:sp>
      <p:sp>
        <p:nvSpPr>
          <p:cNvPr id="24" name="Rounded Rectangle 23"/>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Hardware Core: </a:t>
            </a:r>
            <a:r>
              <a:rPr sz="1000" b="0">
                <a:solidFill>
                  <a:srgbClr val="FFFFFF"/>
                </a:solidFill>
                <a:latin typeface="Segoe UI"/>
              </a:rPr>
              <a:t>The CPU executes instructions, Main Memory provides active storage, and I/O Devices bridge external communication.</a:t>
            </a:r>
          </a:p>
        </p:txBody>
      </p:sp>
    </p:spTree>
  </p:cSld>
  <p:clrMapOvr>
    <a:masterClrMapping/>
  </p:clrMapOvr>
  <p:transition spd="med" advClick="1">
    <p:morph option="byObject"/>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 CORE HARDWARE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 RAM CHARAN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03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The System Bus Architecture</a:t>
            </a:r>
          </a:p>
          <a:p>
            <a:pPr>
              <a:spcBef>
                <a:spcPts val="200"/>
              </a:spcBef>
              <a:defRPr sz="1150">
                <a:solidFill>
                  <a:srgbClr val="A0AFC8"/>
                </a:solidFill>
                <a:latin typeface="Segoe UI"/>
              </a:defRPr>
            </a:pPr>
            <a:r>
              <a:t>Three Specialized High-Speed Communication Channels</a:t>
            </a:r>
          </a:p>
        </p:txBody>
      </p:sp>
      <p:sp>
        <p:nvSpPr>
          <p:cNvPr id="6" name="Rounded Rectangle 5"/>
          <p:cNvSpPr/>
          <p:nvPr/>
        </p:nvSpPr>
        <p:spPr>
          <a:xfrm>
            <a:off x="731520" y="1645920"/>
            <a:ext cx="5303520" cy="11887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97879"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914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846320" cy="365760"/>
          </a:xfrm>
          <a:prstGeom prst="rect">
            <a:avLst/>
          </a:prstGeom>
          <a:noFill/>
        </p:spPr>
        <p:txBody>
          <a:bodyPr wrap="square" lIns="0" tIns="0" rIns="0" bIns="0">
            <a:spAutoFit/>
          </a:bodyPr>
          <a:lstStyle/>
          <a:p>
            <a:pPr>
              <a:defRPr sz="1300" b="1">
                <a:solidFill>
                  <a:srgbClr val="FFFFFF"/>
                </a:solidFill>
                <a:latin typeface="Segoe UI"/>
              </a:defRPr>
            </a:pPr>
            <a:r>
              <a:t>1. Address Bus</a:t>
            </a:r>
          </a:p>
        </p:txBody>
      </p:sp>
      <p:sp>
        <p:nvSpPr>
          <p:cNvPr id="10" name="TextBox 9"/>
          <p:cNvSpPr txBox="1"/>
          <p:nvPr/>
        </p:nvSpPr>
        <p:spPr>
          <a:xfrm>
            <a:off x="960120" y="2057400"/>
            <a:ext cx="4846320" cy="685800"/>
          </a:xfrm>
          <a:prstGeom prst="rect">
            <a:avLst/>
          </a:prstGeom>
          <a:noFill/>
        </p:spPr>
        <p:txBody>
          <a:bodyPr wrap="square">
            <a:spAutoFit/>
          </a:bodyPr>
          <a:lstStyle/>
          <a:p>
            <a:pPr>
              <a:defRPr sz="1050">
                <a:solidFill>
                  <a:srgbClr val="A0AFC8"/>
                </a:solidFill>
                <a:latin typeface="Segoe UI"/>
              </a:defRPr>
            </a:pPr>
            <a:r>
              <a:t>Tells WHERE the data should go by carrying memory addresses and I/O port targets (Unidirectional from CPU/DMA).</a:t>
            </a:r>
          </a:p>
        </p:txBody>
      </p:sp>
      <p:sp>
        <p:nvSpPr>
          <p:cNvPr id="11" name="Rounded Rectangle 10"/>
          <p:cNvSpPr/>
          <p:nvPr/>
        </p:nvSpPr>
        <p:spPr>
          <a:xfrm>
            <a:off x="731520" y="2971800"/>
            <a:ext cx="5303520" cy="11887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97879" y="304495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108960"/>
            <a:ext cx="36576" cy="91440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108960"/>
            <a:ext cx="4846320" cy="365760"/>
          </a:xfrm>
          <a:prstGeom prst="rect">
            <a:avLst/>
          </a:prstGeom>
          <a:noFill/>
        </p:spPr>
        <p:txBody>
          <a:bodyPr wrap="square" lIns="0" tIns="0" rIns="0" bIns="0">
            <a:spAutoFit/>
          </a:bodyPr>
          <a:lstStyle/>
          <a:p>
            <a:pPr>
              <a:defRPr sz="1300" b="1">
                <a:solidFill>
                  <a:srgbClr val="FFFFFF"/>
                </a:solidFill>
                <a:latin typeface="Segoe UI"/>
              </a:defRPr>
            </a:pPr>
            <a:r>
              <a:t>2. Data Bus</a:t>
            </a:r>
          </a:p>
        </p:txBody>
      </p:sp>
      <p:sp>
        <p:nvSpPr>
          <p:cNvPr id="15" name="TextBox 14"/>
          <p:cNvSpPr txBox="1"/>
          <p:nvPr/>
        </p:nvSpPr>
        <p:spPr>
          <a:xfrm>
            <a:off x="960120" y="3383280"/>
            <a:ext cx="4846320" cy="685800"/>
          </a:xfrm>
          <a:prstGeom prst="rect">
            <a:avLst/>
          </a:prstGeom>
          <a:noFill/>
        </p:spPr>
        <p:txBody>
          <a:bodyPr wrap="square">
            <a:spAutoFit/>
          </a:bodyPr>
          <a:lstStyle/>
          <a:p>
            <a:pPr>
              <a:defRPr sz="1050">
                <a:solidFill>
                  <a:srgbClr val="A0AFC8"/>
                </a:solidFill>
                <a:latin typeface="Segoe UI"/>
              </a:defRPr>
            </a:pPr>
            <a:r>
              <a:t>Carries the ACTUAL DATA and binary instructions between CPU, memory, and controllers (Bidirectional).</a:t>
            </a:r>
          </a:p>
        </p:txBody>
      </p:sp>
      <p:sp>
        <p:nvSpPr>
          <p:cNvPr id="16" name="Rounded Rectangle 15"/>
          <p:cNvSpPr/>
          <p:nvPr/>
        </p:nvSpPr>
        <p:spPr>
          <a:xfrm>
            <a:off x="731520" y="4297680"/>
            <a:ext cx="5303520" cy="11887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79" y="437083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36576" cy="9144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434840"/>
            <a:ext cx="4846320" cy="365760"/>
          </a:xfrm>
          <a:prstGeom prst="rect">
            <a:avLst/>
          </a:prstGeom>
          <a:noFill/>
        </p:spPr>
        <p:txBody>
          <a:bodyPr wrap="square" lIns="0" tIns="0" rIns="0" bIns="0">
            <a:spAutoFit/>
          </a:bodyPr>
          <a:lstStyle/>
          <a:p>
            <a:pPr>
              <a:defRPr sz="1300" b="1">
                <a:solidFill>
                  <a:srgbClr val="FFFFFF"/>
                </a:solidFill>
                <a:latin typeface="Segoe UI"/>
              </a:defRPr>
            </a:pPr>
            <a:r>
              <a:t>3. Control Bus</a:t>
            </a:r>
          </a:p>
        </p:txBody>
      </p:sp>
      <p:sp>
        <p:nvSpPr>
          <p:cNvPr id="20" name="TextBox 19"/>
          <p:cNvSpPr txBox="1"/>
          <p:nvPr/>
        </p:nvSpPr>
        <p:spPr>
          <a:xfrm>
            <a:off x="960120" y="4709160"/>
            <a:ext cx="4846320" cy="685800"/>
          </a:xfrm>
          <a:prstGeom prst="rect">
            <a:avLst/>
          </a:prstGeom>
          <a:noFill/>
        </p:spPr>
        <p:txBody>
          <a:bodyPr wrap="square">
            <a:spAutoFit/>
          </a:bodyPr>
          <a:lstStyle/>
          <a:p>
            <a:pPr>
              <a:defRPr sz="1050">
                <a:solidFill>
                  <a:srgbClr val="A0AFC8"/>
                </a:solidFill>
                <a:latin typeface="Segoe UI"/>
              </a:defRPr>
            </a:pPr>
            <a:r>
              <a:t>Carries CONTROL SIGNALS and timing clocks — Read/Write commands, Interrupt requests, and ACKs (Bidirectional).</a:t>
            </a:r>
          </a:p>
        </p:txBody>
      </p:sp>
      <p:pic>
        <p:nvPicPr>
          <p:cNvPr id="21" name="Picture 20" descr="iso_system_bus.png"/>
          <p:cNvPicPr>
            <a:picLocks noChangeAspect="1"/>
          </p:cNvPicPr>
          <p:nvPr/>
        </p:nvPicPr>
        <p:blipFill>
          <a:blip r:embed="rId2"/>
          <a:stretch>
            <a:fillRect/>
          </a:stretch>
        </p:blipFill>
        <p:spPr>
          <a:xfrm>
            <a:off x="6400800" y="1371600"/>
            <a:ext cx="5029200" cy="2806995"/>
          </a:xfrm>
          <a:prstGeom prst="rect">
            <a:avLst/>
          </a:prstGeom>
        </p:spPr>
      </p:pic>
      <p:sp>
        <p:nvSpPr>
          <p:cNvPr id="22" name="Rounded Rectangle 21"/>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System Bus Synchronization: </a:t>
            </a:r>
            <a:r>
              <a:rPr sz="1000" b="0">
                <a:solidFill>
                  <a:srgbClr val="FFFFFF"/>
                </a:solidFill>
                <a:latin typeface="Segoe UI"/>
              </a:rPr>
              <a:t>These three buses work synchronously to coordinate all instruction fetching, operand reads, and device data transfers.</a:t>
            </a:r>
          </a:p>
        </p:txBody>
      </p:sp>
    </p:spTree>
  </p:cSld>
  <p:clrMapOvr>
    <a:masterClrMapping/>
  </p:clrMapOvr>
  <p:transition spd="med" advClick="1">
    <p:morph option="byObject"/>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 CORE HARDWARE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 RAM CHARAN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04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Hardware Communication: Interrupts &amp; DMA</a:t>
            </a:r>
          </a:p>
          <a:p>
            <a:pPr>
              <a:spcBef>
                <a:spcPts val="200"/>
              </a:spcBef>
              <a:defRPr sz="1150">
                <a:solidFill>
                  <a:srgbClr val="A0AFC8"/>
                </a:solidFill>
                <a:latin typeface="Segoe UI"/>
              </a:defRPr>
            </a:pPr>
            <a:r>
              <a:t>Asynchronous Event Signaling &amp; High-Speed Memory Transfers</a:t>
            </a:r>
          </a:p>
        </p:txBody>
      </p:sp>
      <p:sp>
        <p:nvSpPr>
          <p:cNvPr id="6" name="Rounded Rectangle 5"/>
          <p:cNvSpPr/>
          <p:nvPr/>
        </p:nvSpPr>
        <p:spPr>
          <a:xfrm>
            <a:off x="731520" y="1645920"/>
            <a:ext cx="52120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0644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3794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Interrupt Mechanism (Event Signaling)</a:t>
            </a:r>
          </a:p>
        </p:txBody>
      </p:sp>
      <p:sp>
        <p:nvSpPr>
          <p:cNvPr id="10" name="TextBox 9"/>
          <p:cNvSpPr txBox="1"/>
          <p:nvPr/>
        </p:nvSpPr>
        <p:spPr>
          <a:xfrm>
            <a:off x="960120" y="2194560"/>
            <a:ext cx="4754880" cy="3291840"/>
          </a:xfrm>
          <a:prstGeom prst="rect">
            <a:avLst/>
          </a:prstGeom>
          <a:noFill/>
        </p:spPr>
        <p:txBody>
          <a:bodyPr wrap="square" lIns="0" tIns="0" rIns="0" bIns="0">
            <a:spAutoFit/>
          </a:bodyPr>
          <a:lstStyle/>
          <a:p>
            <a:pPr>
              <a:spcBef>
                <a:spcPts val="0"/>
              </a:spcBef>
              <a:defRPr sz="1100" b="1">
                <a:solidFill>
                  <a:srgbClr val="FFFFFF"/>
                </a:solidFill>
                <a:latin typeface="Segoe UI"/>
              </a:defRPr>
            </a:pPr>
            <a:r>
              <a:t>• CPU Attention:</a:t>
            </a:r>
            <a:r>
              <a:rPr b="0">
                <a:solidFill>
                  <a:srgbClr val="A0AFC8"/>
                </a:solidFill>
              </a:rPr>
              <a:t> Allow devices to get the CPU’s attention when they need it.</a:t>
            </a:r>
          </a:p>
          <a:p>
            <a:pPr>
              <a:spcBef>
                <a:spcPts val="400"/>
              </a:spcBef>
              <a:defRPr sz="1100" b="1">
                <a:solidFill>
                  <a:srgbClr val="FFFFFF"/>
                </a:solidFill>
                <a:latin typeface="Segoe UI"/>
              </a:defRPr>
            </a:pPr>
            <a:r>
              <a:t>• Eliminates Polling:</a:t>
            </a:r>
            <a:r>
              <a:rPr b="0">
                <a:solidFill>
                  <a:srgbClr val="A0AFC8"/>
                </a:solidFill>
              </a:rPr>
              <a:t> Eliminates constant CPU polling loops, freeing execution time.</a:t>
            </a:r>
          </a:p>
          <a:p>
            <a:pPr>
              <a:spcBef>
                <a:spcPts val="400"/>
              </a:spcBef>
              <a:defRPr sz="1100" b="1">
                <a:solidFill>
                  <a:srgbClr val="FFFFFF"/>
                </a:solidFill>
                <a:latin typeface="Segoe UI"/>
              </a:defRPr>
            </a:pPr>
            <a:r>
              <a:t>• Vector Lookup:</a:t>
            </a:r>
            <a:r>
              <a:rPr b="0">
                <a:solidFill>
                  <a:srgbClr val="A0AFC8"/>
                </a:solidFill>
              </a:rPr>
              <a:t> CPU pushes state and branches immediately to the Interrupt Service Routine (ISR).</a:t>
            </a:r>
          </a:p>
          <a:p>
            <a:pPr>
              <a:spcBef>
                <a:spcPts val="400"/>
              </a:spcBef>
              <a:defRPr sz="1100" b="1">
                <a:solidFill>
                  <a:srgbClr val="FFFFFF"/>
                </a:solidFill>
                <a:latin typeface="Segoe UI"/>
              </a:defRPr>
            </a:pPr>
            <a:r>
              <a:t>• Context Restoration:</a:t>
            </a:r>
            <a:r>
              <a:rPr b="0">
                <a:solidFill>
                  <a:srgbClr val="A0AFC8"/>
                </a:solidFill>
              </a:rPr>
              <a:t> Automatically restores user execution context upon completion.</a:t>
            </a:r>
          </a:p>
        </p:txBody>
      </p:sp>
      <p:sp>
        <p:nvSpPr>
          <p:cNvPr id="11" name="Rounded Rectangle 10"/>
          <p:cNvSpPr/>
          <p:nvPr/>
        </p:nvSpPr>
        <p:spPr>
          <a:xfrm>
            <a:off x="6217920" y="1645920"/>
            <a:ext cx="52120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92840" y="17190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83080"/>
            <a:ext cx="36576" cy="37947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Direct Memory Access (DMA)</a:t>
            </a:r>
          </a:p>
        </p:txBody>
      </p:sp>
      <p:sp>
        <p:nvSpPr>
          <p:cNvPr id="15" name="TextBox 14"/>
          <p:cNvSpPr txBox="1"/>
          <p:nvPr/>
        </p:nvSpPr>
        <p:spPr>
          <a:xfrm>
            <a:off x="6446520" y="2194560"/>
            <a:ext cx="4754880" cy="3291840"/>
          </a:xfrm>
          <a:prstGeom prst="rect">
            <a:avLst/>
          </a:prstGeom>
          <a:noFill/>
        </p:spPr>
        <p:txBody>
          <a:bodyPr wrap="square" lIns="0" tIns="0" rIns="0" bIns="0">
            <a:spAutoFit/>
          </a:bodyPr>
          <a:lstStyle/>
          <a:p>
            <a:pPr>
              <a:spcBef>
                <a:spcPts val="0"/>
              </a:spcBef>
              <a:defRPr sz="1100" b="1">
                <a:solidFill>
                  <a:srgbClr val="FFFFFF"/>
                </a:solidFill>
                <a:latin typeface="Segoe UI"/>
              </a:defRPr>
            </a:pPr>
            <a:r>
              <a:t>• Direct RAM Transfer:</a:t>
            </a:r>
            <a:r>
              <a:rPr b="0">
                <a:solidFill>
                  <a:srgbClr val="A0AFC8"/>
                </a:solidFill>
              </a:rPr>
              <a:t> Allows devices to transfer data directly to memory without making the CPU handle every piece of data.</a:t>
            </a:r>
          </a:p>
          <a:p>
            <a:pPr>
              <a:spcBef>
                <a:spcPts val="400"/>
              </a:spcBef>
              <a:defRPr sz="1100" b="1">
                <a:solidFill>
                  <a:srgbClr val="FFFFFF"/>
                </a:solidFill>
                <a:latin typeface="Segoe UI"/>
              </a:defRPr>
            </a:pPr>
            <a:r>
              <a:t>• High-Speed Channel:</a:t>
            </a:r>
            <a:r>
              <a:rPr b="0">
                <a:solidFill>
                  <a:srgbClr val="A0AFC8"/>
                </a:solidFill>
              </a:rPr>
              <a:t> Essential for disk controllers, NVMe SSDs, and Gigabit network interfaces.</a:t>
            </a:r>
          </a:p>
          <a:p>
            <a:pPr>
              <a:spcBef>
                <a:spcPts val="400"/>
              </a:spcBef>
              <a:defRPr sz="1100" b="1">
                <a:solidFill>
                  <a:srgbClr val="FFFFFF"/>
                </a:solidFill>
                <a:latin typeface="Segoe UI"/>
              </a:defRPr>
            </a:pPr>
            <a:r>
              <a:t>• Block Efficiency:</a:t>
            </a:r>
            <a:r>
              <a:rPr b="0">
                <a:solidFill>
                  <a:srgbClr val="A0AFC8"/>
                </a:solidFill>
              </a:rPr>
              <a:t> Emits only 1 interrupt per entire block rather than 1 per byte.</a:t>
            </a:r>
          </a:p>
          <a:p>
            <a:pPr>
              <a:spcBef>
                <a:spcPts val="400"/>
              </a:spcBef>
              <a:defRPr sz="1100" b="1">
                <a:solidFill>
                  <a:srgbClr val="FFFFFF"/>
                </a:solidFill>
                <a:latin typeface="Segoe UI"/>
              </a:defRPr>
            </a:pPr>
            <a:r>
              <a:t>• CPU Offload:</a:t>
            </a:r>
            <a:r>
              <a:rPr b="0">
                <a:solidFill>
                  <a:srgbClr val="A0AFC8"/>
                </a:solidFill>
              </a:rPr>
              <a:t> CPU computes freely in parallel while memory transfers complete.</a:t>
            </a:r>
          </a:p>
        </p:txBody>
      </p:sp>
      <p:sp>
        <p:nvSpPr>
          <p:cNvPr id="16" name="Rounded Rectangle 15"/>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Communication Synergy: </a:t>
            </a:r>
            <a:r>
              <a:rPr sz="1000" b="0">
                <a:solidFill>
                  <a:srgbClr val="FFFFFF"/>
                </a:solidFill>
                <a:latin typeface="Segoe UI"/>
              </a:rPr>
              <a:t>Interrupts signal events asynchronously; DMA offloads bulk data transfers to prevent CPU bottlenecks.</a:t>
            </a:r>
          </a:p>
        </p:txBody>
      </p:sp>
    </p:spTree>
  </p:cSld>
  <p:clrMapOvr>
    <a:masterClrMapping/>
  </p:clrMapOvr>
  <p:transition spd="med" advClick="1">
    <p:morph option="byObject"/>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 CORE HARDWARE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 RAM CHARAN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05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Act I Summary: Core Hardware Integration</a:t>
            </a:r>
          </a:p>
          <a:p>
            <a:pPr>
              <a:spcBef>
                <a:spcPts val="200"/>
              </a:spcBef>
              <a:defRPr sz="1150">
                <a:solidFill>
                  <a:srgbClr val="A0AFC8"/>
                </a:solidFill>
                <a:latin typeface="Segoe UI"/>
              </a:defRPr>
            </a:pPr>
            <a:r>
              <a:t>Cohesive Operation Across Processor, Memory, Bus &amp; Controllers</a:t>
            </a:r>
          </a:p>
        </p:txBody>
      </p:sp>
      <p:sp>
        <p:nvSpPr>
          <p:cNvPr id="6" name="Rounded Rectangle 5"/>
          <p:cNvSpPr/>
          <p:nvPr/>
        </p:nvSpPr>
        <p:spPr>
          <a:xfrm>
            <a:off x="731520" y="1645920"/>
            <a:ext cx="3337560" cy="31089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3192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28346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2880360" cy="365760"/>
          </a:xfrm>
          <a:prstGeom prst="rect">
            <a:avLst/>
          </a:prstGeom>
          <a:noFill/>
        </p:spPr>
        <p:txBody>
          <a:bodyPr wrap="square" lIns="0" tIns="0" rIns="0" bIns="0">
            <a:spAutoFit/>
          </a:bodyPr>
          <a:lstStyle/>
          <a:p>
            <a:pPr>
              <a:defRPr sz="1300" b="1">
                <a:solidFill>
                  <a:srgbClr val="FFFFFF"/>
                </a:solidFill>
                <a:latin typeface="Segoe UI"/>
              </a:defRPr>
            </a:pPr>
            <a:r>
              <a:t>1. Triad Hardware Organization</a:t>
            </a:r>
          </a:p>
        </p:txBody>
      </p:sp>
      <p:sp>
        <p:nvSpPr>
          <p:cNvPr id="10" name="TextBox 9"/>
          <p:cNvSpPr txBox="1"/>
          <p:nvPr/>
        </p:nvSpPr>
        <p:spPr>
          <a:xfrm>
            <a:off x="960120" y="2194560"/>
            <a:ext cx="2880360" cy="2286000"/>
          </a:xfrm>
          <a:prstGeom prst="rect">
            <a:avLst/>
          </a:prstGeom>
          <a:noFill/>
        </p:spPr>
        <p:txBody>
          <a:bodyPr wrap="square">
            <a:spAutoFit/>
          </a:bodyPr>
          <a:lstStyle/>
          <a:p>
            <a:pPr>
              <a:defRPr sz="1100">
                <a:solidFill>
                  <a:srgbClr val="A0AFC8"/>
                </a:solidFill>
                <a:latin typeface="Segoe UI"/>
              </a:defRPr>
            </a:pPr>
            <a:r>
              <a:t>The CPU fetches, decodes, and executes. Main memory holds active programs. I/O devices bridge communication with the outside world.</a:t>
            </a:r>
          </a:p>
        </p:txBody>
      </p:sp>
      <p:sp>
        <p:nvSpPr>
          <p:cNvPr id="11" name="Rounded Rectangle 10"/>
          <p:cNvSpPr/>
          <p:nvPr/>
        </p:nvSpPr>
        <p:spPr>
          <a:xfrm>
            <a:off x="4434840" y="1645920"/>
            <a:ext cx="3337560" cy="31089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35240" y="17190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783080"/>
            <a:ext cx="36576" cy="283464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83080"/>
            <a:ext cx="2880360" cy="365760"/>
          </a:xfrm>
          <a:prstGeom prst="rect">
            <a:avLst/>
          </a:prstGeom>
          <a:noFill/>
        </p:spPr>
        <p:txBody>
          <a:bodyPr wrap="square" lIns="0" tIns="0" rIns="0" bIns="0">
            <a:spAutoFit/>
          </a:bodyPr>
          <a:lstStyle/>
          <a:p>
            <a:pPr>
              <a:defRPr sz="1300" b="1">
                <a:solidFill>
                  <a:srgbClr val="FFFFFF"/>
                </a:solidFill>
                <a:latin typeface="Segoe UI"/>
              </a:defRPr>
            </a:pPr>
            <a:r>
              <a:t>2. Tri-Bus Highway</a:t>
            </a:r>
          </a:p>
        </p:txBody>
      </p:sp>
      <p:sp>
        <p:nvSpPr>
          <p:cNvPr id="15" name="TextBox 14"/>
          <p:cNvSpPr txBox="1"/>
          <p:nvPr/>
        </p:nvSpPr>
        <p:spPr>
          <a:xfrm>
            <a:off x="4663440" y="2194560"/>
            <a:ext cx="2880360" cy="2286000"/>
          </a:xfrm>
          <a:prstGeom prst="rect">
            <a:avLst/>
          </a:prstGeom>
          <a:noFill/>
        </p:spPr>
        <p:txBody>
          <a:bodyPr wrap="square">
            <a:spAutoFit/>
          </a:bodyPr>
          <a:lstStyle/>
          <a:p>
            <a:pPr>
              <a:defRPr sz="1100">
                <a:solidFill>
                  <a:srgbClr val="A0AFC8"/>
                </a:solidFill>
                <a:latin typeface="Segoe UI"/>
              </a:defRPr>
            </a:pPr>
            <a:r>
              <a:t>The Address Bus tells where data goes, the Data Bus carries actual data, and the Control Bus delivers read/write synchronization.</a:t>
            </a:r>
          </a:p>
        </p:txBody>
      </p:sp>
      <p:sp>
        <p:nvSpPr>
          <p:cNvPr id="16" name="Rounded Rectangle 15"/>
          <p:cNvSpPr/>
          <p:nvPr/>
        </p:nvSpPr>
        <p:spPr>
          <a:xfrm>
            <a:off x="8138160" y="1645920"/>
            <a:ext cx="3337560" cy="31089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338560" y="17190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783080"/>
            <a:ext cx="36576" cy="28346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783080"/>
            <a:ext cx="2880360" cy="365760"/>
          </a:xfrm>
          <a:prstGeom prst="rect">
            <a:avLst/>
          </a:prstGeom>
          <a:noFill/>
        </p:spPr>
        <p:txBody>
          <a:bodyPr wrap="square" lIns="0" tIns="0" rIns="0" bIns="0">
            <a:spAutoFit/>
          </a:bodyPr>
          <a:lstStyle/>
          <a:p>
            <a:pPr>
              <a:defRPr sz="1300" b="1">
                <a:solidFill>
                  <a:srgbClr val="FFFFFF"/>
                </a:solidFill>
                <a:latin typeface="Segoe UI"/>
              </a:defRPr>
            </a:pPr>
            <a:r>
              <a:t>3. Efficient Signaling</a:t>
            </a:r>
          </a:p>
        </p:txBody>
      </p:sp>
      <p:sp>
        <p:nvSpPr>
          <p:cNvPr id="20" name="TextBox 19"/>
          <p:cNvSpPr txBox="1"/>
          <p:nvPr/>
        </p:nvSpPr>
        <p:spPr>
          <a:xfrm>
            <a:off x="8366760" y="2194560"/>
            <a:ext cx="2880360" cy="2286000"/>
          </a:xfrm>
          <a:prstGeom prst="rect">
            <a:avLst/>
          </a:prstGeom>
          <a:noFill/>
        </p:spPr>
        <p:txBody>
          <a:bodyPr wrap="square">
            <a:spAutoFit/>
          </a:bodyPr>
          <a:lstStyle/>
          <a:p>
            <a:pPr>
              <a:defRPr sz="1100">
                <a:solidFill>
                  <a:srgbClr val="A0AFC8"/>
                </a:solidFill>
                <a:latin typeface="Segoe UI"/>
              </a:defRPr>
            </a:pPr>
            <a:r>
              <a:t>Interrupts allow devices to alert the CPU on demand, while DMA streams bulk data directly to memory without CPU overhead.</a:t>
            </a:r>
          </a:p>
        </p:txBody>
      </p:sp>
      <p:sp>
        <p:nvSpPr>
          <p:cNvPr id="21" name="Rounded Rectangle 20"/>
          <p:cNvSpPr/>
          <p:nvPr/>
        </p:nvSpPr>
        <p:spPr>
          <a:xfrm>
            <a:off x="731520" y="4937760"/>
            <a:ext cx="10728655" cy="8229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323015" y="501091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5074920"/>
            <a:ext cx="36576" cy="54864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074920"/>
            <a:ext cx="10271455" cy="365760"/>
          </a:xfrm>
          <a:prstGeom prst="rect">
            <a:avLst/>
          </a:prstGeom>
          <a:noFill/>
        </p:spPr>
        <p:txBody>
          <a:bodyPr wrap="square" lIns="0" tIns="0" rIns="0" bIns="0">
            <a:spAutoFit/>
          </a:bodyPr>
          <a:lstStyle/>
          <a:p>
            <a:pPr>
              <a:defRPr sz="1300" b="1">
                <a:solidFill>
                  <a:srgbClr val="FFFFFF"/>
                </a:solidFill>
                <a:latin typeface="Segoe UI"/>
              </a:defRPr>
            </a:pPr>
            <a:r>
              <a:t>Act Handover: To Vedhanth for Act II</a:t>
            </a:r>
          </a:p>
        </p:txBody>
      </p:sp>
      <p:sp>
        <p:nvSpPr>
          <p:cNvPr id="25" name="TextBox 24"/>
          <p:cNvSpPr txBox="1"/>
          <p:nvPr/>
        </p:nvSpPr>
        <p:spPr>
          <a:xfrm>
            <a:off x="960120" y="5303520"/>
            <a:ext cx="10241280" cy="365760"/>
          </a:xfrm>
          <a:prstGeom prst="rect">
            <a:avLst/>
          </a:prstGeom>
          <a:noFill/>
        </p:spPr>
        <p:txBody>
          <a:bodyPr wrap="none">
            <a:spAutoFit/>
          </a:bodyPr>
          <a:lstStyle/>
          <a:p>
            <a:pPr>
              <a:defRPr sz="1050">
                <a:solidFill>
                  <a:srgbClr val="FFFFFF"/>
                </a:solidFill>
                <a:latin typeface="Segoe UI"/>
              </a:defRPr>
            </a:pPr>
            <a:r>
              <a:t>Next: Vedhanth will cover the Memory and Storage Hierarchy, Locality of Reference, Volatility, and OS Caching Techniques.</a:t>
            </a:r>
          </a:p>
        </p:txBody>
      </p:sp>
      <p:sp>
        <p:nvSpPr>
          <p:cNvPr id="26" name="Rounded Rectangle 25"/>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Core Hardware Integration: </a:t>
            </a:r>
            <a:r>
              <a:rPr sz="1000" b="0">
                <a:solidFill>
                  <a:srgbClr val="FFFFFF"/>
                </a:solidFill>
                <a:latin typeface="Segoe UI"/>
              </a:rPr>
              <a:t>CPUs, Memory, and I/O work synchronously via buses, utilizing interrupts and DMA for efficient data transfer.</a:t>
            </a:r>
          </a:p>
        </p:txBody>
      </p:sp>
    </p:spTree>
  </p:cSld>
  <p:clrMapOvr>
    <a:masterClrMapping/>
  </p:clrMapOvr>
  <p:transition spd="med" advClick="1">
    <p:morph option="byObject"/>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 MEMORY &amp; STORAGE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VEDHANTH</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06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Balancing Speed, Cost, and Capacity</a:t>
            </a:r>
          </a:p>
          <a:p>
            <a:pPr>
              <a:spcBef>
                <a:spcPts val="200"/>
              </a:spcBef>
              <a:defRPr sz="1150">
                <a:solidFill>
                  <a:srgbClr val="A0AFC8"/>
                </a:solidFill>
                <a:latin typeface="Segoe UI"/>
              </a:defRPr>
            </a:pPr>
            <a:r>
              <a:t>Memory and Storage Hierarchy Overview</a:t>
            </a:r>
          </a:p>
        </p:txBody>
      </p:sp>
      <p:sp>
        <p:nvSpPr>
          <p:cNvPr id="6" name="Rounded Rectangle 5"/>
          <p:cNvSpPr/>
          <p:nvPr/>
        </p:nvSpPr>
        <p:spPr>
          <a:xfrm>
            <a:off x="731520" y="1645920"/>
            <a:ext cx="5303520" cy="11887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97879" y="17190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91440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846320" cy="365760"/>
          </a:xfrm>
          <a:prstGeom prst="rect">
            <a:avLst/>
          </a:prstGeom>
          <a:noFill/>
        </p:spPr>
        <p:txBody>
          <a:bodyPr wrap="square" lIns="0" tIns="0" rIns="0" bIns="0">
            <a:spAutoFit/>
          </a:bodyPr>
          <a:lstStyle/>
          <a:p>
            <a:pPr>
              <a:defRPr sz="1300" b="1">
                <a:solidFill>
                  <a:srgbClr val="FFFFFF"/>
                </a:solidFill>
                <a:latin typeface="Segoe UI"/>
              </a:defRPr>
            </a:pPr>
            <a:r>
              <a:t>The Fundamental Trade-off</a:t>
            </a:r>
          </a:p>
        </p:txBody>
      </p:sp>
      <p:sp>
        <p:nvSpPr>
          <p:cNvPr id="10" name="TextBox 9"/>
          <p:cNvSpPr txBox="1"/>
          <p:nvPr/>
        </p:nvSpPr>
        <p:spPr>
          <a:xfrm>
            <a:off x="960120" y="2057400"/>
            <a:ext cx="4846320" cy="685800"/>
          </a:xfrm>
          <a:prstGeom prst="rect">
            <a:avLst/>
          </a:prstGeom>
          <a:noFill/>
        </p:spPr>
        <p:txBody>
          <a:bodyPr wrap="none">
            <a:spAutoFit/>
          </a:bodyPr>
          <a:lstStyle/>
          <a:p>
            <a:pPr>
              <a:defRPr sz="1100">
                <a:solidFill>
                  <a:srgbClr val="A0AFC8"/>
                </a:solidFill>
                <a:latin typeface="Segoe UI"/>
              </a:defRPr>
            </a:pPr>
            <a:r>
              <a:t>Faster memory is usually smaller and more expensive, while slower memory can provide much larger capacity.</a:t>
            </a:r>
          </a:p>
        </p:txBody>
      </p:sp>
      <p:sp>
        <p:nvSpPr>
          <p:cNvPr id="11" name="Rounded Rectangle 10"/>
          <p:cNvSpPr/>
          <p:nvPr/>
        </p:nvSpPr>
        <p:spPr>
          <a:xfrm>
            <a:off x="731520" y="2971800"/>
            <a:ext cx="5303520" cy="118872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97879" y="304495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108960"/>
            <a:ext cx="36576" cy="9144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108960"/>
            <a:ext cx="4846320" cy="365760"/>
          </a:xfrm>
          <a:prstGeom prst="rect">
            <a:avLst/>
          </a:prstGeom>
          <a:noFill/>
        </p:spPr>
        <p:txBody>
          <a:bodyPr wrap="square" lIns="0" tIns="0" rIns="0" bIns="0">
            <a:spAutoFit/>
          </a:bodyPr>
          <a:lstStyle/>
          <a:p>
            <a:pPr>
              <a:defRPr sz="1300" b="1">
                <a:solidFill>
                  <a:srgbClr val="FFFFFF"/>
                </a:solidFill>
                <a:latin typeface="Segoe UI"/>
              </a:defRPr>
            </a:pPr>
            <a:r>
              <a:t>High-Speed Tier (Top of Pyramid)</a:t>
            </a:r>
          </a:p>
        </p:txBody>
      </p:sp>
      <p:sp>
        <p:nvSpPr>
          <p:cNvPr id="15" name="TextBox 14"/>
          <p:cNvSpPr txBox="1"/>
          <p:nvPr/>
        </p:nvSpPr>
        <p:spPr>
          <a:xfrm>
            <a:off x="960120" y="3383280"/>
            <a:ext cx="4846320" cy="685800"/>
          </a:xfrm>
          <a:prstGeom prst="rect">
            <a:avLst/>
          </a:prstGeom>
          <a:noFill/>
        </p:spPr>
        <p:txBody>
          <a:bodyPr wrap="none">
            <a:spAutoFit/>
          </a:bodyPr>
          <a:lstStyle/>
          <a:p>
            <a:pPr>
              <a:defRPr sz="1000">
                <a:solidFill>
                  <a:srgbClr val="A0AFC8"/>
                </a:solidFill>
                <a:latin typeface="Segoe UI"/>
              </a:defRPr>
            </a:pPr>
            <a:r>
              <a:t>Registers and CPU caches provide sub-nanosecond access speeds to keep the execution pipeline fed.</a:t>
            </a:r>
          </a:p>
        </p:txBody>
      </p:sp>
      <p:sp>
        <p:nvSpPr>
          <p:cNvPr id="16" name="Rounded Rectangle 15"/>
          <p:cNvSpPr/>
          <p:nvPr/>
        </p:nvSpPr>
        <p:spPr>
          <a:xfrm>
            <a:off x="731520" y="4251960"/>
            <a:ext cx="5303520" cy="12801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79" y="4325112"/>
            <a:ext cx="731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389120"/>
            <a:ext cx="36576" cy="1005839"/>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389120"/>
            <a:ext cx="4846320" cy="365760"/>
          </a:xfrm>
          <a:prstGeom prst="rect">
            <a:avLst/>
          </a:prstGeom>
          <a:noFill/>
        </p:spPr>
        <p:txBody>
          <a:bodyPr wrap="square" lIns="0" tIns="0" rIns="0" bIns="0">
            <a:spAutoFit/>
          </a:bodyPr>
          <a:lstStyle/>
          <a:p>
            <a:pPr>
              <a:defRPr sz="1300" b="1">
                <a:solidFill>
                  <a:srgbClr val="FFFFFF"/>
                </a:solidFill>
                <a:latin typeface="Segoe UI"/>
              </a:defRPr>
            </a:pPr>
            <a:r>
              <a:t>High-Capacity Tier (Bottom of Pyramid)</a:t>
            </a:r>
          </a:p>
        </p:txBody>
      </p:sp>
      <p:sp>
        <p:nvSpPr>
          <p:cNvPr id="20" name="TextBox 19"/>
          <p:cNvSpPr txBox="1"/>
          <p:nvPr/>
        </p:nvSpPr>
        <p:spPr>
          <a:xfrm>
            <a:off x="960120" y="4663440"/>
            <a:ext cx="4846320" cy="777240"/>
          </a:xfrm>
          <a:prstGeom prst="rect">
            <a:avLst/>
          </a:prstGeom>
          <a:noFill/>
        </p:spPr>
        <p:txBody>
          <a:bodyPr wrap="none">
            <a:spAutoFit/>
          </a:bodyPr>
          <a:lstStyle/>
          <a:p>
            <a:pPr>
              <a:defRPr sz="1000">
                <a:solidFill>
                  <a:srgbClr val="A0AFC8"/>
                </a:solidFill>
                <a:latin typeface="Segoe UI"/>
              </a:defRPr>
            </a:pPr>
            <a:r>
              <a:t>Main memory and secondary storage (SSDs/HDDs) provide gigabytes to terabytes of storage at low cost per bit.</a:t>
            </a:r>
          </a:p>
        </p:txBody>
      </p:sp>
      <p:pic>
        <p:nvPicPr>
          <p:cNvPr id="21" name="Picture 20" descr="iso_storage_pyramid.png"/>
          <p:cNvPicPr>
            <a:picLocks noChangeAspect="1"/>
          </p:cNvPicPr>
          <p:nvPr/>
        </p:nvPicPr>
        <p:blipFill>
          <a:blip r:embed="rId2"/>
          <a:stretch>
            <a:fillRect/>
          </a:stretch>
        </p:blipFill>
        <p:spPr>
          <a:xfrm>
            <a:off x="6400800" y="1371600"/>
            <a:ext cx="5029200" cy="2806995"/>
          </a:xfrm>
          <a:prstGeom prst="rect">
            <a:avLst/>
          </a:prstGeom>
        </p:spPr>
      </p:pic>
      <p:sp>
        <p:nvSpPr>
          <p:cNvPr id="22" name="Rounded Rectangle 21"/>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The Trade-off: </a:t>
            </a:r>
            <a:r>
              <a:rPr sz="1000" b="0">
                <a:solidFill>
                  <a:srgbClr val="FFFFFF"/>
                </a:solidFill>
                <a:latin typeface="Segoe UI"/>
              </a:rPr>
              <a:t>Faster memory is smaller and expensive; slower storage is large and economical. The hierarchy balances both.</a:t>
            </a:r>
          </a:p>
        </p:txBody>
      </p:sp>
    </p:spTree>
  </p:cSld>
  <p:clrMapOvr>
    <a:masterClrMapping/>
  </p:clrMapOvr>
  <p:transition spd="med" advClick="1">
    <p:morph option="byObject"/>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 MEMORY &amp; STORAGE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VEDHANTH</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07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The Hierarchy Tiers</a:t>
            </a:r>
          </a:p>
          <a:p>
            <a:pPr>
              <a:spcBef>
                <a:spcPts val="200"/>
              </a:spcBef>
              <a:defRPr sz="1150">
                <a:solidFill>
                  <a:srgbClr val="A0AFC8"/>
                </a:solidFill>
                <a:latin typeface="Segoe UI"/>
              </a:defRPr>
            </a:pPr>
            <a:r>
              <a:t>From Internal CPU Registers Down to Secondary Mass Storage</a:t>
            </a:r>
          </a:p>
        </p:txBody>
      </p:sp>
      <p:sp>
        <p:nvSpPr>
          <p:cNvPr id="6" name="Rounded Rectangle 5"/>
          <p:cNvSpPr/>
          <p:nvPr/>
        </p:nvSpPr>
        <p:spPr>
          <a:xfrm>
            <a:off x="731520" y="1645920"/>
            <a:ext cx="24688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6324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3794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2011680" cy="365760"/>
          </a:xfrm>
          <a:prstGeom prst="rect">
            <a:avLst/>
          </a:prstGeom>
          <a:noFill/>
        </p:spPr>
        <p:txBody>
          <a:bodyPr wrap="square" lIns="0" tIns="0" rIns="0" bIns="0">
            <a:spAutoFit/>
          </a:bodyPr>
          <a:lstStyle/>
          <a:p>
            <a:pPr>
              <a:defRPr sz="1300" b="1">
                <a:solidFill>
                  <a:srgbClr val="FFFFFF"/>
                </a:solidFill>
                <a:latin typeface="Segoe UI"/>
              </a:defRPr>
            </a:pPr>
            <a:r>
              <a:t>1. Registers</a:t>
            </a:r>
          </a:p>
        </p:txBody>
      </p:sp>
      <p:sp>
        <p:nvSpPr>
          <p:cNvPr id="10" name="TextBox 9"/>
          <p:cNvSpPr txBox="1"/>
          <p:nvPr/>
        </p:nvSpPr>
        <p:spPr>
          <a:xfrm>
            <a:off x="914400" y="2103120"/>
            <a:ext cx="2103120" cy="822960"/>
          </a:xfrm>
          <a:prstGeom prst="rect">
            <a:avLst/>
          </a:prstGeom>
          <a:noFill/>
        </p:spPr>
        <p:txBody>
          <a:bodyPr wrap="none">
            <a:spAutoFit/>
          </a:bodyPr>
          <a:lstStyle/>
          <a:p>
            <a:pPr>
              <a:defRPr sz="950" b="1">
                <a:solidFill>
                  <a:srgbClr val="38BDF8"/>
                </a:solidFill>
                <a:latin typeface="Segoe UI"/>
              </a:defRPr>
            </a:pPr>
            <a:r>
              <a:t>Fastest &amp; Smallest</a:t>
            </a:r>
          </a:p>
          <a:p>
            <a:pPr>
              <a:defRPr sz="850">
                <a:solidFill>
                  <a:srgbClr val="6E7D96"/>
                </a:solidFill>
                <a:latin typeface="Segoe UI"/>
              </a:defRPr>
            </a:pPr>
            <a:r>
              <a:t>Speed: &lt; 1 ns | Cap: Bytes</a:t>
            </a:r>
          </a:p>
        </p:txBody>
      </p:sp>
      <p:sp>
        <p:nvSpPr>
          <p:cNvPr id="11" name="TextBox 10"/>
          <p:cNvSpPr txBox="1"/>
          <p:nvPr/>
        </p:nvSpPr>
        <p:spPr>
          <a:xfrm>
            <a:off x="914400" y="3017520"/>
            <a:ext cx="2103120" cy="2560320"/>
          </a:xfrm>
          <a:prstGeom prst="rect">
            <a:avLst/>
          </a:prstGeom>
          <a:noFill/>
        </p:spPr>
        <p:txBody>
          <a:bodyPr wrap="square">
            <a:spAutoFit/>
          </a:bodyPr>
          <a:lstStyle/>
          <a:p>
            <a:pPr>
              <a:defRPr sz="1050">
                <a:solidFill>
                  <a:srgbClr val="A0AFC8"/>
                </a:solidFill>
                <a:latin typeface="Segoe UI"/>
              </a:defRPr>
            </a:pPr>
            <a:r>
              <a:t>The fastest and smallest storage inside the CPU holding immediate operands.</a:t>
            </a:r>
          </a:p>
        </p:txBody>
      </p:sp>
      <p:sp>
        <p:nvSpPr>
          <p:cNvPr id="12" name="Rounded Rectangle 11"/>
          <p:cNvSpPr/>
          <p:nvPr/>
        </p:nvSpPr>
        <p:spPr>
          <a:xfrm>
            <a:off x="3474720" y="1645920"/>
            <a:ext cx="24688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06440" y="17190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783080"/>
            <a:ext cx="36576" cy="379476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3320" y="1783080"/>
            <a:ext cx="2011680" cy="365760"/>
          </a:xfrm>
          <a:prstGeom prst="rect">
            <a:avLst/>
          </a:prstGeom>
          <a:noFill/>
        </p:spPr>
        <p:txBody>
          <a:bodyPr wrap="square" lIns="0" tIns="0" rIns="0" bIns="0">
            <a:spAutoFit/>
          </a:bodyPr>
          <a:lstStyle/>
          <a:p>
            <a:pPr>
              <a:defRPr sz="1300" b="1">
                <a:solidFill>
                  <a:srgbClr val="FFFFFF"/>
                </a:solidFill>
                <a:latin typeface="Segoe UI"/>
              </a:defRPr>
            </a:pPr>
            <a:r>
              <a:t>2. Cache (SRAM)</a:t>
            </a:r>
          </a:p>
        </p:txBody>
      </p:sp>
      <p:sp>
        <p:nvSpPr>
          <p:cNvPr id="16" name="TextBox 15"/>
          <p:cNvSpPr txBox="1"/>
          <p:nvPr/>
        </p:nvSpPr>
        <p:spPr>
          <a:xfrm>
            <a:off x="3657600" y="2103120"/>
            <a:ext cx="2103120" cy="822960"/>
          </a:xfrm>
          <a:prstGeom prst="rect">
            <a:avLst/>
          </a:prstGeom>
          <a:noFill/>
        </p:spPr>
        <p:txBody>
          <a:bodyPr wrap="none">
            <a:spAutoFit/>
          </a:bodyPr>
          <a:lstStyle/>
          <a:p>
            <a:pPr>
              <a:defRPr sz="950" b="1">
                <a:solidFill>
                  <a:srgbClr val="818CF8"/>
                </a:solidFill>
                <a:latin typeface="Segoe UI"/>
              </a:defRPr>
            </a:pPr>
            <a:r>
              <a:t>High-Speed Buffer</a:t>
            </a:r>
          </a:p>
          <a:p>
            <a:pPr>
              <a:defRPr sz="850">
                <a:solidFill>
                  <a:srgbClr val="6E7D96"/>
                </a:solidFill>
                <a:latin typeface="Segoe UI"/>
              </a:defRPr>
            </a:pPr>
            <a:r>
              <a:t>Speed: 1 – 10 ns | Cap: Megabytes</a:t>
            </a:r>
          </a:p>
        </p:txBody>
      </p:sp>
      <p:sp>
        <p:nvSpPr>
          <p:cNvPr id="17" name="TextBox 16"/>
          <p:cNvSpPr txBox="1"/>
          <p:nvPr/>
        </p:nvSpPr>
        <p:spPr>
          <a:xfrm>
            <a:off x="3657600" y="3017520"/>
            <a:ext cx="2103120" cy="2560320"/>
          </a:xfrm>
          <a:prstGeom prst="rect">
            <a:avLst/>
          </a:prstGeom>
          <a:noFill/>
        </p:spPr>
        <p:txBody>
          <a:bodyPr wrap="square">
            <a:spAutoFit/>
          </a:bodyPr>
          <a:lstStyle/>
          <a:p>
            <a:pPr>
              <a:defRPr sz="1050">
                <a:solidFill>
                  <a:srgbClr val="A0AFC8"/>
                </a:solidFill>
                <a:latin typeface="Segoe UI"/>
              </a:defRPr>
            </a:pPr>
            <a:r>
              <a:t>High-speed SRAM buffering active data and frequent instructions.</a:t>
            </a:r>
          </a:p>
        </p:txBody>
      </p:sp>
      <p:sp>
        <p:nvSpPr>
          <p:cNvPr id="18" name="Rounded Rectangle 17"/>
          <p:cNvSpPr/>
          <p:nvPr/>
        </p:nvSpPr>
        <p:spPr>
          <a:xfrm>
            <a:off x="6217920" y="1645920"/>
            <a:ext cx="24688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49640" y="17190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783080"/>
            <a:ext cx="36576" cy="37947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1783080"/>
            <a:ext cx="2011680" cy="365760"/>
          </a:xfrm>
          <a:prstGeom prst="rect">
            <a:avLst/>
          </a:prstGeom>
          <a:noFill/>
        </p:spPr>
        <p:txBody>
          <a:bodyPr wrap="square" lIns="0" tIns="0" rIns="0" bIns="0">
            <a:spAutoFit/>
          </a:bodyPr>
          <a:lstStyle/>
          <a:p>
            <a:pPr>
              <a:defRPr sz="1300" b="1">
                <a:solidFill>
                  <a:srgbClr val="FFFFFF"/>
                </a:solidFill>
                <a:latin typeface="Segoe UI"/>
              </a:defRPr>
            </a:pPr>
            <a:r>
              <a:t>3. RAM (DRAM)</a:t>
            </a:r>
          </a:p>
        </p:txBody>
      </p:sp>
      <p:sp>
        <p:nvSpPr>
          <p:cNvPr id="22" name="TextBox 21"/>
          <p:cNvSpPr txBox="1"/>
          <p:nvPr/>
        </p:nvSpPr>
        <p:spPr>
          <a:xfrm>
            <a:off x="6400800" y="2103120"/>
            <a:ext cx="2103120" cy="822960"/>
          </a:xfrm>
          <a:prstGeom prst="rect">
            <a:avLst/>
          </a:prstGeom>
          <a:noFill/>
        </p:spPr>
        <p:txBody>
          <a:bodyPr wrap="none">
            <a:spAutoFit/>
          </a:bodyPr>
          <a:lstStyle/>
          <a:p>
            <a:pPr>
              <a:defRPr sz="950" b="1">
                <a:solidFill>
                  <a:srgbClr val="34D399"/>
                </a:solidFill>
                <a:latin typeface="Segoe UI"/>
              </a:defRPr>
            </a:pPr>
            <a:r>
              <a:t>Primary Workspace</a:t>
            </a:r>
          </a:p>
          <a:p>
            <a:pPr>
              <a:defRPr sz="850">
                <a:solidFill>
                  <a:srgbClr val="6E7D96"/>
                </a:solidFill>
                <a:latin typeface="Segoe UI"/>
              </a:defRPr>
            </a:pPr>
            <a:r>
              <a:t>Speed: 50 – 100 ns | Cap: Gigabytes</a:t>
            </a:r>
          </a:p>
        </p:txBody>
      </p:sp>
      <p:sp>
        <p:nvSpPr>
          <p:cNvPr id="23" name="TextBox 22"/>
          <p:cNvSpPr txBox="1"/>
          <p:nvPr/>
        </p:nvSpPr>
        <p:spPr>
          <a:xfrm>
            <a:off x="6400800" y="3017520"/>
            <a:ext cx="2103120" cy="2560320"/>
          </a:xfrm>
          <a:prstGeom prst="rect">
            <a:avLst/>
          </a:prstGeom>
          <a:noFill/>
        </p:spPr>
        <p:txBody>
          <a:bodyPr wrap="square">
            <a:spAutoFit/>
          </a:bodyPr>
          <a:lstStyle/>
          <a:p>
            <a:pPr>
              <a:defRPr sz="1050">
                <a:solidFill>
                  <a:srgbClr val="A0AFC8"/>
                </a:solidFill>
                <a:latin typeface="Segoe UI"/>
              </a:defRPr>
            </a:pPr>
            <a:r>
              <a:t>Main workspace for running programs and active operating system buffers.</a:t>
            </a:r>
          </a:p>
        </p:txBody>
      </p:sp>
      <p:sp>
        <p:nvSpPr>
          <p:cNvPr id="24" name="Rounded Rectangle 23"/>
          <p:cNvSpPr/>
          <p:nvPr/>
        </p:nvSpPr>
        <p:spPr>
          <a:xfrm>
            <a:off x="8961120" y="1645920"/>
            <a:ext cx="24688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292840" y="1719072"/>
            <a:ext cx="731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61120" y="1783080"/>
            <a:ext cx="36576" cy="3794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9720" y="1783080"/>
            <a:ext cx="2011680" cy="365760"/>
          </a:xfrm>
          <a:prstGeom prst="rect">
            <a:avLst/>
          </a:prstGeom>
          <a:noFill/>
        </p:spPr>
        <p:txBody>
          <a:bodyPr wrap="square" lIns="0" tIns="0" rIns="0" bIns="0">
            <a:spAutoFit/>
          </a:bodyPr>
          <a:lstStyle/>
          <a:p>
            <a:pPr>
              <a:defRPr sz="1300" b="1">
                <a:solidFill>
                  <a:srgbClr val="FFFFFF"/>
                </a:solidFill>
                <a:latin typeface="Segoe UI"/>
              </a:defRPr>
            </a:pPr>
            <a:r>
              <a:t>4. Secondary Storage</a:t>
            </a:r>
          </a:p>
        </p:txBody>
      </p:sp>
      <p:sp>
        <p:nvSpPr>
          <p:cNvPr id="28" name="TextBox 27"/>
          <p:cNvSpPr txBox="1"/>
          <p:nvPr/>
        </p:nvSpPr>
        <p:spPr>
          <a:xfrm>
            <a:off x="9144000" y="2103120"/>
            <a:ext cx="2103120" cy="822960"/>
          </a:xfrm>
          <a:prstGeom prst="rect">
            <a:avLst/>
          </a:prstGeom>
          <a:noFill/>
        </p:spPr>
        <p:txBody>
          <a:bodyPr wrap="none">
            <a:spAutoFit/>
          </a:bodyPr>
          <a:lstStyle/>
          <a:p>
            <a:pPr>
              <a:defRPr sz="950" b="1">
                <a:solidFill>
                  <a:srgbClr val="F59E0B"/>
                </a:solidFill>
                <a:latin typeface="Segoe UI"/>
              </a:defRPr>
            </a:pPr>
            <a:r>
              <a:t>Mass Storage</a:t>
            </a:r>
          </a:p>
          <a:p>
            <a:pPr>
              <a:defRPr sz="850">
                <a:solidFill>
                  <a:srgbClr val="6E7D96"/>
                </a:solidFill>
                <a:latin typeface="Segoe UI"/>
              </a:defRPr>
            </a:pPr>
            <a:r>
              <a:t>Speed: 10 μs – 10 ms | Cap: Terabytes</a:t>
            </a:r>
          </a:p>
        </p:txBody>
      </p:sp>
      <p:sp>
        <p:nvSpPr>
          <p:cNvPr id="29" name="TextBox 28"/>
          <p:cNvSpPr txBox="1"/>
          <p:nvPr/>
        </p:nvSpPr>
        <p:spPr>
          <a:xfrm>
            <a:off x="9144000" y="3017520"/>
            <a:ext cx="2103120" cy="2560320"/>
          </a:xfrm>
          <a:prstGeom prst="rect">
            <a:avLst/>
          </a:prstGeom>
          <a:noFill/>
        </p:spPr>
        <p:txBody>
          <a:bodyPr wrap="square">
            <a:spAutoFit/>
          </a:bodyPr>
          <a:lstStyle/>
          <a:p>
            <a:pPr>
              <a:defRPr sz="1050">
                <a:solidFill>
                  <a:srgbClr val="A0AFC8"/>
                </a:solidFill>
                <a:latin typeface="Segoe UI"/>
              </a:defRPr>
            </a:pPr>
            <a:r>
              <a:t>SSDs and hard disks for massive capacity, retaining data permanently.</a:t>
            </a:r>
          </a:p>
        </p:txBody>
      </p:sp>
      <p:sp>
        <p:nvSpPr>
          <p:cNvPr id="30" name="Rounded Rectangle 29"/>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Latency Spectrum: </a:t>
            </a:r>
            <a:r>
              <a:rPr sz="1000" b="0">
                <a:solidFill>
                  <a:srgbClr val="FFFFFF"/>
                </a:solidFill>
                <a:latin typeface="Segoe UI"/>
              </a:rPr>
              <a:t>Registers (&lt;1ns) → Cache (1-10ns) → RAM (~100ns) → Secondary SSD/HDD (~10ms).</a:t>
            </a:r>
          </a:p>
        </p:txBody>
      </p:sp>
    </p:spTree>
  </p:cSld>
  <p:clrMapOvr>
    <a:masterClrMapping/>
  </p:clrMapOvr>
  <p:transition spd="med" advClick="1">
    <p:morph option="byObject"/>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 MEMORY &amp; STORAGE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VEDHANTH</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08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Locality of Reference</a:t>
            </a:r>
          </a:p>
          <a:p>
            <a:pPr>
              <a:spcBef>
                <a:spcPts val="200"/>
              </a:spcBef>
              <a:defRPr sz="1150">
                <a:solidFill>
                  <a:srgbClr val="A0AFC8"/>
                </a:solidFill>
                <a:latin typeface="Segoe UI"/>
              </a:defRPr>
            </a:pPr>
            <a:r>
              <a:t>Temporal and Spatial Behavioral Principles</a:t>
            </a:r>
          </a:p>
        </p:txBody>
      </p:sp>
      <p:sp>
        <p:nvSpPr>
          <p:cNvPr id="6" name="Rounded Rectangle 5"/>
          <p:cNvSpPr/>
          <p:nvPr/>
        </p:nvSpPr>
        <p:spPr>
          <a:xfrm>
            <a:off x="731520" y="1645920"/>
            <a:ext cx="52120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0644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3794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Temporal Locality (Locality in Time)</a:t>
            </a:r>
          </a:p>
        </p:txBody>
      </p:sp>
      <p:sp>
        <p:nvSpPr>
          <p:cNvPr id="10" name="TextBox 9"/>
          <p:cNvSpPr txBox="1"/>
          <p:nvPr/>
        </p:nvSpPr>
        <p:spPr>
          <a:xfrm>
            <a:off x="960120" y="2194560"/>
            <a:ext cx="4754880" cy="3291840"/>
          </a:xfrm>
          <a:prstGeom prst="rect">
            <a:avLst/>
          </a:prstGeom>
          <a:noFill/>
        </p:spPr>
        <p:txBody>
          <a:bodyPr wrap="square" lIns="0" tIns="0" rIns="0" bIns="0">
            <a:spAutoFit/>
          </a:bodyPr>
          <a:lstStyle/>
          <a:p>
            <a:pPr>
              <a:spcBef>
                <a:spcPts val="0"/>
              </a:spcBef>
              <a:defRPr sz="1100" b="1">
                <a:solidFill>
                  <a:srgbClr val="FFFFFF"/>
                </a:solidFill>
                <a:latin typeface="Segoe UI"/>
              </a:defRPr>
            </a:pPr>
            <a:r>
              <a:t>• Core Rule:</a:t>
            </a:r>
            <a:r>
              <a:rPr b="0">
                <a:solidFill>
                  <a:srgbClr val="A0AFC8"/>
                </a:solidFill>
              </a:rPr>
              <a:t> Data used recently is likely to be used again soon.</a:t>
            </a:r>
          </a:p>
          <a:p>
            <a:pPr>
              <a:spcBef>
                <a:spcPts val="400"/>
              </a:spcBef>
              <a:defRPr sz="1100" b="1">
                <a:solidFill>
                  <a:srgbClr val="FFFFFF"/>
                </a:solidFill>
                <a:latin typeface="Segoe UI"/>
              </a:defRPr>
            </a:pPr>
            <a:r>
              <a:t>• Program Examples:</a:t>
            </a:r>
            <a:r>
              <a:rPr b="0">
                <a:solidFill>
                  <a:srgbClr val="A0AFC8"/>
                </a:solidFill>
              </a:rPr>
              <a:t> Loop counters, repeated subroutine calls, stack frame pointers.</a:t>
            </a:r>
          </a:p>
          <a:p>
            <a:pPr>
              <a:spcBef>
                <a:spcPts val="400"/>
              </a:spcBef>
              <a:defRPr sz="1100" b="1">
                <a:solidFill>
                  <a:srgbClr val="FFFFFF"/>
                </a:solidFill>
                <a:latin typeface="Segoe UI"/>
              </a:defRPr>
            </a:pPr>
            <a:r>
              <a:t>• Caching Impact:</a:t>
            </a:r>
            <a:r>
              <a:rPr b="0">
                <a:solidFill>
                  <a:srgbClr val="A0AFC8"/>
                </a:solidFill>
              </a:rPr>
              <a:t> Keeping recently referenced memory blocks in fast cache produces high hit rates (&gt;90%).</a:t>
            </a:r>
          </a:p>
        </p:txBody>
      </p:sp>
      <p:sp>
        <p:nvSpPr>
          <p:cNvPr id="11" name="Rounded Rectangle 10"/>
          <p:cNvSpPr/>
          <p:nvPr/>
        </p:nvSpPr>
        <p:spPr>
          <a:xfrm>
            <a:off x="6217920" y="1645920"/>
            <a:ext cx="52120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92840" y="17190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83080"/>
            <a:ext cx="36576" cy="379476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Spatial Locality (Locality in Space)</a:t>
            </a:r>
          </a:p>
        </p:txBody>
      </p:sp>
      <p:sp>
        <p:nvSpPr>
          <p:cNvPr id="15" name="TextBox 14"/>
          <p:cNvSpPr txBox="1"/>
          <p:nvPr/>
        </p:nvSpPr>
        <p:spPr>
          <a:xfrm>
            <a:off x="6446520" y="2194560"/>
            <a:ext cx="4754880" cy="3291840"/>
          </a:xfrm>
          <a:prstGeom prst="rect">
            <a:avLst/>
          </a:prstGeom>
          <a:noFill/>
        </p:spPr>
        <p:txBody>
          <a:bodyPr wrap="square" lIns="0" tIns="0" rIns="0" bIns="0">
            <a:spAutoFit/>
          </a:bodyPr>
          <a:lstStyle/>
          <a:p>
            <a:pPr>
              <a:spcBef>
                <a:spcPts val="0"/>
              </a:spcBef>
              <a:defRPr sz="1100" b="1">
                <a:solidFill>
                  <a:srgbClr val="FFFFFF"/>
                </a:solidFill>
                <a:latin typeface="Segoe UI"/>
              </a:defRPr>
            </a:pPr>
            <a:r>
              <a:t>• Core Rule:</a:t>
            </a:r>
            <a:r>
              <a:rPr b="0">
                <a:solidFill>
                  <a:srgbClr val="A0AFC8"/>
                </a:solidFill>
              </a:rPr>
              <a:t> Data near recently used data is likely to be needed next.</a:t>
            </a:r>
          </a:p>
          <a:p>
            <a:pPr>
              <a:spcBef>
                <a:spcPts val="400"/>
              </a:spcBef>
              <a:defRPr sz="1100" b="1">
                <a:solidFill>
                  <a:srgbClr val="FFFFFF"/>
                </a:solidFill>
                <a:latin typeface="Segoe UI"/>
              </a:defRPr>
            </a:pPr>
            <a:r>
              <a:t>• Program Examples:</a:t>
            </a:r>
            <a:r>
              <a:rPr b="0">
                <a:solidFill>
                  <a:srgbClr val="A0AFC8"/>
                </a:solidFill>
              </a:rPr>
              <a:t> Sequential instruction streams, contiguous array element traversals.</a:t>
            </a:r>
          </a:p>
          <a:p>
            <a:pPr>
              <a:spcBef>
                <a:spcPts val="400"/>
              </a:spcBef>
              <a:defRPr sz="1100" b="1">
                <a:solidFill>
                  <a:srgbClr val="FFFFFF"/>
                </a:solidFill>
                <a:latin typeface="Segoe UI"/>
              </a:defRPr>
            </a:pPr>
            <a:r>
              <a:t>• Caching Impact:</a:t>
            </a:r>
            <a:r>
              <a:rPr b="0">
                <a:solidFill>
                  <a:srgbClr val="A0AFC8"/>
                </a:solidFill>
              </a:rPr>
              <a:t> Fetching complete cache lines (64 bytes) rather than single words drastically cuts memory stalls.</a:t>
            </a:r>
          </a:p>
        </p:txBody>
      </p:sp>
      <p:sp>
        <p:nvSpPr>
          <p:cNvPr id="16" name="Rounded Rectangle 15"/>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Locality Axiom: </a:t>
            </a:r>
            <a:r>
              <a:rPr sz="1000" b="0">
                <a:solidFill>
                  <a:srgbClr val="FFFFFF"/>
                </a:solidFill>
                <a:latin typeface="Segoe UI"/>
              </a:rPr>
              <a:t>Cache succeeds because programs exhibit strong temporal (time) and spatial (space) locality.</a:t>
            </a:r>
          </a:p>
        </p:txBody>
      </p:sp>
    </p:spTree>
  </p:cSld>
  <p:clrMapOvr>
    <a:masterClrMapping/>
  </p:clrMapOvr>
  <p:transition spd="med" advClick="1">
    <p:morph option="byObject"/>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 MEMORY &amp; STORAGE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VEDHANTH</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09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Memory Volatility</a:t>
            </a:r>
          </a:p>
          <a:p>
            <a:pPr>
              <a:spcBef>
                <a:spcPts val="200"/>
              </a:spcBef>
              <a:defRPr sz="1150">
                <a:solidFill>
                  <a:srgbClr val="A0AFC8"/>
                </a:solidFill>
                <a:latin typeface="Segoe UI"/>
              </a:defRPr>
            </a:pPr>
            <a:r>
              <a:t>Volatile Working Storage vs. Non-Volatile Permanent Retention</a:t>
            </a:r>
          </a:p>
        </p:txBody>
      </p:sp>
      <p:sp>
        <p:nvSpPr>
          <p:cNvPr id="6" name="Rounded Rectangle 5"/>
          <p:cNvSpPr/>
          <p:nvPr/>
        </p:nvSpPr>
        <p:spPr>
          <a:xfrm>
            <a:off x="731520" y="1645920"/>
            <a:ext cx="52120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06440" y="1719072"/>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379476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Volatile Memory (RAM &amp; Caches)</a:t>
            </a:r>
          </a:p>
        </p:txBody>
      </p:sp>
      <p:sp>
        <p:nvSpPr>
          <p:cNvPr id="10" name="TextBox 9"/>
          <p:cNvSpPr txBox="1"/>
          <p:nvPr/>
        </p:nvSpPr>
        <p:spPr>
          <a:xfrm>
            <a:off x="960120" y="2194560"/>
            <a:ext cx="4754880" cy="3291840"/>
          </a:xfrm>
          <a:prstGeom prst="rect">
            <a:avLst/>
          </a:prstGeom>
          <a:noFill/>
        </p:spPr>
        <p:txBody>
          <a:bodyPr wrap="square" lIns="0" tIns="0" rIns="0" bIns="0">
            <a:spAutoFit/>
          </a:bodyPr>
          <a:lstStyle/>
          <a:p>
            <a:pPr>
              <a:spcBef>
                <a:spcPts val="0"/>
              </a:spcBef>
              <a:defRPr sz="1100" b="1">
                <a:solidFill>
                  <a:srgbClr val="FFFFFF"/>
                </a:solidFill>
                <a:latin typeface="Segoe UI"/>
              </a:defRPr>
            </a:pPr>
            <a:r>
              <a:t>• Power Dependent:</a:t>
            </a:r>
            <a:r>
              <a:rPr b="0">
                <a:solidFill>
                  <a:srgbClr val="A0AFC8"/>
                </a:solidFill>
              </a:rPr>
              <a:t> RAM is volatile, meaning it loses its contents when power is turned off.</a:t>
            </a:r>
          </a:p>
          <a:p>
            <a:pPr>
              <a:spcBef>
                <a:spcPts val="400"/>
              </a:spcBef>
              <a:defRPr sz="1100" b="1">
                <a:solidFill>
                  <a:srgbClr val="FFFFFF"/>
                </a:solidFill>
                <a:latin typeface="Segoe UI"/>
              </a:defRPr>
            </a:pPr>
            <a:r>
              <a:t>• Physical Implementation:</a:t>
            </a:r>
            <a:r>
              <a:rPr b="0">
                <a:solidFill>
                  <a:srgbClr val="A0AFC8"/>
                </a:solidFill>
              </a:rPr>
              <a:t> Uses capacitor charges (DRAM) or transistor latches (SRAM).</a:t>
            </a:r>
          </a:p>
          <a:p>
            <a:pPr>
              <a:spcBef>
                <a:spcPts val="400"/>
              </a:spcBef>
              <a:defRPr sz="1100" b="1">
                <a:solidFill>
                  <a:srgbClr val="FFFFFF"/>
                </a:solidFill>
                <a:latin typeface="Segoe UI"/>
              </a:defRPr>
            </a:pPr>
            <a:r>
              <a:t>• System Role:</a:t>
            </a:r>
            <a:r>
              <a:rPr b="0">
                <a:solidFill>
                  <a:srgbClr val="A0AFC8"/>
                </a:solidFill>
              </a:rPr>
              <a:t> High-speed temporary workspace for running processes and active kernel buffers.</a:t>
            </a:r>
          </a:p>
        </p:txBody>
      </p:sp>
      <p:sp>
        <p:nvSpPr>
          <p:cNvPr id="11" name="Rounded Rectangle 10"/>
          <p:cNvSpPr/>
          <p:nvPr/>
        </p:nvSpPr>
        <p:spPr>
          <a:xfrm>
            <a:off x="6217920" y="1645920"/>
            <a:ext cx="52120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92840" y="17190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83080"/>
            <a:ext cx="36576" cy="37947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Non-Volatile Storage (SSDs &amp; Hard Disks)</a:t>
            </a:r>
          </a:p>
        </p:txBody>
      </p:sp>
      <p:sp>
        <p:nvSpPr>
          <p:cNvPr id="15" name="TextBox 14"/>
          <p:cNvSpPr txBox="1"/>
          <p:nvPr/>
        </p:nvSpPr>
        <p:spPr>
          <a:xfrm>
            <a:off x="6446520" y="2194560"/>
            <a:ext cx="4754880" cy="3291840"/>
          </a:xfrm>
          <a:prstGeom prst="rect">
            <a:avLst/>
          </a:prstGeom>
          <a:noFill/>
        </p:spPr>
        <p:txBody>
          <a:bodyPr wrap="square" lIns="0" tIns="0" rIns="0" bIns="0">
            <a:spAutoFit/>
          </a:bodyPr>
          <a:lstStyle/>
          <a:p>
            <a:pPr>
              <a:spcBef>
                <a:spcPts val="0"/>
              </a:spcBef>
              <a:defRPr sz="1100" b="1">
                <a:solidFill>
                  <a:srgbClr val="FFFFFF"/>
                </a:solidFill>
                <a:latin typeface="Segoe UI"/>
              </a:defRPr>
            </a:pPr>
            <a:r>
              <a:t>• Power Independent:</a:t>
            </a:r>
            <a:r>
              <a:rPr b="0">
                <a:solidFill>
                  <a:srgbClr val="A0AFC8"/>
                </a:solidFill>
              </a:rPr>
              <a:t> SSDs and hard disks are non-volatile, so they retain data even without power.</a:t>
            </a:r>
          </a:p>
          <a:p>
            <a:pPr>
              <a:spcBef>
                <a:spcPts val="400"/>
              </a:spcBef>
              <a:defRPr sz="1100" b="1">
                <a:solidFill>
                  <a:srgbClr val="FFFFFF"/>
                </a:solidFill>
                <a:latin typeface="Segoe UI"/>
              </a:defRPr>
            </a:pPr>
            <a:r>
              <a:t>• Physical Implementation:</a:t>
            </a:r>
            <a:r>
              <a:rPr b="0">
                <a:solidFill>
                  <a:srgbClr val="A0AFC8"/>
                </a:solidFill>
              </a:rPr>
              <a:t> Uses NAND flash floating gates or magnetic platters.</a:t>
            </a:r>
          </a:p>
          <a:p>
            <a:pPr>
              <a:spcBef>
                <a:spcPts val="400"/>
              </a:spcBef>
              <a:defRPr sz="1100" b="1">
                <a:solidFill>
                  <a:srgbClr val="FFFFFF"/>
                </a:solidFill>
                <a:latin typeface="Segoe UI"/>
              </a:defRPr>
            </a:pPr>
            <a:r>
              <a:t>• System Role:</a:t>
            </a:r>
            <a:r>
              <a:rPr b="0">
                <a:solidFill>
                  <a:srgbClr val="A0AFC8"/>
                </a:solidFill>
              </a:rPr>
              <a:t> Long-term permanent storage preserving operating system files, applications, and user data.</a:t>
            </a:r>
          </a:p>
        </p:txBody>
      </p:sp>
      <p:sp>
        <p:nvSpPr>
          <p:cNvPr id="16" name="Rounded Rectangle 15"/>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Volatility Distinction: </a:t>
            </a:r>
            <a:r>
              <a:rPr sz="1000" b="0">
                <a:solidFill>
                  <a:srgbClr val="FFFFFF"/>
                </a:solidFill>
                <a:latin typeface="Segoe UI"/>
              </a:rPr>
              <a:t>Volatile RAM provides rapid runtime execution; Non-Volatile SSDs/HDDs guarantee permanent data persistence.</a:t>
            </a:r>
          </a:p>
        </p:txBody>
      </p:sp>
    </p:spTree>
  </p:cSld>
  <p:clrMapOvr>
    <a:masterClrMapping/>
  </p:clrMapOvr>
  <p:transition spd="med" advClick="1">
    <p:morph option="byObject"/>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 MEMORY &amp; STORAGE</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VEDHANTH</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10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OS Memory Management</a:t>
            </a:r>
          </a:p>
          <a:p>
            <a:pPr>
              <a:spcBef>
                <a:spcPts val="200"/>
              </a:spcBef>
              <a:defRPr sz="1150">
                <a:solidFill>
                  <a:srgbClr val="A0AFC8"/>
                </a:solidFill>
                <a:latin typeface="Segoe UI"/>
              </a:defRPr>
            </a:pPr>
            <a:r>
              <a:t>Software Strategies for Maximizing Storage Hierarchy Performance</a:t>
            </a:r>
          </a:p>
        </p:txBody>
      </p:sp>
      <p:sp>
        <p:nvSpPr>
          <p:cNvPr id="6" name="Rounded Rectangle 5"/>
          <p:cNvSpPr/>
          <p:nvPr/>
        </p:nvSpPr>
        <p:spPr>
          <a:xfrm>
            <a:off x="731520" y="1645920"/>
            <a:ext cx="521208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0644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16459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1. Paging</a:t>
            </a:r>
          </a:p>
        </p:txBody>
      </p:sp>
      <p:sp>
        <p:nvSpPr>
          <p:cNvPr id="10" name="TextBox 9"/>
          <p:cNvSpPr txBox="1"/>
          <p:nvPr/>
        </p:nvSpPr>
        <p:spPr>
          <a:xfrm>
            <a:off x="960120" y="2103120"/>
            <a:ext cx="4754880" cy="1280160"/>
          </a:xfrm>
          <a:prstGeom prst="rect">
            <a:avLst/>
          </a:prstGeom>
          <a:noFill/>
        </p:spPr>
        <p:txBody>
          <a:bodyPr wrap="square">
            <a:spAutoFit/>
          </a:bodyPr>
          <a:lstStyle/>
          <a:p>
            <a:pPr>
              <a:defRPr sz="1050">
                <a:solidFill>
                  <a:srgbClr val="A0AFC8"/>
                </a:solidFill>
                <a:latin typeface="Segoe UI"/>
              </a:defRPr>
            </a:pPr>
            <a:r>
              <a:t>Divides memory into fixed-size pages and maps virtual addresses to physical RAM frames, swapping inactive pages to disk.</a:t>
            </a:r>
          </a:p>
        </p:txBody>
      </p:sp>
      <p:sp>
        <p:nvSpPr>
          <p:cNvPr id="11" name="Rounded Rectangle 10"/>
          <p:cNvSpPr/>
          <p:nvPr/>
        </p:nvSpPr>
        <p:spPr>
          <a:xfrm>
            <a:off x="6217920" y="1645920"/>
            <a:ext cx="521208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92840" y="17190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83080"/>
            <a:ext cx="36576" cy="16459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2. Buffering</a:t>
            </a:r>
          </a:p>
        </p:txBody>
      </p:sp>
      <p:sp>
        <p:nvSpPr>
          <p:cNvPr id="15" name="TextBox 14"/>
          <p:cNvSpPr txBox="1"/>
          <p:nvPr/>
        </p:nvSpPr>
        <p:spPr>
          <a:xfrm>
            <a:off x="6446520" y="2103120"/>
            <a:ext cx="4754880" cy="1280160"/>
          </a:xfrm>
          <a:prstGeom prst="rect">
            <a:avLst/>
          </a:prstGeom>
          <a:noFill/>
        </p:spPr>
        <p:txBody>
          <a:bodyPr wrap="square">
            <a:spAutoFit/>
          </a:bodyPr>
          <a:lstStyle/>
          <a:p>
            <a:pPr>
              <a:defRPr sz="1050">
                <a:solidFill>
                  <a:srgbClr val="A0AFC8"/>
                </a:solidFill>
                <a:latin typeface="Segoe UI"/>
              </a:defRPr>
            </a:pPr>
            <a:r>
              <a:t>Temporarily holds data in memory during device transfers to bridge speed mismatches between CPU and slower I/O peripherals.</a:t>
            </a:r>
          </a:p>
        </p:txBody>
      </p:sp>
      <p:sp>
        <p:nvSpPr>
          <p:cNvPr id="16" name="Rounded Rectangle 15"/>
          <p:cNvSpPr/>
          <p:nvPr/>
        </p:nvSpPr>
        <p:spPr>
          <a:xfrm>
            <a:off x="731520" y="3703320"/>
            <a:ext cx="521208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06440" y="37764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840480"/>
            <a:ext cx="36576" cy="16459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40480"/>
            <a:ext cx="4754880" cy="365760"/>
          </a:xfrm>
          <a:prstGeom prst="rect">
            <a:avLst/>
          </a:prstGeom>
          <a:noFill/>
        </p:spPr>
        <p:txBody>
          <a:bodyPr wrap="square" lIns="0" tIns="0" rIns="0" bIns="0">
            <a:spAutoFit/>
          </a:bodyPr>
          <a:lstStyle/>
          <a:p>
            <a:pPr>
              <a:defRPr sz="1300" b="1">
                <a:solidFill>
                  <a:srgbClr val="FFFFFF"/>
                </a:solidFill>
                <a:latin typeface="Segoe UI"/>
              </a:defRPr>
            </a:pPr>
            <a:r>
              <a:t>3. Disk Caching</a:t>
            </a:r>
          </a:p>
        </p:txBody>
      </p:sp>
      <p:sp>
        <p:nvSpPr>
          <p:cNvPr id="20" name="TextBox 19"/>
          <p:cNvSpPr txBox="1"/>
          <p:nvPr/>
        </p:nvSpPr>
        <p:spPr>
          <a:xfrm>
            <a:off x="960120" y="4160520"/>
            <a:ext cx="4754880" cy="1280160"/>
          </a:xfrm>
          <a:prstGeom prst="rect">
            <a:avLst/>
          </a:prstGeom>
          <a:noFill/>
        </p:spPr>
        <p:txBody>
          <a:bodyPr wrap="square">
            <a:spAutoFit/>
          </a:bodyPr>
          <a:lstStyle/>
          <a:p>
            <a:pPr>
              <a:defRPr sz="1050">
                <a:solidFill>
                  <a:srgbClr val="A0AFC8"/>
                </a:solidFill>
                <a:latin typeface="Segoe UI"/>
              </a:defRPr>
            </a:pPr>
            <a:r>
              <a:t>Maintains copies of frequently accessed file system blocks in RAM to avoid slow physical disk read operations.</a:t>
            </a:r>
          </a:p>
        </p:txBody>
      </p:sp>
      <p:sp>
        <p:nvSpPr>
          <p:cNvPr id="21" name="Rounded Rectangle 20"/>
          <p:cNvSpPr/>
          <p:nvPr/>
        </p:nvSpPr>
        <p:spPr>
          <a:xfrm>
            <a:off x="6217920" y="3703320"/>
            <a:ext cx="521208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292840" y="3776472"/>
            <a:ext cx="731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840480"/>
            <a:ext cx="36576" cy="1645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840480"/>
            <a:ext cx="4754880" cy="365760"/>
          </a:xfrm>
          <a:prstGeom prst="rect">
            <a:avLst/>
          </a:prstGeom>
          <a:noFill/>
        </p:spPr>
        <p:txBody>
          <a:bodyPr wrap="square" lIns="0" tIns="0" rIns="0" bIns="0">
            <a:spAutoFit/>
          </a:bodyPr>
          <a:lstStyle/>
          <a:p>
            <a:pPr>
              <a:defRPr sz="1300" b="1">
                <a:solidFill>
                  <a:srgbClr val="FFFFFF"/>
                </a:solidFill>
                <a:latin typeface="Segoe UI"/>
              </a:defRPr>
            </a:pPr>
            <a:r>
              <a:t>4. Prefetching</a:t>
            </a:r>
          </a:p>
        </p:txBody>
      </p:sp>
      <p:sp>
        <p:nvSpPr>
          <p:cNvPr id="25" name="TextBox 24"/>
          <p:cNvSpPr txBox="1"/>
          <p:nvPr/>
        </p:nvSpPr>
        <p:spPr>
          <a:xfrm>
            <a:off x="6446520" y="4160520"/>
            <a:ext cx="4754880" cy="1280160"/>
          </a:xfrm>
          <a:prstGeom prst="rect">
            <a:avLst/>
          </a:prstGeom>
          <a:noFill/>
        </p:spPr>
        <p:txBody>
          <a:bodyPr wrap="square">
            <a:spAutoFit/>
          </a:bodyPr>
          <a:lstStyle/>
          <a:p>
            <a:pPr>
              <a:defRPr sz="1050">
                <a:solidFill>
                  <a:srgbClr val="A0AFC8"/>
                </a:solidFill>
                <a:latin typeface="Segoe UI"/>
              </a:defRPr>
            </a:pPr>
            <a:r>
              <a:t>Anticipates future memory and file requests based on spatial locality, loading data into cache/RAM before requested.</a:t>
            </a:r>
          </a:p>
        </p:txBody>
      </p:sp>
      <p:sp>
        <p:nvSpPr>
          <p:cNvPr id="26" name="Rounded Rectangle 25"/>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OS Hierarchy Management: </a:t>
            </a:r>
            <a:r>
              <a:rPr sz="1000" b="0">
                <a:solidFill>
                  <a:srgbClr val="FFFFFF"/>
                </a:solidFill>
                <a:latin typeface="Segoe UI"/>
              </a:rPr>
              <a:t>Techniques Used: Paging, buffering, disk caching, and prefetching.</a:t>
            </a:r>
          </a:p>
        </p:txBody>
      </p:sp>
    </p:spTree>
  </p:cSld>
  <p:clrMapOvr>
    <a:masterClrMapping/>
  </p:clrMapOvr>
  <p:transition spd="med" advClick="1">
    <p:morph option="byObject"/>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III: MULTIPROCESSING</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LOCHAN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11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Single-Processor vs. Multiprocessor Systems</a:t>
            </a:r>
          </a:p>
          <a:p>
            <a:pPr>
              <a:spcBef>
                <a:spcPts val="200"/>
              </a:spcBef>
              <a:defRPr sz="1150">
                <a:solidFill>
                  <a:srgbClr val="A0AFC8"/>
                </a:solidFill>
                <a:latin typeface="Segoe UI"/>
              </a:defRPr>
            </a:pPr>
            <a:r>
              <a:t>Architectural Scaling from Single Execution Streams to Parallel Computing</a:t>
            </a:r>
          </a:p>
        </p:txBody>
      </p:sp>
      <p:sp>
        <p:nvSpPr>
          <p:cNvPr id="6" name="Rounded Rectangle 5"/>
          <p:cNvSpPr/>
          <p:nvPr/>
        </p:nvSpPr>
        <p:spPr>
          <a:xfrm>
            <a:off x="731520" y="1645920"/>
            <a:ext cx="5303520" cy="19659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97879"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1691639"/>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846320" cy="365760"/>
          </a:xfrm>
          <a:prstGeom prst="rect">
            <a:avLst/>
          </a:prstGeom>
          <a:noFill/>
        </p:spPr>
        <p:txBody>
          <a:bodyPr wrap="square" lIns="0" tIns="0" rIns="0" bIns="0">
            <a:spAutoFit/>
          </a:bodyPr>
          <a:lstStyle/>
          <a:p>
            <a:pPr>
              <a:defRPr sz="1300" b="1">
                <a:solidFill>
                  <a:srgbClr val="FFFFFF"/>
                </a:solidFill>
                <a:latin typeface="Segoe UI"/>
              </a:defRPr>
            </a:pPr>
            <a:r>
              <a:t>Single-Processor Systems</a:t>
            </a:r>
          </a:p>
        </p:txBody>
      </p:sp>
      <p:sp>
        <p:nvSpPr>
          <p:cNvPr id="10" name="TextBox 9"/>
          <p:cNvSpPr txBox="1"/>
          <p:nvPr/>
        </p:nvSpPr>
        <p:spPr>
          <a:xfrm>
            <a:off x="960120" y="2103120"/>
            <a:ext cx="4846320" cy="1371600"/>
          </a:xfrm>
          <a:prstGeom prst="rect">
            <a:avLst/>
          </a:prstGeom>
          <a:noFill/>
        </p:spPr>
        <p:txBody>
          <a:bodyPr wrap="square" lIns="0" tIns="0" rIns="0" bIns="0">
            <a:spAutoFit/>
          </a:bodyPr>
          <a:lstStyle/>
          <a:p>
            <a:pPr>
              <a:spcBef>
                <a:spcPts val="0"/>
              </a:spcBef>
              <a:defRPr sz="1000">
                <a:solidFill>
                  <a:srgbClr val="A0AFC8"/>
                </a:solidFill>
                <a:latin typeface="Segoe UI"/>
              </a:defRPr>
            </a:pPr>
            <a:r>
              <a:t>• One CPU handles all instructions.</a:t>
            </a:r>
          </a:p>
          <a:p>
            <a:pPr>
              <a:spcBef>
                <a:spcPts val="400"/>
              </a:spcBef>
              <a:defRPr sz="1000">
                <a:solidFill>
                  <a:srgbClr val="A0AFC8"/>
                </a:solidFill>
                <a:latin typeface="Segoe UI"/>
              </a:defRPr>
            </a:pPr>
            <a:r>
              <a:t>• Simpler hardware design, but limited computational throughput.</a:t>
            </a:r>
          </a:p>
          <a:p>
            <a:pPr>
              <a:spcBef>
                <a:spcPts val="400"/>
              </a:spcBef>
              <a:defRPr sz="1000">
                <a:solidFill>
                  <a:srgbClr val="A0AFC8"/>
                </a:solidFill>
                <a:latin typeface="Segoe UI"/>
              </a:defRPr>
            </a:pPr>
            <a:r>
              <a:t>• Concurrency is simulated purely via OS time-slicing.</a:t>
            </a:r>
          </a:p>
        </p:txBody>
      </p:sp>
      <p:sp>
        <p:nvSpPr>
          <p:cNvPr id="11" name="Rounded Rectangle 10"/>
          <p:cNvSpPr/>
          <p:nvPr/>
        </p:nvSpPr>
        <p:spPr>
          <a:xfrm>
            <a:off x="731520" y="3749039"/>
            <a:ext cx="5303520" cy="19659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97879" y="3822191"/>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86200"/>
            <a:ext cx="36576" cy="1691639"/>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886200"/>
            <a:ext cx="4846320" cy="365760"/>
          </a:xfrm>
          <a:prstGeom prst="rect">
            <a:avLst/>
          </a:prstGeom>
          <a:noFill/>
        </p:spPr>
        <p:txBody>
          <a:bodyPr wrap="square" lIns="0" tIns="0" rIns="0" bIns="0">
            <a:spAutoFit/>
          </a:bodyPr>
          <a:lstStyle/>
          <a:p>
            <a:pPr>
              <a:defRPr sz="1300" b="1">
                <a:solidFill>
                  <a:srgbClr val="FFFFFF"/>
                </a:solidFill>
                <a:latin typeface="Segoe UI"/>
              </a:defRPr>
            </a:pPr>
            <a:r>
              <a:t>Multiprocessor Systems</a:t>
            </a:r>
          </a:p>
        </p:txBody>
      </p:sp>
      <p:sp>
        <p:nvSpPr>
          <p:cNvPr id="15" name="TextBox 14"/>
          <p:cNvSpPr txBox="1"/>
          <p:nvPr/>
        </p:nvSpPr>
        <p:spPr>
          <a:xfrm>
            <a:off x="960120" y="4206240"/>
            <a:ext cx="4846320" cy="1371600"/>
          </a:xfrm>
          <a:prstGeom prst="rect">
            <a:avLst/>
          </a:prstGeom>
          <a:noFill/>
        </p:spPr>
        <p:txBody>
          <a:bodyPr wrap="square" lIns="0" tIns="0" rIns="0" bIns="0">
            <a:spAutoFit/>
          </a:bodyPr>
          <a:lstStyle/>
          <a:p>
            <a:pPr>
              <a:spcBef>
                <a:spcPts val="0"/>
              </a:spcBef>
              <a:defRPr sz="1000">
                <a:solidFill>
                  <a:srgbClr val="A0AFC8"/>
                </a:solidFill>
                <a:latin typeface="Segoe UI"/>
              </a:defRPr>
            </a:pPr>
            <a:r>
              <a:t>• Multiple CPUs share the bus, clock, and memory.</a:t>
            </a:r>
          </a:p>
          <a:p>
            <a:pPr>
              <a:spcBef>
                <a:spcPts val="400"/>
              </a:spcBef>
              <a:defRPr sz="1000">
                <a:solidFill>
                  <a:srgbClr val="A0AFC8"/>
                </a:solidFill>
                <a:latin typeface="Segoe UI"/>
              </a:defRPr>
            </a:pPr>
            <a:r>
              <a:t>• Runs concurrent workloads to increase speed and reliability.</a:t>
            </a:r>
          </a:p>
          <a:p>
            <a:pPr>
              <a:spcBef>
                <a:spcPts val="400"/>
              </a:spcBef>
              <a:defRPr sz="1000">
                <a:solidFill>
                  <a:srgbClr val="A0AFC8"/>
                </a:solidFill>
                <a:latin typeface="Segoe UI"/>
              </a:defRPr>
            </a:pPr>
            <a:r>
              <a:t>• Provides higher throughput and graceful degradation (fault tolerance).</a:t>
            </a:r>
          </a:p>
        </p:txBody>
      </p:sp>
      <p:pic>
        <p:nvPicPr>
          <p:cNvPr id="16" name="Picture 15" descr="single_vs_multi_tree.png"/>
          <p:cNvPicPr>
            <a:picLocks noChangeAspect="1"/>
          </p:cNvPicPr>
          <p:nvPr/>
        </p:nvPicPr>
        <p:blipFill>
          <a:blip r:embed="rId2"/>
          <a:stretch>
            <a:fillRect/>
          </a:stretch>
        </p:blipFill>
        <p:spPr>
          <a:xfrm>
            <a:off x="6400800" y="1645920"/>
            <a:ext cx="5029200" cy="3771900"/>
          </a:xfrm>
          <a:prstGeom prst="rect">
            <a:avLst/>
          </a:prstGeom>
        </p:spPr>
      </p:pic>
      <p:sp>
        <p:nvSpPr>
          <p:cNvPr id="17" name="Rounded Rectangle 16"/>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Architectural Shift: </a:t>
            </a:r>
            <a:r>
              <a:rPr sz="1000" b="0">
                <a:solidFill>
                  <a:srgbClr val="FFFFFF"/>
                </a:solidFill>
                <a:latin typeface="Segoe UI"/>
              </a:rPr>
              <a:t>Multiprocessor systems use multiple CPUs sharing bus and memory to run tasks simultaneously.</a:t>
            </a:r>
          </a:p>
        </p:txBody>
      </p:sp>
    </p:spTree>
  </p:cSld>
  <p:clrMapOvr>
    <a:masterClrMapping/>
  </p:clrMapOvr>
  <p:transition spd="med" advClick="1">
    <p:morph option="byObject"/>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III: MULTIPROCESSING</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LOCHAN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12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Multiprocessing Approaches: SMP vs. AMP</a:t>
            </a:r>
          </a:p>
          <a:p>
            <a:pPr>
              <a:spcBef>
                <a:spcPts val="200"/>
              </a:spcBef>
              <a:defRPr sz="1150">
                <a:solidFill>
                  <a:srgbClr val="A0AFC8"/>
                </a:solidFill>
                <a:latin typeface="Segoe UI"/>
              </a:defRPr>
            </a:pPr>
            <a:r>
              <a:t>Peer Multiprocessing vs. Master-Slave Hierarchical Scheduling</a:t>
            </a:r>
          </a:p>
        </p:txBody>
      </p:sp>
      <p:sp>
        <p:nvSpPr>
          <p:cNvPr id="6" name="Rounded Rectangle 5"/>
          <p:cNvSpPr/>
          <p:nvPr/>
        </p:nvSpPr>
        <p:spPr>
          <a:xfrm>
            <a:off x="731520" y="1645920"/>
            <a:ext cx="52120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0644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3794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Symmetric Multiprocessing (SMP)</a:t>
            </a:r>
          </a:p>
        </p:txBody>
      </p:sp>
      <p:sp>
        <p:nvSpPr>
          <p:cNvPr id="10" name="TextBox 9"/>
          <p:cNvSpPr txBox="1"/>
          <p:nvPr/>
        </p:nvSpPr>
        <p:spPr>
          <a:xfrm>
            <a:off x="960120" y="2194560"/>
            <a:ext cx="4754880" cy="3291840"/>
          </a:xfrm>
          <a:prstGeom prst="rect">
            <a:avLst/>
          </a:prstGeom>
          <a:noFill/>
        </p:spPr>
        <p:txBody>
          <a:bodyPr wrap="square" lIns="0" tIns="0" rIns="0" bIns="0">
            <a:spAutoFit/>
          </a:bodyPr>
          <a:lstStyle/>
          <a:p>
            <a:pPr>
              <a:spcBef>
                <a:spcPts val="0"/>
              </a:spcBef>
              <a:defRPr sz="1100" b="1">
                <a:solidFill>
                  <a:srgbClr val="FFFFFF"/>
                </a:solidFill>
                <a:latin typeface="Segoe UI"/>
              </a:defRPr>
            </a:pPr>
            <a:r>
              <a:t>• Peer Processors:</a:t>
            </a:r>
            <a:r>
              <a:rPr b="0">
                <a:solidFill>
                  <a:srgbClr val="A0AFC8"/>
                </a:solidFill>
              </a:rPr>
              <a:t> All processors are peers and can execute OS and user tasks independently.</a:t>
            </a:r>
          </a:p>
          <a:p>
            <a:pPr>
              <a:spcBef>
                <a:spcPts val="400"/>
              </a:spcBef>
              <a:defRPr sz="1100" b="1">
                <a:solidFill>
                  <a:srgbClr val="FFFFFF"/>
                </a:solidFill>
                <a:latin typeface="Segoe UI"/>
              </a:defRPr>
            </a:pPr>
            <a:r>
              <a:t>• Shared Architecture:</a:t>
            </a:r>
            <a:r>
              <a:rPr b="0">
                <a:solidFill>
                  <a:srgbClr val="A0AFC8"/>
                </a:solidFill>
              </a:rPr>
              <a:t> Share physical memory and the system bus equally.</a:t>
            </a:r>
          </a:p>
          <a:p>
            <a:pPr>
              <a:spcBef>
                <a:spcPts val="400"/>
              </a:spcBef>
              <a:defRPr sz="1100" b="1">
                <a:solidFill>
                  <a:srgbClr val="FFFFFF"/>
                </a:solidFill>
                <a:latin typeface="Segoe UI"/>
              </a:defRPr>
            </a:pPr>
            <a:r>
              <a:t>• Dominant Model:</a:t>
            </a:r>
            <a:r>
              <a:rPr b="0">
                <a:solidFill>
                  <a:srgbClr val="A0AFC8"/>
                </a:solidFill>
              </a:rPr>
              <a:t> Used in virtually all modern personal computers and enterprise servers.</a:t>
            </a:r>
          </a:p>
          <a:p>
            <a:pPr>
              <a:spcBef>
                <a:spcPts val="400"/>
              </a:spcBef>
              <a:defRPr sz="1100" b="1">
                <a:solidFill>
                  <a:srgbClr val="FFFFFF"/>
                </a:solidFill>
                <a:latin typeface="Segoe UI"/>
              </a:defRPr>
            </a:pPr>
            <a:r>
              <a:t>• Dynamic Scheduling:</a:t>
            </a:r>
            <a:r>
              <a:rPr b="0">
                <a:solidFill>
                  <a:srgbClr val="A0AFC8"/>
                </a:solidFill>
              </a:rPr>
              <a:t> Any processor can pick up any ready process from the ready queue.</a:t>
            </a:r>
          </a:p>
        </p:txBody>
      </p:sp>
      <p:sp>
        <p:nvSpPr>
          <p:cNvPr id="11" name="Rounded Rectangle 10"/>
          <p:cNvSpPr/>
          <p:nvPr/>
        </p:nvSpPr>
        <p:spPr>
          <a:xfrm>
            <a:off x="6217920" y="1645920"/>
            <a:ext cx="5212080" cy="40690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92840" y="1719072"/>
            <a:ext cx="731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83080"/>
            <a:ext cx="36576" cy="3794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Asymmetric Multiprocessing (AMP)</a:t>
            </a:r>
          </a:p>
        </p:txBody>
      </p:sp>
      <p:sp>
        <p:nvSpPr>
          <p:cNvPr id="15" name="TextBox 14"/>
          <p:cNvSpPr txBox="1"/>
          <p:nvPr/>
        </p:nvSpPr>
        <p:spPr>
          <a:xfrm>
            <a:off x="6446520" y="2194560"/>
            <a:ext cx="4754880" cy="3291840"/>
          </a:xfrm>
          <a:prstGeom prst="rect">
            <a:avLst/>
          </a:prstGeom>
          <a:noFill/>
        </p:spPr>
        <p:txBody>
          <a:bodyPr wrap="square" lIns="0" tIns="0" rIns="0" bIns="0">
            <a:spAutoFit/>
          </a:bodyPr>
          <a:lstStyle/>
          <a:p>
            <a:pPr>
              <a:spcBef>
                <a:spcPts val="0"/>
              </a:spcBef>
              <a:defRPr sz="1100" b="1">
                <a:solidFill>
                  <a:srgbClr val="FFFFFF"/>
                </a:solidFill>
                <a:latin typeface="Segoe UI"/>
              </a:defRPr>
            </a:pPr>
            <a:r>
              <a:t>• Master-Slave Model:</a:t>
            </a:r>
            <a:r>
              <a:rPr b="0">
                <a:solidFill>
                  <a:srgbClr val="A0AFC8"/>
                </a:solidFill>
              </a:rPr>
              <a:t> A master processor controls the system and assigns specific tasks to slave processors.</a:t>
            </a:r>
          </a:p>
          <a:p>
            <a:pPr>
              <a:spcBef>
                <a:spcPts val="400"/>
              </a:spcBef>
              <a:defRPr sz="1100" b="1">
                <a:solidFill>
                  <a:srgbClr val="FFFFFF"/>
                </a:solidFill>
                <a:latin typeface="Segoe UI"/>
              </a:defRPr>
            </a:pPr>
            <a:r>
              <a:t>• Dedicated Roles:</a:t>
            </a:r>
            <a:r>
              <a:rPr b="0">
                <a:solidFill>
                  <a:srgbClr val="A0AFC8"/>
                </a:solidFill>
              </a:rPr>
              <a:t> Slaves run specific application code or I/O while the master executes OS kernel code.</a:t>
            </a:r>
          </a:p>
          <a:p>
            <a:pPr>
              <a:spcBef>
                <a:spcPts val="400"/>
              </a:spcBef>
              <a:defRPr sz="1100" b="1">
                <a:solidFill>
                  <a:srgbClr val="FFFFFF"/>
                </a:solidFill>
                <a:latin typeface="Segoe UI"/>
              </a:defRPr>
            </a:pPr>
            <a:r>
              <a:t>• Simplified Coordination:</a:t>
            </a:r>
            <a:r>
              <a:rPr b="0">
                <a:solidFill>
                  <a:srgbClr val="A0AFC8"/>
                </a:solidFill>
              </a:rPr>
              <a:t> Avoids complex kernel locking contention by centralizing decisions.</a:t>
            </a:r>
          </a:p>
          <a:p>
            <a:pPr>
              <a:spcBef>
                <a:spcPts val="400"/>
              </a:spcBef>
              <a:defRPr sz="1100" b="1">
                <a:solidFill>
                  <a:srgbClr val="FFFFFF"/>
                </a:solidFill>
                <a:latin typeface="Segoe UI"/>
              </a:defRPr>
            </a:pPr>
            <a:r>
              <a:t>• Specialized Systems:</a:t>
            </a:r>
            <a:r>
              <a:rPr b="0">
                <a:solidFill>
                  <a:srgbClr val="A0AFC8"/>
                </a:solidFill>
              </a:rPr>
              <a:t> Often found in specialized embedded controllers and legacy mainframes.</a:t>
            </a:r>
          </a:p>
        </p:txBody>
      </p:sp>
      <p:sp>
        <p:nvSpPr>
          <p:cNvPr id="16" name="Rounded Rectangle 15"/>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Multiprocessing Models: </a:t>
            </a:r>
            <a:r>
              <a:rPr sz="1000" b="0">
                <a:solidFill>
                  <a:srgbClr val="FFFFFF"/>
                </a:solidFill>
                <a:latin typeface="Segoe UI"/>
              </a:rPr>
              <a:t>SMP treats all processors as equal peers; AMP uses a master processor delegating work to slave processors.</a:t>
            </a:r>
          </a:p>
        </p:txBody>
      </p:sp>
    </p:spTree>
  </p:cSld>
  <p:clrMapOvr>
    <a:masterClrMapping/>
  </p:clrMapOvr>
  <p:transition spd="med" advClick="1">
    <p:morph option="byObject"/>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III: MULTIPROCESSING</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LOCHAN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13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Modern Systems: Multicore &amp; Clustered</a:t>
            </a:r>
          </a:p>
          <a:p>
            <a:pPr>
              <a:spcBef>
                <a:spcPts val="200"/>
              </a:spcBef>
              <a:defRPr sz="1150">
                <a:solidFill>
                  <a:srgbClr val="A0AFC8"/>
                </a:solidFill>
                <a:latin typeface="Segoe UI"/>
              </a:defRPr>
            </a:pPr>
            <a:r>
              <a:t>On-Chip Scale-Up vs. Networked Scale-Out Architecture</a:t>
            </a:r>
          </a:p>
        </p:txBody>
      </p:sp>
      <p:sp>
        <p:nvSpPr>
          <p:cNvPr id="6" name="Rounded Rectangle 5"/>
          <p:cNvSpPr/>
          <p:nvPr/>
        </p:nvSpPr>
        <p:spPr>
          <a:xfrm>
            <a:off x="731520" y="1645920"/>
            <a:ext cx="5303520" cy="19659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97879"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1691639"/>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846320" cy="365760"/>
          </a:xfrm>
          <a:prstGeom prst="rect">
            <a:avLst/>
          </a:prstGeom>
          <a:noFill/>
        </p:spPr>
        <p:txBody>
          <a:bodyPr wrap="square" lIns="0" tIns="0" rIns="0" bIns="0">
            <a:spAutoFit/>
          </a:bodyPr>
          <a:lstStyle/>
          <a:p>
            <a:pPr>
              <a:defRPr sz="1300" b="1">
                <a:solidFill>
                  <a:srgbClr val="FFFFFF"/>
                </a:solidFill>
                <a:latin typeface="Segoe UI"/>
              </a:defRPr>
            </a:pPr>
            <a:r>
              <a:t>Multicore Processors (Scale-Up)</a:t>
            </a:r>
          </a:p>
        </p:txBody>
      </p:sp>
      <p:sp>
        <p:nvSpPr>
          <p:cNvPr id="10" name="TextBox 9"/>
          <p:cNvSpPr txBox="1"/>
          <p:nvPr/>
        </p:nvSpPr>
        <p:spPr>
          <a:xfrm>
            <a:off x="960120" y="2103120"/>
            <a:ext cx="4846320" cy="1371600"/>
          </a:xfrm>
          <a:prstGeom prst="rect">
            <a:avLst/>
          </a:prstGeom>
          <a:noFill/>
        </p:spPr>
        <p:txBody>
          <a:bodyPr wrap="square">
            <a:spAutoFit/>
          </a:bodyPr>
          <a:lstStyle/>
          <a:p/>
          <a:p>
            <a:pPr>
              <a:spcBef>
                <a:spcPts val="200"/>
              </a:spcBef>
              <a:defRPr sz="1000">
                <a:solidFill>
                  <a:srgbClr val="A0AFC8"/>
                </a:solidFill>
                <a:latin typeface="Segoe UI"/>
              </a:defRPr>
            </a:pPr>
            <a:r>
              <a:t>• Multiple processing cores placed on a single physical chip for ultra-fast communication.</a:t>
            </a:r>
          </a:p>
          <a:p>
            <a:pPr>
              <a:spcBef>
                <a:spcPts val="200"/>
              </a:spcBef>
              <a:defRPr sz="1000">
                <a:solidFill>
                  <a:srgbClr val="A0AFC8"/>
                </a:solidFill>
                <a:latin typeface="Segoe UI"/>
              </a:defRPr>
            </a:pPr>
            <a:r>
              <a:t>• On-chip communication is significantly faster and uses far less energy than inter-chip buses.</a:t>
            </a:r>
          </a:p>
          <a:p>
            <a:pPr>
              <a:spcBef>
                <a:spcPts val="200"/>
              </a:spcBef>
              <a:defRPr sz="1000">
                <a:solidFill>
                  <a:srgbClr val="A0AFC8"/>
                </a:solidFill>
                <a:latin typeface="Segoe UI"/>
              </a:defRPr>
            </a:pPr>
            <a:r>
              <a:t>• Each core features private L1/L2 caches and shares an on-die L3 cache.</a:t>
            </a:r>
          </a:p>
        </p:txBody>
      </p:sp>
      <p:sp>
        <p:nvSpPr>
          <p:cNvPr id="11" name="Rounded Rectangle 10"/>
          <p:cNvSpPr/>
          <p:nvPr/>
        </p:nvSpPr>
        <p:spPr>
          <a:xfrm>
            <a:off x="731520" y="3749039"/>
            <a:ext cx="5303520" cy="19659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97879" y="3822191"/>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86200"/>
            <a:ext cx="36576" cy="1691639"/>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886200"/>
            <a:ext cx="4846320" cy="365760"/>
          </a:xfrm>
          <a:prstGeom prst="rect">
            <a:avLst/>
          </a:prstGeom>
          <a:noFill/>
        </p:spPr>
        <p:txBody>
          <a:bodyPr wrap="square" lIns="0" tIns="0" rIns="0" bIns="0">
            <a:spAutoFit/>
          </a:bodyPr>
          <a:lstStyle/>
          <a:p>
            <a:pPr>
              <a:defRPr sz="1300" b="1">
                <a:solidFill>
                  <a:srgbClr val="FFFFFF"/>
                </a:solidFill>
                <a:latin typeface="Segoe UI"/>
              </a:defRPr>
            </a:pPr>
            <a:r>
              <a:t>Clustered Systems (Scale-Out)</a:t>
            </a:r>
          </a:p>
        </p:txBody>
      </p:sp>
      <p:sp>
        <p:nvSpPr>
          <p:cNvPr id="15" name="TextBox 14"/>
          <p:cNvSpPr txBox="1"/>
          <p:nvPr/>
        </p:nvSpPr>
        <p:spPr>
          <a:xfrm>
            <a:off x="960120" y="4206240"/>
            <a:ext cx="4846320" cy="1371600"/>
          </a:xfrm>
          <a:prstGeom prst="rect">
            <a:avLst/>
          </a:prstGeom>
          <a:noFill/>
        </p:spPr>
        <p:txBody>
          <a:bodyPr wrap="square">
            <a:spAutoFit/>
          </a:bodyPr>
          <a:lstStyle/>
          <a:p/>
          <a:p>
            <a:pPr>
              <a:spcBef>
                <a:spcPts val="200"/>
              </a:spcBef>
              <a:defRPr sz="1000">
                <a:solidFill>
                  <a:srgbClr val="A0AFC8"/>
                </a:solidFill>
                <a:latin typeface="Segoe UI"/>
              </a:defRPr>
            </a:pPr>
            <a:r>
              <a:t>• Multiple independent computers connected over a network to share immense workloads.</a:t>
            </a:r>
          </a:p>
          <a:p>
            <a:pPr>
              <a:spcBef>
                <a:spcPts val="200"/>
              </a:spcBef>
              <a:defRPr sz="1000">
                <a:solidFill>
                  <a:srgbClr val="A0AFC8"/>
                </a:solidFill>
                <a:latin typeface="Segoe UI"/>
              </a:defRPr>
            </a:pPr>
            <a:r>
              <a:t>• Nodes share a common Storage Area Network (SAN) for unified data access.</a:t>
            </a:r>
          </a:p>
          <a:p>
            <a:pPr>
              <a:spcBef>
                <a:spcPts val="200"/>
              </a:spcBef>
              <a:defRPr sz="1000">
                <a:solidFill>
                  <a:srgbClr val="A0AFC8"/>
                </a:solidFill>
                <a:latin typeface="Segoe UI"/>
              </a:defRPr>
            </a:pPr>
            <a:r>
              <a:t>• Provides high availability and fault tolerance — if one machine fails, others take over.</a:t>
            </a:r>
          </a:p>
        </p:txBody>
      </p:sp>
      <p:pic>
        <p:nvPicPr>
          <p:cNvPr id="16" name="Picture 15" descr="iso_multicore_chip.png"/>
          <p:cNvPicPr>
            <a:picLocks noChangeAspect="1"/>
          </p:cNvPicPr>
          <p:nvPr/>
        </p:nvPicPr>
        <p:blipFill>
          <a:blip r:embed="rId2"/>
          <a:stretch>
            <a:fillRect/>
          </a:stretch>
        </p:blipFill>
        <p:spPr>
          <a:xfrm>
            <a:off x="6400800" y="1371600"/>
            <a:ext cx="5029200" cy="2806995"/>
          </a:xfrm>
          <a:prstGeom prst="rect">
            <a:avLst/>
          </a:prstGeom>
        </p:spPr>
      </p:pic>
      <p:sp>
        <p:nvSpPr>
          <p:cNvPr id="17" name="Rounded Rectangle 16"/>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Modern Architectural Spectrum: </a:t>
            </a:r>
            <a:r>
              <a:rPr sz="1000" b="0">
                <a:solidFill>
                  <a:srgbClr val="FFFFFF"/>
                </a:solidFill>
                <a:latin typeface="Segoe UI"/>
              </a:rPr>
              <a:t>Multicore puts multiple cores on one chip; Clustered systems network independent computers together.</a:t>
            </a:r>
          </a:p>
        </p:txBody>
      </p:sp>
    </p:spTree>
  </p:cSld>
  <p:clrMapOvr>
    <a:masterClrMapping/>
  </p:clrMapOvr>
  <p:transition spd="med" advClick="1">
    <p:morph option="byObject"/>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ACT III: MULTIPROCESSING</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LOCHAN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14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OS Challenges in Multiprocessing</a:t>
            </a:r>
          </a:p>
          <a:p>
            <a:pPr>
              <a:spcBef>
                <a:spcPts val="200"/>
              </a:spcBef>
              <a:defRPr sz="1150">
                <a:solidFill>
                  <a:srgbClr val="A0AFC8"/>
                </a:solidFill>
                <a:latin typeface="Segoe UI"/>
              </a:defRPr>
            </a:pPr>
            <a:r>
              <a:t>Critical Complexities in Coordinating Concurrent Hardware Execution</a:t>
            </a:r>
          </a:p>
        </p:txBody>
      </p:sp>
      <p:sp>
        <p:nvSpPr>
          <p:cNvPr id="6" name="Rounded Rectangle 5"/>
          <p:cNvSpPr/>
          <p:nvPr/>
        </p:nvSpPr>
        <p:spPr>
          <a:xfrm>
            <a:off x="731520" y="1645920"/>
            <a:ext cx="521208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0644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16459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1. CPU Scheduling</a:t>
            </a:r>
          </a:p>
        </p:txBody>
      </p:sp>
      <p:sp>
        <p:nvSpPr>
          <p:cNvPr id="10" name="TextBox 9"/>
          <p:cNvSpPr txBox="1"/>
          <p:nvPr/>
        </p:nvSpPr>
        <p:spPr>
          <a:xfrm>
            <a:off x="960120" y="2103120"/>
            <a:ext cx="4754880" cy="1280160"/>
          </a:xfrm>
          <a:prstGeom prst="rect">
            <a:avLst/>
          </a:prstGeom>
          <a:noFill/>
        </p:spPr>
        <p:txBody>
          <a:bodyPr wrap="square">
            <a:spAutoFit/>
          </a:bodyPr>
          <a:lstStyle/>
          <a:p>
            <a:pPr>
              <a:defRPr sz="1050">
                <a:solidFill>
                  <a:srgbClr val="A0AFC8"/>
                </a:solidFill>
                <a:latin typeface="Segoe UI"/>
              </a:defRPr>
            </a:pPr>
            <a:r>
              <a:t>Deciding which core runs which process to maximize throughput, minimize latency, and maintain processor cache affinity.</a:t>
            </a:r>
          </a:p>
        </p:txBody>
      </p:sp>
      <p:sp>
        <p:nvSpPr>
          <p:cNvPr id="11" name="Rounded Rectangle 10"/>
          <p:cNvSpPr/>
          <p:nvPr/>
        </p:nvSpPr>
        <p:spPr>
          <a:xfrm>
            <a:off x="6217920" y="1645920"/>
            <a:ext cx="521208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92840" y="17190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783080"/>
            <a:ext cx="36576" cy="16459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783080"/>
            <a:ext cx="4754880" cy="365760"/>
          </a:xfrm>
          <a:prstGeom prst="rect">
            <a:avLst/>
          </a:prstGeom>
          <a:noFill/>
        </p:spPr>
        <p:txBody>
          <a:bodyPr wrap="square" lIns="0" tIns="0" rIns="0" bIns="0">
            <a:spAutoFit/>
          </a:bodyPr>
          <a:lstStyle/>
          <a:p>
            <a:pPr>
              <a:defRPr sz="1300" b="1">
                <a:solidFill>
                  <a:srgbClr val="FFFFFF"/>
                </a:solidFill>
                <a:latin typeface="Segoe UI"/>
              </a:defRPr>
            </a:pPr>
            <a:r>
              <a:t>2. Cache Coherence</a:t>
            </a:r>
          </a:p>
        </p:txBody>
      </p:sp>
      <p:sp>
        <p:nvSpPr>
          <p:cNvPr id="15" name="TextBox 14"/>
          <p:cNvSpPr txBox="1"/>
          <p:nvPr/>
        </p:nvSpPr>
        <p:spPr>
          <a:xfrm>
            <a:off x="6446520" y="2103120"/>
            <a:ext cx="4754880" cy="1280160"/>
          </a:xfrm>
          <a:prstGeom prst="rect">
            <a:avLst/>
          </a:prstGeom>
          <a:noFill/>
        </p:spPr>
        <p:txBody>
          <a:bodyPr wrap="square">
            <a:spAutoFit/>
          </a:bodyPr>
          <a:lstStyle/>
          <a:p>
            <a:pPr>
              <a:defRPr sz="1050">
                <a:solidFill>
                  <a:srgbClr val="A0AFC8"/>
                </a:solidFill>
                <a:latin typeface="Segoe UI"/>
              </a:defRPr>
            </a:pPr>
            <a:r>
              <a:t>Ensuring that when one CPU modifies data in its private cache, all other cores with copies of that memory address are kept updated.</a:t>
            </a:r>
          </a:p>
        </p:txBody>
      </p:sp>
      <p:sp>
        <p:nvSpPr>
          <p:cNvPr id="16" name="Rounded Rectangle 15"/>
          <p:cNvSpPr/>
          <p:nvPr/>
        </p:nvSpPr>
        <p:spPr>
          <a:xfrm>
            <a:off x="731520" y="3703320"/>
            <a:ext cx="521208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06440" y="37764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840480"/>
            <a:ext cx="36576" cy="16459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40480"/>
            <a:ext cx="4754880" cy="365760"/>
          </a:xfrm>
          <a:prstGeom prst="rect">
            <a:avLst/>
          </a:prstGeom>
          <a:noFill/>
        </p:spPr>
        <p:txBody>
          <a:bodyPr wrap="square" lIns="0" tIns="0" rIns="0" bIns="0">
            <a:spAutoFit/>
          </a:bodyPr>
          <a:lstStyle/>
          <a:p>
            <a:pPr>
              <a:defRPr sz="1300" b="1">
                <a:solidFill>
                  <a:srgbClr val="FFFFFF"/>
                </a:solidFill>
                <a:latin typeface="Segoe UI"/>
              </a:defRPr>
            </a:pPr>
            <a:r>
              <a:t>3. Load Balancing</a:t>
            </a:r>
          </a:p>
        </p:txBody>
      </p:sp>
      <p:sp>
        <p:nvSpPr>
          <p:cNvPr id="20" name="TextBox 19"/>
          <p:cNvSpPr txBox="1"/>
          <p:nvPr/>
        </p:nvSpPr>
        <p:spPr>
          <a:xfrm>
            <a:off x="960120" y="4160520"/>
            <a:ext cx="4754880" cy="1280160"/>
          </a:xfrm>
          <a:prstGeom prst="rect">
            <a:avLst/>
          </a:prstGeom>
          <a:noFill/>
        </p:spPr>
        <p:txBody>
          <a:bodyPr wrap="square">
            <a:spAutoFit/>
          </a:bodyPr>
          <a:lstStyle/>
          <a:p>
            <a:pPr>
              <a:defRPr sz="1050">
                <a:solidFill>
                  <a:srgbClr val="A0AFC8"/>
                </a:solidFill>
                <a:latin typeface="Segoe UI"/>
              </a:defRPr>
            </a:pPr>
            <a:r>
              <a:t>Ensuring no single CPU sits idle while another is overwhelmed by evenly distributing ready threads across all cores.</a:t>
            </a:r>
          </a:p>
        </p:txBody>
      </p:sp>
      <p:sp>
        <p:nvSpPr>
          <p:cNvPr id="21" name="Rounded Rectangle 20"/>
          <p:cNvSpPr/>
          <p:nvPr/>
        </p:nvSpPr>
        <p:spPr>
          <a:xfrm>
            <a:off x="6217920" y="3703320"/>
            <a:ext cx="521208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292840" y="3776472"/>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840480"/>
            <a:ext cx="36576" cy="16459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840480"/>
            <a:ext cx="4754880" cy="365760"/>
          </a:xfrm>
          <a:prstGeom prst="rect">
            <a:avLst/>
          </a:prstGeom>
          <a:noFill/>
        </p:spPr>
        <p:txBody>
          <a:bodyPr wrap="square" lIns="0" tIns="0" rIns="0" bIns="0">
            <a:spAutoFit/>
          </a:bodyPr>
          <a:lstStyle/>
          <a:p>
            <a:pPr>
              <a:defRPr sz="1300" b="1">
                <a:solidFill>
                  <a:srgbClr val="FFFFFF"/>
                </a:solidFill>
                <a:latin typeface="Segoe UI"/>
              </a:defRPr>
            </a:pPr>
            <a:r>
              <a:t>4. Synchronization</a:t>
            </a:r>
          </a:p>
        </p:txBody>
      </p:sp>
      <p:sp>
        <p:nvSpPr>
          <p:cNvPr id="25" name="TextBox 24"/>
          <p:cNvSpPr txBox="1"/>
          <p:nvPr/>
        </p:nvSpPr>
        <p:spPr>
          <a:xfrm>
            <a:off x="6446520" y="4160520"/>
            <a:ext cx="4754880" cy="1280160"/>
          </a:xfrm>
          <a:prstGeom prst="rect">
            <a:avLst/>
          </a:prstGeom>
          <a:noFill/>
        </p:spPr>
        <p:txBody>
          <a:bodyPr wrap="square">
            <a:spAutoFit/>
          </a:bodyPr>
          <a:lstStyle/>
          <a:p>
            <a:pPr>
              <a:defRPr sz="1050">
                <a:solidFill>
                  <a:srgbClr val="A0AFC8"/>
                </a:solidFill>
                <a:latin typeface="Segoe UI"/>
              </a:defRPr>
            </a:pPr>
            <a:r>
              <a:t>Using mutexes, spinlocks, and semaphores to protect shared kernel data structures and prevent race conditions.</a:t>
            </a:r>
          </a:p>
        </p:txBody>
      </p:sp>
      <p:sp>
        <p:nvSpPr>
          <p:cNvPr id="26" name="Rounded Rectangle 25"/>
          <p:cNvSpPr/>
          <p:nvPr/>
        </p:nvSpPr>
        <p:spPr>
          <a:xfrm>
            <a:off x="731520" y="5989320"/>
            <a:ext cx="10728655" cy="50292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00" b="1">
                <a:solidFill>
                  <a:srgbClr val="38BDF8"/>
                </a:solidFill>
                <a:latin typeface="Segoe UI"/>
              </a:defRPr>
            </a:pPr>
            <a:r>
              <a:t>Operating System Burden: </a:t>
            </a:r>
            <a:r>
              <a:rPr sz="1000" b="0">
                <a:solidFill>
                  <a:srgbClr val="FFFFFF"/>
                </a:solidFill>
                <a:latin typeface="Segoe UI"/>
              </a:rPr>
              <a:t>The OS must handle complex challenges like CPU scheduling, cache coherence, and load balancing.</a:t>
            </a:r>
          </a:p>
        </p:txBody>
      </p:sp>
    </p:spTree>
  </p:cSld>
  <p:clrMapOvr>
    <a:masterClrMapping/>
  </p:clrMapOvr>
  <p:transition spd="med" advClick="1">
    <p:morph option="byObject"/>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41C"/>
        </a:solidFill>
        <a:effectLst/>
      </p:bgPr>
    </p:bg>
    <p:spTree>
      <p:nvGrpSpPr>
        <p:cNvPr id="1" name=""/>
        <p:cNvGrpSpPr/>
        <p:nvPr/>
      </p:nvGrpSpPr>
      <p:grpSpPr/>
      <p:sp>
        <p:nvSpPr>
          <p:cNvPr id="2" name="Rounded Rectangle 1"/>
          <p:cNvSpPr/>
          <p:nvPr/>
        </p:nvSpPr>
        <p:spPr>
          <a:xfrm>
            <a:off x="731520" y="365760"/>
            <a:ext cx="20116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38BDF8"/>
                </a:solidFill>
                <a:latin typeface="Segoe UI"/>
              </a:defRPr>
            </a:pPr>
            <a:r>
              <a:t>SYNTHESIS &amp; CONCLUSION</a:t>
            </a:r>
          </a:p>
        </p:txBody>
      </p:sp>
      <p:sp>
        <p:nvSpPr>
          <p:cNvPr id="3" name="Rounded Rectangle 2"/>
          <p:cNvSpPr/>
          <p:nvPr/>
        </p:nvSpPr>
        <p:spPr>
          <a:xfrm>
            <a:off x="2834640" y="365760"/>
            <a:ext cx="29260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818CF8"/>
                </a:solidFill>
                <a:latin typeface="Segoe UI"/>
              </a:defRPr>
            </a:pPr>
            <a:r>
              <a:t>PRESENTER: V. RAM CHARAN · VEDHANTH · LOCHAN</a:t>
            </a:r>
          </a:p>
        </p:txBody>
      </p:sp>
      <p:sp>
        <p:nvSpPr>
          <p:cNvPr id="4" name="Rounded Rectangle 3"/>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15 / 15</a:t>
            </a:r>
          </a:p>
        </p:txBody>
      </p:sp>
      <p:sp>
        <p:nvSpPr>
          <p:cNvPr id="5" name="TextBox 4"/>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Complete Architecture &amp; Key Takeaways</a:t>
            </a:r>
          </a:p>
          <a:p>
            <a:pPr>
              <a:spcBef>
                <a:spcPts val="200"/>
              </a:spcBef>
              <a:defRPr sz="1150">
                <a:solidFill>
                  <a:srgbClr val="A0AFC8"/>
                </a:solidFill>
                <a:latin typeface="Segoe UI"/>
              </a:defRPr>
            </a:pPr>
            <a:r>
              <a:t>Hardware Foundations, Storage Hierarchies &amp; Modern Multiprocessing</a:t>
            </a:r>
          </a:p>
        </p:txBody>
      </p:sp>
      <p:sp>
        <p:nvSpPr>
          <p:cNvPr id="6" name="Rounded Rectangle 5"/>
          <p:cNvSpPr/>
          <p:nvPr/>
        </p:nvSpPr>
        <p:spPr>
          <a:xfrm>
            <a:off x="731520" y="1645920"/>
            <a:ext cx="2514600" cy="26060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0" y="17190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83080"/>
            <a:ext cx="36576" cy="2331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2057400" cy="365760"/>
          </a:xfrm>
          <a:prstGeom prst="rect">
            <a:avLst/>
          </a:prstGeom>
          <a:noFill/>
        </p:spPr>
        <p:txBody>
          <a:bodyPr wrap="square" lIns="0" tIns="0" rIns="0" bIns="0">
            <a:spAutoFit/>
          </a:bodyPr>
          <a:lstStyle/>
          <a:p>
            <a:pPr>
              <a:defRPr sz="1300" b="1">
                <a:solidFill>
                  <a:srgbClr val="FFFFFF"/>
                </a:solidFill>
                <a:latin typeface="Segoe UI"/>
              </a:defRPr>
            </a:pPr>
            <a:r>
              <a:t>1. Hardware Foundations</a:t>
            </a:r>
          </a:p>
        </p:txBody>
      </p:sp>
      <p:sp>
        <p:nvSpPr>
          <p:cNvPr id="10" name="TextBox 9"/>
          <p:cNvSpPr txBox="1"/>
          <p:nvPr/>
        </p:nvSpPr>
        <p:spPr>
          <a:xfrm>
            <a:off x="914400" y="2194560"/>
            <a:ext cx="2148840" cy="1920240"/>
          </a:xfrm>
          <a:prstGeom prst="rect">
            <a:avLst/>
          </a:prstGeom>
          <a:noFill/>
        </p:spPr>
        <p:txBody>
          <a:bodyPr wrap="square">
            <a:spAutoFit/>
          </a:bodyPr>
          <a:lstStyle/>
          <a:p>
            <a:pPr>
              <a:defRPr sz="1000">
                <a:solidFill>
                  <a:srgbClr val="A0AFC8"/>
                </a:solidFill>
                <a:latin typeface="Segoe UI"/>
              </a:defRPr>
            </a:pPr>
            <a:r>
              <a:t>CPU, RAM, and I/O linked via Address, Data, and Control buses with Interrupts and DMA for efficient operation.</a:t>
            </a:r>
          </a:p>
        </p:txBody>
      </p:sp>
      <p:sp>
        <p:nvSpPr>
          <p:cNvPr id="11" name="Rounded Rectangle 10"/>
          <p:cNvSpPr/>
          <p:nvPr/>
        </p:nvSpPr>
        <p:spPr>
          <a:xfrm>
            <a:off x="3474720" y="1645920"/>
            <a:ext cx="2514600" cy="26060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52159" y="17190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1783080"/>
            <a:ext cx="36576" cy="23317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1783080"/>
            <a:ext cx="2057400" cy="365760"/>
          </a:xfrm>
          <a:prstGeom prst="rect">
            <a:avLst/>
          </a:prstGeom>
          <a:noFill/>
        </p:spPr>
        <p:txBody>
          <a:bodyPr wrap="square" lIns="0" tIns="0" rIns="0" bIns="0">
            <a:spAutoFit/>
          </a:bodyPr>
          <a:lstStyle/>
          <a:p>
            <a:pPr>
              <a:defRPr sz="1300" b="1">
                <a:solidFill>
                  <a:srgbClr val="FFFFFF"/>
                </a:solidFill>
                <a:latin typeface="Segoe UI"/>
              </a:defRPr>
            </a:pPr>
            <a:r>
              <a:t>2. Storage Hierarchy</a:t>
            </a:r>
          </a:p>
        </p:txBody>
      </p:sp>
      <p:sp>
        <p:nvSpPr>
          <p:cNvPr id="15" name="TextBox 14"/>
          <p:cNvSpPr txBox="1"/>
          <p:nvPr/>
        </p:nvSpPr>
        <p:spPr>
          <a:xfrm>
            <a:off x="3657600" y="2194560"/>
            <a:ext cx="2148840" cy="1920240"/>
          </a:xfrm>
          <a:prstGeom prst="rect">
            <a:avLst/>
          </a:prstGeom>
          <a:noFill/>
        </p:spPr>
        <p:txBody>
          <a:bodyPr wrap="square">
            <a:spAutoFit/>
          </a:bodyPr>
          <a:lstStyle/>
          <a:p>
            <a:pPr>
              <a:defRPr sz="1000">
                <a:solidFill>
                  <a:srgbClr val="A0AFC8"/>
                </a:solidFill>
                <a:latin typeface="Segoe UI"/>
              </a:defRPr>
            </a:pPr>
            <a:r>
              <a:t>Balancing speed and capacity from fast volatile Registers/Cache/RAM down to non-volatile SSDs and hard disks.</a:t>
            </a:r>
          </a:p>
        </p:txBody>
      </p:sp>
      <p:sp>
        <p:nvSpPr>
          <p:cNvPr id="16" name="Rounded Rectangle 15"/>
          <p:cNvSpPr/>
          <p:nvPr/>
        </p:nvSpPr>
        <p:spPr>
          <a:xfrm>
            <a:off x="6217920" y="1645920"/>
            <a:ext cx="2514600" cy="26060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0" y="17190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783080"/>
            <a:ext cx="36576" cy="23317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783080"/>
            <a:ext cx="2057400" cy="365760"/>
          </a:xfrm>
          <a:prstGeom prst="rect">
            <a:avLst/>
          </a:prstGeom>
          <a:noFill/>
        </p:spPr>
        <p:txBody>
          <a:bodyPr wrap="square" lIns="0" tIns="0" rIns="0" bIns="0">
            <a:spAutoFit/>
          </a:bodyPr>
          <a:lstStyle/>
          <a:p>
            <a:pPr>
              <a:defRPr sz="1300" b="1">
                <a:solidFill>
                  <a:srgbClr val="FFFFFF"/>
                </a:solidFill>
                <a:latin typeface="Segoe UI"/>
              </a:defRPr>
            </a:pPr>
            <a:r>
              <a:t>3. Locality &amp; Memory</a:t>
            </a:r>
          </a:p>
        </p:txBody>
      </p:sp>
      <p:sp>
        <p:nvSpPr>
          <p:cNvPr id="20" name="TextBox 19"/>
          <p:cNvSpPr txBox="1"/>
          <p:nvPr/>
        </p:nvSpPr>
        <p:spPr>
          <a:xfrm>
            <a:off x="6400800" y="2194560"/>
            <a:ext cx="2148840" cy="1920240"/>
          </a:xfrm>
          <a:prstGeom prst="rect">
            <a:avLst/>
          </a:prstGeom>
          <a:noFill/>
        </p:spPr>
        <p:txBody>
          <a:bodyPr wrap="square">
            <a:spAutoFit/>
          </a:bodyPr>
          <a:lstStyle/>
          <a:p>
            <a:pPr>
              <a:defRPr sz="1000">
                <a:solidFill>
                  <a:srgbClr val="A0AFC8"/>
                </a:solidFill>
                <a:latin typeface="Segoe UI"/>
              </a:defRPr>
            </a:pPr>
            <a:r>
              <a:t>Leveraging Temporal and Spatial locality through OS paging, buffering, disk caching, and prefetching.</a:t>
            </a:r>
          </a:p>
        </p:txBody>
      </p:sp>
      <p:sp>
        <p:nvSpPr>
          <p:cNvPr id="21" name="Rounded Rectangle 20"/>
          <p:cNvSpPr/>
          <p:nvPr/>
        </p:nvSpPr>
        <p:spPr>
          <a:xfrm>
            <a:off x="8961120" y="1645920"/>
            <a:ext cx="2514600" cy="26060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338560" y="1719072"/>
            <a:ext cx="731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61120" y="1783080"/>
            <a:ext cx="36576" cy="2331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9720" y="1783080"/>
            <a:ext cx="2057400" cy="365760"/>
          </a:xfrm>
          <a:prstGeom prst="rect">
            <a:avLst/>
          </a:prstGeom>
          <a:noFill/>
        </p:spPr>
        <p:txBody>
          <a:bodyPr wrap="square" lIns="0" tIns="0" rIns="0" bIns="0">
            <a:spAutoFit/>
          </a:bodyPr>
          <a:lstStyle/>
          <a:p>
            <a:pPr>
              <a:defRPr sz="1300" b="1">
                <a:solidFill>
                  <a:srgbClr val="FFFFFF"/>
                </a:solidFill>
                <a:latin typeface="Segoe UI"/>
              </a:defRPr>
            </a:pPr>
            <a:r>
              <a:t>4. Multiprocessing</a:t>
            </a:r>
          </a:p>
        </p:txBody>
      </p:sp>
      <p:sp>
        <p:nvSpPr>
          <p:cNvPr id="25" name="TextBox 24"/>
          <p:cNvSpPr txBox="1"/>
          <p:nvPr/>
        </p:nvSpPr>
        <p:spPr>
          <a:xfrm>
            <a:off x="9144000" y="2194560"/>
            <a:ext cx="2148840" cy="1920240"/>
          </a:xfrm>
          <a:prstGeom prst="rect">
            <a:avLst/>
          </a:prstGeom>
          <a:noFill/>
        </p:spPr>
        <p:txBody>
          <a:bodyPr wrap="square">
            <a:spAutoFit/>
          </a:bodyPr>
          <a:lstStyle/>
          <a:p>
            <a:pPr>
              <a:defRPr sz="1000">
                <a:solidFill>
                  <a:srgbClr val="A0AFC8"/>
                </a:solidFill>
                <a:latin typeface="Segoe UI"/>
              </a:defRPr>
            </a:pPr>
            <a:r>
              <a:t>Scaling computation through SMP, AMP, Multicore on-chip processors, and Clustered networked systems.</a:t>
            </a:r>
          </a:p>
        </p:txBody>
      </p:sp>
      <p:sp>
        <p:nvSpPr>
          <p:cNvPr id="26" name="Rounded Rectangle 25"/>
          <p:cNvSpPr/>
          <p:nvPr/>
        </p:nvSpPr>
        <p:spPr>
          <a:xfrm>
            <a:off x="731520" y="4389120"/>
            <a:ext cx="10728655" cy="777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23015" y="4462272"/>
            <a:ext cx="73152" cy="7315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4526280"/>
            <a:ext cx="36576" cy="50292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4526280"/>
            <a:ext cx="502920" cy="502920"/>
          </a:xfrm>
          <a:prstGeom prst="ellipse">
            <a:avLst/>
          </a:prstGeom>
          <a:solidFill>
            <a:srgbClr val="F43F5E"/>
          </a:solidFill>
          <a:ln w="1905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a:t>
            </a:r>
          </a:p>
        </p:txBody>
      </p:sp>
      <p:sp>
        <p:nvSpPr>
          <p:cNvPr id="30" name="TextBox 29"/>
          <p:cNvSpPr txBox="1"/>
          <p:nvPr/>
        </p:nvSpPr>
        <p:spPr>
          <a:xfrm>
            <a:off x="1600200" y="4526280"/>
            <a:ext cx="9601200" cy="548640"/>
          </a:xfrm>
          <a:prstGeom prst="rect">
            <a:avLst/>
          </a:prstGeom>
          <a:noFill/>
        </p:spPr>
        <p:txBody>
          <a:bodyPr wrap="square">
            <a:spAutoFit/>
          </a:bodyPr>
          <a:lstStyle/>
          <a:p>
            <a:pPr>
              <a:defRPr sz="1050" b="1">
                <a:solidFill>
                  <a:srgbClr val="FFFFFF"/>
                </a:solidFill>
                <a:latin typeface="Segoe UI"/>
              </a:defRPr>
            </a:pPr>
            <a:r>
              <a:t>OS Coordination: The critical software that manages all this complex hardware—coordinating scheduling, cache coherence, load balancing, and synchronization.</a:t>
            </a:r>
          </a:p>
        </p:txBody>
      </p:sp>
      <p:sp>
        <p:nvSpPr>
          <p:cNvPr id="31" name="Rounded Rectangle 30"/>
          <p:cNvSpPr/>
          <p:nvPr/>
        </p:nvSpPr>
        <p:spPr>
          <a:xfrm>
            <a:off x="7315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77639" y="5376672"/>
            <a:ext cx="73152"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 y="5440680"/>
            <a:ext cx="36576" cy="822959"/>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5440680"/>
            <a:ext cx="2926080" cy="365760"/>
          </a:xfrm>
          <a:prstGeom prst="rect">
            <a:avLst/>
          </a:prstGeom>
          <a:noFill/>
        </p:spPr>
        <p:txBody>
          <a:bodyPr wrap="square" lIns="0" tIns="0" rIns="0" bIns="0">
            <a:spAutoFit/>
          </a:bodyPr>
          <a:lstStyle/>
          <a:p>
            <a:pPr>
              <a:defRPr sz="1300" b="1">
                <a:solidFill>
                  <a:srgbClr val="FFFFFF"/>
                </a:solidFill>
                <a:latin typeface="Segoe UI"/>
              </a:defRPr>
            </a:pPr>
            <a:r>
              <a:t>V. Ram Charan</a:t>
            </a:r>
          </a:p>
        </p:txBody>
      </p:sp>
      <p:sp>
        <p:nvSpPr>
          <p:cNvPr id="35" name="TextBox 34"/>
          <p:cNvSpPr txBox="1"/>
          <p:nvPr/>
        </p:nvSpPr>
        <p:spPr>
          <a:xfrm>
            <a:off x="914400" y="5715000"/>
            <a:ext cx="3017520" cy="548640"/>
          </a:xfrm>
          <a:prstGeom prst="rect">
            <a:avLst/>
          </a:prstGeom>
          <a:noFill/>
        </p:spPr>
        <p:txBody>
          <a:bodyPr wrap="none">
            <a:spAutoFit/>
          </a:bodyPr>
          <a:lstStyle/>
          <a:p>
            <a:pPr>
              <a:defRPr sz="1000">
                <a:solidFill>
                  <a:srgbClr val="38BDF8"/>
                </a:solidFill>
                <a:latin typeface="Segoe UI"/>
              </a:defRPr>
            </a:pPr>
            <a:r>
              <a:t>Act I: Core Hardware (Slides 1–5)</a:t>
            </a:r>
          </a:p>
        </p:txBody>
      </p:sp>
      <p:sp>
        <p:nvSpPr>
          <p:cNvPr id="36" name="Rounded Rectangle 35"/>
          <p:cNvSpPr/>
          <p:nvPr/>
        </p:nvSpPr>
        <p:spPr>
          <a:xfrm>
            <a:off x="43891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35240" y="5376672"/>
            <a:ext cx="73152"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89120" y="5440680"/>
            <a:ext cx="36576" cy="822959"/>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17720" y="5440680"/>
            <a:ext cx="2926080" cy="365760"/>
          </a:xfrm>
          <a:prstGeom prst="rect">
            <a:avLst/>
          </a:prstGeom>
          <a:noFill/>
        </p:spPr>
        <p:txBody>
          <a:bodyPr wrap="square" lIns="0" tIns="0" rIns="0" bIns="0">
            <a:spAutoFit/>
          </a:bodyPr>
          <a:lstStyle/>
          <a:p>
            <a:pPr>
              <a:defRPr sz="1300" b="1">
                <a:solidFill>
                  <a:srgbClr val="FFFFFF"/>
                </a:solidFill>
                <a:latin typeface="Segoe UI"/>
              </a:defRPr>
            </a:pPr>
            <a:r>
              <a:t>Vedhanth</a:t>
            </a:r>
          </a:p>
        </p:txBody>
      </p:sp>
      <p:sp>
        <p:nvSpPr>
          <p:cNvPr id="40" name="TextBox 39"/>
          <p:cNvSpPr txBox="1"/>
          <p:nvPr/>
        </p:nvSpPr>
        <p:spPr>
          <a:xfrm>
            <a:off x="4572000" y="5715000"/>
            <a:ext cx="3017520" cy="548640"/>
          </a:xfrm>
          <a:prstGeom prst="rect">
            <a:avLst/>
          </a:prstGeom>
          <a:noFill/>
        </p:spPr>
        <p:txBody>
          <a:bodyPr wrap="none">
            <a:spAutoFit/>
          </a:bodyPr>
          <a:lstStyle/>
          <a:p>
            <a:pPr>
              <a:defRPr sz="1000">
                <a:solidFill>
                  <a:srgbClr val="818CF8"/>
                </a:solidFill>
                <a:latin typeface="Segoe UI"/>
              </a:defRPr>
            </a:pPr>
            <a:r>
              <a:t>Act II: Memory &amp; Storage Hierarchy (Slides 6–10)</a:t>
            </a:r>
          </a:p>
        </p:txBody>
      </p:sp>
      <p:sp>
        <p:nvSpPr>
          <p:cNvPr id="41" name="Rounded Rectangle 40"/>
          <p:cNvSpPr/>
          <p:nvPr/>
        </p:nvSpPr>
        <p:spPr>
          <a:xfrm>
            <a:off x="80467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1292840" y="5376672"/>
            <a:ext cx="73152"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46720" y="5440680"/>
            <a:ext cx="36576" cy="822959"/>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75320" y="5440680"/>
            <a:ext cx="2926080" cy="365760"/>
          </a:xfrm>
          <a:prstGeom prst="rect">
            <a:avLst/>
          </a:prstGeom>
          <a:noFill/>
        </p:spPr>
        <p:txBody>
          <a:bodyPr wrap="square" lIns="0" tIns="0" rIns="0" bIns="0">
            <a:spAutoFit/>
          </a:bodyPr>
          <a:lstStyle/>
          <a:p>
            <a:pPr>
              <a:defRPr sz="1300" b="1">
                <a:solidFill>
                  <a:srgbClr val="FFFFFF"/>
                </a:solidFill>
                <a:latin typeface="Segoe UI"/>
              </a:defRPr>
            </a:pPr>
            <a:r>
              <a:t>Lochan</a:t>
            </a:r>
          </a:p>
        </p:txBody>
      </p:sp>
      <p:sp>
        <p:nvSpPr>
          <p:cNvPr id="45" name="TextBox 44"/>
          <p:cNvSpPr txBox="1"/>
          <p:nvPr/>
        </p:nvSpPr>
        <p:spPr>
          <a:xfrm>
            <a:off x="8229600" y="5715000"/>
            <a:ext cx="3017520" cy="548640"/>
          </a:xfrm>
          <a:prstGeom prst="rect">
            <a:avLst/>
          </a:prstGeom>
          <a:noFill/>
        </p:spPr>
        <p:txBody>
          <a:bodyPr wrap="none">
            <a:spAutoFit/>
          </a:bodyPr>
          <a:lstStyle/>
          <a:p>
            <a:pPr>
              <a:defRPr sz="1000">
                <a:solidFill>
                  <a:srgbClr val="34D399"/>
                </a:solidFill>
                <a:latin typeface="Segoe UI"/>
              </a:defRPr>
            </a:pPr>
            <a:r>
              <a:t>Act III: Multiprocessing &amp; Modern Systems (Slides 11–15)</a:t>
            </a:r>
          </a:p>
        </p:txBody>
      </p:sp>
    </p:spTree>
  </p:cSld>
  <p:clrMapOvr>
    <a:masterClrMapping/>
  </p:clrMapOvr>
  <p:transition spd="med" advClick="1">
    <p:morph option="byObjec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