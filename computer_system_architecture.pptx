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Good morning everyone. Welcome to our presentation on Computer System Architecture. I am Ram Charan, and along with my co-presenters Vedhanth and Lochan, we will walk you through how computer hardware and the operating system interact, based on Chapter 1 of Silberschatz's Operating System Concepts 10th Edition. The OS is the critical layer that transforms raw silicon, memory, and devices into a cohesive, secure platform.</a:t>
            </a:r>
          </a:p>
          <a:p/>
          <a:p>
            <a:r>
              <a:t>2. KEY TEXTBOOK CONCEPT:</a:t>
            </a:r>
          </a:p>
          <a:p>
            <a:r>
              <a:t>The Operating System is the software most intimately involved with computer hardware, balancing resource allocation and control.</a:t>
            </a:r>
          </a:p>
          <a:p/>
          <a:p>
            <a:r>
              <a:t>3. TRANSITION TO NEXT SLIDE:</a:t>
            </a:r>
          </a:p>
          <a:p>
            <a:r>
              <a:t>Let us begin with Slide 2 by looking at the four fundamental components that make up any computer system.</a:t>
            </a:r>
          </a:p>
          <a:p/>
          <a:p>
            <a:r>
              <a:t>4. PRESENTATION CUE:</a:t>
            </a:r>
          </a:p>
          <a:p>
            <a:r>
              <a:t>Stand center, acknowledge professors and classmates, gesture to team member names.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Silberschatz breaks a computer system into four components: Users, Application Programs, the Operating System, and Computer Hardware. Hardware supplies raw computational power—the CPU, main memory, and I/O devices. Applications want to use those resources. Sitting right between them is the Operating System. The textbook emphasizes that the OS acts as both a Resource Allocator—deciding how CPU time and memory are shared among competing requests—and as a Control Program—preventing bugs and illegal operations from crashing the machine.</a:t>
            </a:r>
          </a:p>
          <a:p/>
          <a:p>
            <a:r>
              <a:t>2. KEY TEXTBOOK CONCEPT:</a:t>
            </a:r>
          </a:p>
          <a:p>
            <a:r>
              <a:t>Four-component architecture (Users, Apps, OS, Hardware) and the OS's dual identity as Resource Allocator and Control Program.</a:t>
            </a:r>
          </a:p>
          <a:p/>
          <a:p>
            <a:r>
              <a:t>3. TRANSITION TO NEXT SLIDE:</a:t>
            </a:r>
          </a:p>
          <a:p>
            <a:r>
              <a:t>Now let's examine how computer system architectures have evolved from simple single-processor systems to modern multi-core chips.</a:t>
            </a:r>
          </a:p>
          <a:p/>
          <a:p>
            <a:r>
              <a:t>4. PRESENTATION CUE:</a:t>
            </a:r>
          </a:p>
          <a:p>
            <a:r>
              <a:t>Point to the vertical diagram showing the OS buffering applications from raw hardware.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The textbook traces the progression of computer architecture from Single-Processor systems to Multiprocessor and Multicore designs. Single-processor systems have one main general-purpose CPU. Multiprocessor systems add multiple processors sharing buses and memory, providing three major advantages: increased throughput, economy of scale, and graceful degradation—which means if one processor fails, the system continues running. Finally, multicore technology puts multiple computing cores on a single physical chip.</a:t>
            </a:r>
          </a:p>
          <a:p/>
          <a:p>
            <a:r>
              <a:t>2. KEY TEXTBOOK CONCEPT:</a:t>
            </a:r>
          </a:p>
          <a:p>
            <a:r>
              <a:t>Definitions of CPU, Processor, Core, Multicore, Multiprocessor, and the 3 advantages of multiprocessor systems.</a:t>
            </a:r>
          </a:p>
          <a:p/>
          <a:p>
            <a:r>
              <a:t>3. TRANSITION TO NEXT SLIDE:</a:t>
            </a:r>
          </a:p>
          <a:p>
            <a:r>
              <a:t>Let's look more closely at multicore chips and how Symmetric Multiprocessing operates.</a:t>
            </a:r>
          </a:p>
          <a:p/>
          <a:p>
            <a:r>
              <a:t>4. PRESENTATION CUE:</a:t>
            </a:r>
          </a:p>
          <a:p>
            <a:r>
              <a:t>Emphasize the precise textbook definitions in the bottom callout bar.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Why has the computing industry transitioned entirely to multicore? As Silberschatz points out, on-chip communication between cores on the same silicon die is vastly faster and consumes far less power than broadcasting signals across motherboard buses. In a multicore SMP system, each core has its own private registers and L1 cache, while sharing lower-level caches and main memory. The operating system views each core as an independent logical CPU, scheduling threads across all cores simultaneously.</a:t>
            </a:r>
          </a:p>
          <a:p/>
          <a:p>
            <a:r>
              <a:t>2. KEY TEXTBOOK CONCEPT:</a:t>
            </a:r>
          </a:p>
          <a:p>
            <a:r>
              <a:t>Multicore chip organization, private L1 vs shared cache, and Symmetric Multiprocessing (SMP) peer scheduling.</a:t>
            </a:r>
          </a:p>
          <a:p/>
          <a:p>
            <a:r>
              <a:t>3. TRANSITION TO NEXT SLIDE:</a:t>
            </a:r>
          </a:p>
          <a:p>
            <a:r>
              <a:t>However, as we keep adding more processors to a single shared bus, we hit a major bottleneck. Let's see how NUMA architecture solves this.</a:t>
            </a:r>
          </a:p>
          <a:p/>
          <a:p>
            <a:r>
              <a:t>4. PRESENTATION CUE:</a:t>
            </a:r>
          </a:p>
          <a:p>
            <a:r>
              <a:t>Point to the private core caches versus the shared interconnect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When we scale to dozens of processors, connecting them all to a single shared bus causes severe contention. Silberschatz explains that NUMA—Non-Uniform Memory Access—overcomes this by giving each CPU its own local memory bank while still presenting a single unified address space. Local memory access is very fast; accessing remote memory over the system interconnect takes longer. The OS must be NUMA-aware to schedule threads near their allocated memory. That concludes Act I. I will now hand over to Vedhanth for Act II.</a:t>
            </a:r>
          </a:p>
          <a:p/>
          <a:p>
            <a:r>
              <a:t>2. KEY TEXTBOOK CONCEPT:</a:t>
            </a:r>
          </a:p>
          <a:p>
            <a:r>
              <a:t>NUMA architecture, bus contention bottleneck, local vs remote latency trade-off, and OS locality management.</a:t>
            </a:r>
          </a:p>
          <a:p/>
          <a:p>
            <a:r>
              <a:t>3. TRANSITION TO NEXT SLIDE:</a:t>
            </a:r>
          </a:p>
          <a:p>
            <a:r>
              <a:t>I will now pass the presentation to Vedhanth, who will explain how the operating system maintains hardware control through interrupts and dual-mode execution.</a:t>
            </a:r>
          </a:p>
          <a:p/>
          <a:p>
            <a:r>
              <a:t>4. PRESENTATION CUE:</a:t>
            </a:r>
          </a:p>
          <a:p>
            <a:r>
              <a:t>Conclude Act I, hand presentation clicker/focus over to Vedhanth.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Thank you Ram Charan. Hello everyone, I am Vedhanth, and in Act II we will look at how the Operating System controls and protects hardware. Silberschatz emphasizes that modern operating systems are completely interrupt-driven. When an I/O device finishes an operation, its controller asserts an interrupt signal. The CPU detects this, saves the current Program Counter and registers, looks up the corresponding service routine in the Interrupt Vector Table, executes the handler, and then resumes the user program.</a:t>
            </a:r>
          </a:p>
          <a:p/>
          <a:p>
            <a:r>
              <a:t>2. KEY TEXTBOOK CONCEPT:</a:t>
            </a:r>
          </a:p>
          <a:p>
            <a:r>
              <a:t>Interrupt mechanism as the core foundation of event-driven OS control and the role of the Interrupt Vector Table.</a:t>
            </a:r>
          </a:p>
          <a:p/>
          <a:p>
            <a:r>
              <a:t>3. TRANSITION TO NEXT SLIDE:</a:t>
            </a:r>
          </a:p>
          <a:p>
            <a:r>
              <a:t>Now let's distinguish between hardware interrupts, software exceptions, and system calls.</a:t>
            </a:r>
          </a:p>
          <a:p/>
          <a:p>
            <a:r>
              <a:t>4. PRESENTATION CUE:</a:t>
            </a:r>
          </a:p>
          <a:p>
            <a:r>
              <a:t>Walk the audience step-by-step through the horizontal flow diagram at the top.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It is crucial to distinguish between three terms that students often confuse: Hardware Interrupts, Traps, and System Calls. Hardware interrupts are asynchronous signals from physical devices. A Trap or exception is synchronous, triggered directly by an instruction—like a divide-by-zero error or a software-generated trap. A System Call is the official programmatic interface user applications use to request services reserved for the OS kernel, executing a trap that safely crosses the user-kernel boundary.</a:t>
            </a:r>
          </a:p>
          <a:p/>
          <a:p>
            <a:r>
              <a:t>2. KEY TEXTBOOK CONCEPT:</a:t>
            </a:r>
          </a:p>
          <a:p>
            <a:r>
              <a:t>Distinction between asynchronous hardware interrupts and synchronous software traps/syscalls, plus the system call execution sequence.</a:t>
            </a:r>
          </a:p>
          <a:p/>
          <a:p>
            <a:r>
              <a:t>3. TRANSITION TO NEXT SLIDE:</a:t>
            </a:r>
          </a:p>
          <a:p>
            <a:r>
              <a:t>To ensure user programs cannot bypass this boundary, the hardware enforces Dual-Mode Operation.</a:t>
            </a:r>
          </a:p>
          <a:p/>
          <a:p>
            <a:r>
              <a:t>4. PRESENTATION CUE:</a:t>
            </a:r>
          </a:p>
          <a:p>
            <a:r>
              <a:t>Highlight the transition from user mode to kernel mode during a system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Dual-mode operation is one of the most fundamental concepts in computer science. The CPU hardware contains a Mode Bit: when Mode Bit equals 1, the CPU is in User Mode; when Mode Bit equals 0, it is in Kernel Mode. Why is this necessary? If user applications could directly alter hardware registers or halt the processor, one buggy program could crash the entire computer. By enforcing dual modes in hardware, privileged instructions can only execute when the mode bit is zero.</a:t>
            </a:r>
          </a:p>
          <a:p/>
          <a:p>
            <a:r>
              <a:t>2. KEY TEXTBOOK CONCEPT:</a:t>
            </a:r>
          </a:p>
          <a:p>
            <a:r>
              <a:t>Dual-mode operation, the hardware Mode Bit (0=Kernel, 1=User), privileged instructions, and fault isolation.</a:t>
            </a:r>
          </a:p>
          <a:p/>
          <a:p>
            <a:r>
              <a:t>3. TRANSITION TO NEXT SLIDE:</a:t>
            </a:r>
          </a:p>
          <a:p>
            <a:r>
              <a:t>Let's look at exactly what constitutes a privileged instruction and what happens when an illegal operation occurs.</a:t>
            </a:r>
          </a:p>
          <a:p/>
          <a:p>
            <a:r>
              <a:t>4. PRESENTATION CUE:</a:t>
            </a:r>
          </a:p>
          <a:p>
            <a:r>
              <a:t>Point to the mode bit toggling between 0 and 1 in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What instructions are strictly privileged? The textbook lists instructions that control I/O devices, modify timer registers, turn off interrupts, or change memory management registers. If a user program tries to execute any of these privileged instructions in User Mode, the hardware detects that the mode bit is 1, immediately blocks the instruction, and fires a trap to the OS. The operating system treats this as a fatal error and terminates the offending process, keeping the rest of the system safe.</a:t>
            </a:r>
          </a:p>
          <a:p/>
          <a:p>
            <a:r>
              <a:t>2. KEY TEXTBOOK CONCEPT:</a:t>
            </a:r>
          </a:p>
          <a:p>
            <a:r>
              <a:t>Privileged instruction categories (I/O, timer, interrupts, memory) and hardware trap generation on violation.</a:t>
            </a:r>
          </a:p>
          <a:p/>
          <a:p>
            <a:r>
              <a:t>3. TRANSITION TO NEXT SLIDE:</a:t>
            </a:r>
          </a:p>
          <a:p>
            <a:r>
              <a:t>Now, what happens if a user program enters an infinite loop and refuses to yield control? Let's look at the Timer mechanism.</a:t>
            </a:r>
          </a:p>
          <a:p/>
          <a:p>
            <a:r>
              <a:t>4. PRESENTATION CUE:</a:t>
            </a:r>
          </a:p>
          <a:p>
            <a:r>
              <a:t>Emphasize that the hardware blocks the illegal instruction before it can cause harm.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Imagine what would happen if a user program entered an infinite loop. If the OS had no way to intervene, the whole computer would hang forever. Silberschatz explains that the **Hardware Timer** solves this problem. Before handing the CPU to a user process, the OS sets a timer. As the CPU executes, the timer decrements. When it hits zero, a hardware interrupt fires, forcing control back to the OS scheduler. This guarantees preemption and makes multitasking possible. That concludes Act II. I will now pass to Lochan for Act III.</a:t>
            </a:r>
          </a:p>
          <a:p/>
          <a:p>
            <a:r>
              <a:t>2. KEY TEXTBOOK CONCEPT:</a:t>
            </a:r>
          </a:p>
          <a:p>
            <a:r>
              <a:t>The hardware timer as the guarantor of OS CPU control, preemption, and time-sharing.</a:t>
            </a:r>
          </a:p>
          <a:p/>
          <a:p>
            <a:r>
              <a:t>3. TRANSITION TO NEXT SLIDE:</a:t>
            </a:r>
          </a:p>
          <a:p>
            <a:r>
              <a:t>I will now pass the presentation to Lochan, who will cover the Memory Hierarchy, I/O systems, Clustered systems, and our final synthesis.</a:t>
            </a:r>
          </a:p>
          <a:p/>
          <a:p>
            <a:r>
              <a:t>4. PRESENTATION CUE:</a:t>
            </a:r>
          </a:p>
          <a:p>
            <a:r>
              <a:t>Conclude Act II and hand the presentation clicker/focus over to Lochan.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Thank you Vedhanth. Hello everyone, I am Lochan, and in Act III we will explore storage hierarchies, I/O systems, and clustered environments. As Silberschatz illustrates, memory is organized in a strict pyramid governed by speed, cost, and volatility. At the top, CPU registers and caches offer near-instant access but are small, expensive, and volatile. Main memory is the only large storage the CPU can directly address. Below that, nonvolatile SSDs and hard disks preserve data permanently. The OS must stage data across these tiers efficiently.</a:t>
            </a:r>
          </a:p>
          <a:p/>
          <a:p>
            <a:r>
              <a:t>2. KEY TEXTBOOK CONCEPT:</a:t>
            </a:r>
          </a:p>
          <a:p>
            <a:r>
              <a:t>Storage hierarchy trade-offs (speed, cost per bit, volatility) and the caching principle.</a:t>
            </a:r>
          </a:p>
          <a:p/>
          <a:p>
            <a:r>
              <a:t>3. TRANSITION TO NEXT SLIDE:</a:t>
            </a:r>
          </a:p>
          <a:p>
            <a:r>
              <a:t>Now let's examine how the operating system communicates with I/O devices.</a:t>
            </a:r>
          </a:p>
          <a:p/>
          <a:p>
            <a:r>
              <a:t>4. PRESENTATION CUE:</a:t>
            </a:r>
          </a:p>
          <a:p>
            <a:r>
              <a:t>Trace the storage pyramid from top to bottom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How does the operating system coordinate with I/O devices? Each physical device is managed by a hardware **Device Controller** with its own local buffer storage. In the OS kernel, a corresponding **Device Driver** speaks the controller's language. For high-speed block devices like SSDs and network cards, transferring data byte-by-byte through the CPU would cause massive overhead. Silberschatz explains that **Direct Memory Access (DMA)** transfers entire blocks directly between the controller buffer and RAM, generating only one interrupt per block.</a:t>
            </a:r>
          </a:p>
          <a:p/>
          <a:p>
            <a:r>
              <a:t>2. KEY TEXTBOOK CONCEPT:</a:t>
            </a:r>
          </a:p>
          <a:p>
            <a:r>
              <a:t>Device Controller, Device Driver, local buffer storage, interrupt-driven I/O, and Direct Memory Access (DMA).</a:t>
            </a:r>
          </a:p>
          <a:p/>
          <a:p>
            <a:r>
              <a:t>3. TRANSITION TO NEXT SLIDE:</a:t>
            </a:r>
          </a:p>
          <a:p>
            <a:r>
              <a:t>Let's revisit multiprocessor systems and compare Symmetric Multiprocessing with NUMA in depth.</a:t>
            </a:r>
          </a:p>
          <a:p/>
          <a:p>
            <a:r>
              <a:t>4. PRESENTATION CUE:</a:t>
            </a:r>
          </a:p>
          <a:p>
            <a:r>
              <a:t>Explain how DMA frees the CPU from byte-by-byte transfer duties.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Comparing SMP and NUMA side-by-side reveals a fundamental engineering trade-off. In pure Symmetric Multiprocessing, all CPUs share a single memory bus. While simple, bus contention caps scalability as processor counts increase. In NUMA, memory is partitioned across processor nodes. While this solves the bus bottleneck, it introduces variable latency: local access is fast, while remote access across the interconnect is slower. The operating system must be NUMA-aware to schedule threads on the same node where their memory lives.</a:t>
            </a:r>
          </a:p>
          <a:p/>
          <a:p>
            <a:r>
              <a:t>2. KEY TEXTBOOK CONCEPT:</a:t>
            </a:r>
          </a:p>
          <a:p>
            <a:r>
              <a:t>SMP vs NUMA comparison, uniform vs non-uniform memory access, and OS locality-aware scheduling.</a:t>
            </a:r>
          </a:p>
          <a:p/>
          <a:p>
            <a:r>
              <a:t>3. TRANSITION TO NEXT SLIDE:</a:t>
            </a:r>
          </a:p>
          <a:p>
            <a:r>
              <a:t>Beyond single machines, what happens when we connect independent computer systems together? This brings us to Clustered Systems.</a:t>
            </a:r>
          </a:p>
          <a:p/>
          <a:p>
            <a:r>
              <a:t>4. PRESENTATION CUE:</a:t>
            </a:r>
          </a:p>
          <a:p>
            <a:r>
              <a:t>Guide the audience through the comparison table columns.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While multiprocessor systems share a single chassis, **Clustered Systems** connect two or more independent computers together across a network, typically sharing a Storage Area Network (SAN). The textbook distinguishes asymmetric clustering—where one node acts as a hot-standby—and symmetric clustering—where all nodes run applications concurrently while monitoring each other for high availability. Silberschatz also outlines the spectrum of computing environments: traditional desktops, mobile systems, cloud infrastructures, and embedded real-time systems.</a:t>
            </a:r>
          </a:p>
          <a:p/>
          <a:p>
            <a:r>
              <a:t>2. KEY TEXTBOOK CONCEPT:</a:t>
            </a:r>
          </a:p>
          <a:p>
            <a:r>
              <a:t>Clustered systems (loosely coupled nodes, shared SAN, asymmetric vs symmetric) and computing environment categories.</a:t>
            </a:r>
          </a:p>
          <a:p/>
          <a:p>
            <a:r>
              <a:t>3. TRANSITION TO NEXT SLIDE:</a:t>
            </a:r>
          </a:p>
          <a:p>
            <a:r>
              <a:t>Now let's bring our entire presentation together into a final synthesis and open the floor for questions.</a:t>
            </a:r>
          </a:p>
          <a:p/>
          <a:p>
            <a:r>
              <a:t>4. PRESENTATION CUE:</a:t>
            </a:r>
          </a:p>
          <a:p>
            <a:r>
              <a:t>Contrast clustered scale-out architecture with single-system multi-core scale-up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(45-75s Delivery Script):</a:t>
            </a:r>
          </a:p>
          <a:p>
            <a:r>
              <a:t>To summarize our presentation: Users execute applications; applications request operating system services; the OS manages memory, processes, and I/O; and underlying hardware executes instructions under dual-mode protection. The four fundamental takeaways from Chapter 1 are: hardware provides resources, the OS coordinates them, interrupts link the software and hardware stacks, and dual-mode execution guarantees system protection. On behalf of Ram Charan, Vedhanth, and myself, thank you for your attention. We are now open for questions.</a:t>
            </a:r>
          </a:p>
          <a:p/>
          <a:p>
            <a:r>
              <a:t>2. KEY TEXTBOOK CONCEPT:</a:t>
            </a:r>
          </a:p>
          <a:p>
            <a:r>
              <a:t>Complete Chapter 1 synthesis: hardware resources, OS dual role, interrupt-driven operation, and hardware protection.</a:t>
            </a:r>
          </a:p>
          <a:p/>
          <a:p>
            <a:r>
              <a:t>3. TRANSITION TO NEXT SLIDE:</a:t>
            </a:r>
          </a:p>
          <a:p>
            <a:r>
              <a:t>End of presentation — open floor for Q&amp;A.</a:t>
            </a:r>
          </a:p>
          <a:p/>
          <a:p>
            <a:r>
              <a:t>4. PRESENTATION CUE:</a:t>
            </a:r>
          </a:p>
          <a:p>
            <a:r>
              <a:t>All three presenters step forward together, smile, and invite questions from the professor and classmates.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914400" y="914400"/>
            <a:ext cx="10362895" cy="502920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914400"/>
            <a:ext cx="109728" cy="50292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71600" y="1280160"/>
            <a:ext cx="4114800" cy="36576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8BDF8"/>
                </a:solidFill>
                <a:latin typeface="Segoe UI"/>
              </a:defRPr>
            </a:pPr>
            <a:r>
              <a:t>OPERATING SYSTEMS  •  CHAPTER 1 INTRODUCTION</a:t>
            </a:r>
          </a:p>
        </p:txBody>
      </p:sp>
      <p:sp>
        <p:nvSpPr>
          <p:cNvPr id="5" name="TextBox 4"/>
          <p:cNvSpPr txBox="1"/>
          <p:nvPr/>
        </p:nvSpPr>
        <p:spPr>
          <a:xfrm>
            <a:off x="1371600" y="1828800"/>
            <a:ext cx="9418320" cy="1463040"/>
          </a:xfrm>
          <a:prstGeom prst="rect">
            <a:avLst/>
          </a:prstGeom>
          <a:noFill/>
        </p:spPr>
        <p:txBody>
          <a:bodyPr wrap="square">
            <a:spAutoFit/>
          </a:bodyPr>
          <a:lstStyle/>
          <a:p>
            <a:pPr>
              <a:defRPr sz="3600" b="1">
                <a:solidFill>
                  <a:srgbClr val="F8FAFC"/>
                </a:solidFill>
                <a:latin typeface="Segoe UI"/>
              </a:defRPr>
            </a:pPr>
            <a:r>
              <a:t>Computer System Architecture</a:t>
            </a:r>
          </a:p>
          <a:p>
            <a:pPr>
              <a:spcBef>
                <a:spcPts val="800"/>
              </a:spcBef>
              <a:defRPr sz="1800" b="1">
                <a:solidFill>
                  <a:srgbClr val="38BDF8"/>
                </a:solidFill>
                <a:latin typeface="Segoe UI"/>
              </a:defRPr>
            </a:pPr>
            <a:r>
              <a:t>Understanding the Hardware Foundation of Operating Systems</a:t>
            </a:r>
          </a:p>
        </p:txBody>
      </p:sp>
      <p:sp>
        <p:nvSpPr>
          <p:cNvPr id="6" name="Rounded Rectangle 5"/>
          <p:cNvSpPr/>
          <p:nvPr/>
        </p:nvSpPr>
        <p:spPr>
          <a:xfrm>
            <a:off x="1371600" y="3474720"/>
            <a:ext cx="9418320" cy="82296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371600" y="3474720"/>
            <a:ext cx="109728" cy="8229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3566160"/>
            <a:ext cx="8961120" cy="640080"/>
          </a:xfrm>
          <a:prstGeom prst="rect">
            <a:avLst/>
          </a:prstGeom>
          <a:noFill/>
        </p:spPr>
        <p:txBody>
          <a:bodyPr wrap="square">
            <a:spAutoFit/>
          </a:bodyPr>
          <a:lstStyle/>
          <a:p>
            <a:pPr>
              <a:defRPr sz="1300" i="1">
                <a:solidFill>
                  <a:srgbClr val="F8FAFC"/>
                </a:solidFill>
                <a:latin typeface="Segoe UI"/>
              </a:defRPr>
            </a:pPr>
            <a:r>
              <a:t>"The operating system is the software most intimately involved with computer hardware."</a:t>
            </a:r>
          </a:p>
          <a:p>
            <a:pPr>
              <a:spcBef>
                <a:spcPts val="400"/>
              </a:spcBef>
              <a:defRPr sz="1000">
                <a:solidFill>
                  <a:srgbClr val="38BDF8"/>
                </a:solidFill>
                <a:latin typeface="Segoe UI"/>
              </a:defRPr>
            </a:pPr>
            <a:r>
              <a:t>— Silberschatz, Galvin &amp; Gagne (Operating System Concepts, 10th Edition)</a:t>
            </a:r>
          </a:p>
        </p:txBody>
      </p:sp>
      <p:sp>
        <p:nvSpPr>
          <p:cNvPr id="9" name="Rounded Rectangle 8"/>
          <p:cNvSpPr/>
          <p:nvPr/>
        </p:nvSpPr>
        <p:spPr>
          <a:xfrm>
            <a:off x="1371600" y="4572000"/>
            <a:ext cx="2926080" cy="10058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371600" y="4572000"/>
            <a:ext cx="109728" cy="10058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0200" y="4663440"/>
            <a:ext cx="2560320" cy="731520"/>
          </a:xfrm>
          <a:prstGeom prst="rect">
            <a:avLst/>
          </a:prstGeom>
          <a:noFill/>
        </p:spPr>
        <p:txBody>
          <a:bodyPr wrap="square">
            <a:spAutoFit/>
          </a:bodyPr>
          <a:lstStyle/>
          <a:p>
            <a:pPr>
              <a:defRPr sz="1300" b="1">
                <a:solidFill>
                  <a:srgbClr val="F8FAFC"/>
                </a:solidFill>
                <a:latin typeface="Segoe UI"/>
              </a:defRPr>
            </a:pPr>
            <a:r>
              <a:t>V. RAM CHARAN</a:t>
            </a:r>
          </a:p>
          <a:p>
            <a:pPr>
              <a:spcBef>
                <a:spcPts val="200"/>
              </a:spcBef>
              <a:defRPr sz="1000">
                <a:solidFill>
                  <a:srgbClr val="38BDF8"/>
                </a:solidFill>
                <a:latin typeface="Segoe UI"/>
              </a:defRPr>
            </a:pPr>
            <a:r>
              <a:t>Speaker 1 (Act I Lead)</a:t>
            </a:r>
          </a:p>
        </p:txBody>
      </p:sp>
      <p:sp>
        <p:nvSpPr>
          <p:cNvPr id="12" name="Rounded Rectangle 11"/>
          <p:cNvSpPr/>
          <p:nvPr/>
        </p:nvSpPr>
        <p:spPr>
          <a:xfrm>
            <a:off x="4617720" y="4572000"/>
            <a:ext cx="2926080" cy="100584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17720" y="4572000"/>
            <a:ext cx="109728" cy="100584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4663440"/>
            <a:ext cx="2560320" cy="731520"/>
          </a:xfrm>
          <a:prstGeom prst="rect">
            <a:avLst/>
          </a:prstGeom>
          <a:noFill/>
        </p:spPr>
        <p:txBody>
          <a:bodyPr wrap="square">
            <a:spAutoFit/>
          </a:bodyPr>
          <a:lstStyle/>
          <a:p>
            <a:pPr>
              <a:defRPr sz="1300" b="1">
                <a:solidFill>
                  <a:srgbClr val="F8FAFC"/>
                </a:solidFill>
                <a:latin typeface="Segoe UI"/>
              </a:defRPr>
            </a:pPr>
            <a:r>
              <a:t>VEDHANTH</a:t>
            </a:r>
          </a:p>
          <a:p>
            <a:pPr>
              <a:spcBef>
                <a:spcPts val="200"/>
              </a:spcBef>
              <a:defRPr sz="1000">
                <a:solidFill>
                  <a:srgbClr val="818CF8"/>
                </a:solidFill>
                <a:latin typeface="Segoe UI"/>
              </a:defRPr>
            </a:pPr>
            <a:r>
              <a:t>Speaker 2 (Act II Lead)</a:t>
            </a:r>
          </a:p>
        </p:txBody>
      </p:sp>
      <p:sp>
        <p:nvSpPr>
          <p:cNvPr id="15" name="Rounded Rectangle 14"/>
          <p:cNvSpPr/>
          <p:nvPr/>
        </p:nvSpPr>
        <p:spPr>
          <a:xfrm>
            <a:off x="7863840" y="4572000"/>
            <a:ext cx="2926080" cy="100584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863840" y="4572000"/>
            <a:ext cx="109728" cy="10058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4663440"/>
            <a:ext cx="2560320" cy="731520"/>
          </a:xfrm>
          <a:prstGeom prst="rect">
            <a:avLst/>
          </a:prstGeom>
          <a:noFill/>
        </p:spPr>
        <p:txBody>
          <a:bodyPr wrap="square">
            <a:spAutoFit/>
          </a:bodyPr>
          <a:lstStyle/>
          <a:p>
            <a:pPr>
              <a:defRPr sz="1300" b="1">
                <a:solidFill>
                  <a:srgbClr val="F8FAFC"/>
                </a:solidFill>
                <a:latin typeface="Segoe UI"/>
              </a:defRPr>
            </a:pPr>
            <a:r>
              <a:t>LOCHAN</a:t>
            </a:r>
          </a:p>
          <a:p>
            <a:pPr>
              <a:spcBef>
                <a:spcPts val="200"/>
              </a:spcBef>
              <a:defRPr sz="1000">
                <a:solidFill>
                  <a:srgbClr val="34D399"/>
                </a:solidFill>
                <a:latin typeface="Segoe UI"/>
              </a:defRPr>
            </a:pPr>
            <a:r>
              <a:t>Speaker 3 (Act III Lead)</a:t>
            </a:r>
          </a:p>
        </p:txBody>
      </p:sp>
      <p:sp>
        <p:nvSpPr>
          <p:cNvPr id="18" name="TextBox 17"/>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02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What is a Computer System?</a:t>
            </a:r>
          </a:p>
          <a:p>
            <a:pPr>
              <a:spcBef>
                <a:spcPts val="200"/>
              </a:spcBef>
              <a:defRPr sz="1200">
                <a:solidFill>
                  <a:srgbClr val="38BDF8"/>
                </a:solidFill>
                <a:latin typeface="Segoe UI"/>
              </a:defRPr>
            </a:pPr>
            <a:r>
              <a:t>Four Major Components &amp; The Role of the Operating System</a:t>
            </a:r>
          </a:p>
        </p:txBody>
      </p:sp>
      <p:pic>
        <p:nvPicPr>
          <p:cNvPr id="6" name="Picture 5" descr="system_components.png"/>
          <p:cNvPicPr>
            <a:picLocks noChangeAspect="1"/>
          </p:cNvPicPr>
          <p:nvPr/>
        </p:nvPicPr>
        <p:blipFill>
          <a:blip r:embed="rId2"/>
          <a:stretch>
            <a:fillRect/>
          </a:stretch>
        </p:blipFill>
        <p:spPr>
          <a:xfrm>
            <a:off x="731520" y="1645920"/>
            <a:ext cx="5120640" cy="2987040"/>
          </a:xfrm>
          <a:prstGeom prst="rect">
            <a:avLst/>
          </a:prstGeom>
        </p:spPr>
      </p:pic>
      <p:sp>
        <p:nvSpPr>
          <p:cNvPr id="7" name="Rounded Rectangle 6"/>
          <p:cNvSpPr/>
          <p:nvPr/>
        </p:nvSpPr>
        <p:spPr>
          <a:xfrm>
            <a:off x="6035040" y="1645920"/>
            <a:ext cx="5394960" cy="210312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0" y="1645920"/>
            <a:ext cx="109728" cy="21031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783080"/>
            <a:ext cx="5029200" cy="365760"/>
          </a:xfrm>
          <a:prstGeom prst="rect">
            <a:avLst/>
          </a:prstGeom>
          <a:noFill/>
        </p:spPr>
        <p:txBody>
          <a:bodyPr wrap="square" lIns="0" tIns="0" rIns="0" bIns="0">
            <a:spAutoFit/>
          </a:bodyPr>
          <a:lstStyle/>
          <a:p>
            <a:pPr>
              <a:defRPr sz="1300" b="1">
                <a:solidFill>
                  <a:srgbClr val="38BDF8"/>
                </a:solidFill>
                <a:latin typeface="Segoe UI"/>
              </a:defRPr>
            </a:pPr>
            <a:r>
              <a:t>The Operating System Duality</a:t>
            </a:r>
          </a:p>
        </p:txBody>
      </p:sp>
      <p:sp>
        <p:nvSpPr>
          <p:cNvPr id="10" name="TextBox 9"/>
          <p:cNvSpPr txBox="1"/>
          <p:nvPr/>
        </p:nvSpPr>
        <p:spPr>
          <a:xfrm>
            <a:off x="6309359" y="2011680"/>
            <a:ext cx="4937760" cy="1645920"/>
          </a:xfrm>
          <a:prstGeom prst="rect">
            <a:avLst/>
          </a:prstGeom>
          <a:noFill/>
        </p:spPr>
        <p:txBody>
          <a:bodyPr wrap="square">
            <a:spAutoFit/>
          </a:bodyPr>
          <a:lstStyle/>
          <a:p>
            <a:pPr>
              <a:defRPr sz="1200" b="1">
                <a:solidFill>
                  <a:srgbClr val="38BDF8"/>
                </a:solidFill>
                <a:latin typeface="Segoe UI"/>
              </a:defRPr>
            </a:pPr>
            <a:r>
              <a:t>1. Resource Allocator:</a:t>
            </a:r>
          </a:p>
          <a:p>
            <a:pPr>
              <a:defRPr sz="1100">
                <a:solidFill>
                  <a:srgbClr val="94A3B8"/>
                </a:solidFill>
                <a:latin typeface="Segoe UI"/>
              </a:defRPr>
            </a:pPr>
            <a:r>
              <a:t>• Manages CPU time, memory space, and file-storage space.</a:t>
            </a:r>
            <a:br/>
            <a:r>
              <a:t>• Resolves conflicting resource requests fairly and efficiently.</a:t>
            </a:r>
          </a:p>
          <a:p>
            <a:pPr>
              <a:spcBef>
                <a:spcPts val="400"/>
              </a:spcBef>
              <a:defRPr sz="1200" b="1">
                <a:solidFill>
                  <a:srgbClr val="34D399"/>
                </a:solidFill>
                <a:latin typeface="Segoe UI"/>
              </a:defRPr>
            </a:pPr>
            <a:r>
              <a:t>2. Control Program:</a:t>
            </a:r>
          </a:p>
          <a:p>
            <a:pPr>
              <a:defRPr sz="1100">
                <a:solidFill>
                  <a:srgbClr val="94A3B8"/>
                </a:solidFill>
                <a:latin typeface="Segoe UI"/>
              </a:defRPr>
            </a:pPr>
            <a:r>
              <a:t>• Controls execution of user programs to prevent errors.</a:t>
            </a:r>
            <a:br/>
            <a:r>
              <a:t>• Prevents improper and unauthorized use of the computer.</a:t>
            </a:r>
          </a:p>
        </p:txBody>
      </p:sp>
      <p:sp>
        <p:nvSpPr>
          <p:cNvPr id="11" name="Rounded Rectangle 10"/>
          <p:cNvSpPr/>
          <p:nvPr/>
        </p:nvSpPr>
        <p:spPr>
          <a:xfrm>
            <a:off x="6035040" y="3931920"/>
            <a:ext cx="5394960" cy="228600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35040" y="3931920"/>
            <a:ext cx="109728" cy="22860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4069080"/>
            <a:ext cx="5029200" cy="365760"/>
          </a:xfrm>
          <a:prstGeom prst="rect">
            <a:avLst/>
          </a:prstGeom>
          <a:noFill/>
        </p:spPr>
        <p:txBody>
          <a:bodyPr wrap="square" lIns="0" tIns="0" rIns="0" bIns="0">
            <a:spAutoFit/>
          </a:bodyPr>
          <a:lstStyle/>
          <a:p>
            <a:pPr>
              <a:defRPr sz="1300" b="1">
                <a:solidFill>
                  <a:srgbClr val="818CF8"/>
                </a:solidFill>
                <a:latin typeface="Segoe UI"/>
              </a:defRPr>
            </a:pPr>
            <a:r>
              <a:t>Hardware &amp; Application Interaction</a:t>
            </a:r>
          </a:p>
        </p:txBody>
      </p:sp>
      <p:sp>
        <p:nvSpPr>
          <p:cNvPr id="14" name="TextBox 13"/>
          <p:cNvSpPr txBox="1"/>
          <p:nvPr/>
        </p:nvSpPr>
        <p:spPr>
          <a:xfrm>
            <a:off x="6309359" y="4297680"/>
            <a:ext cx="4937760" cy="1828800"/>
          </a:xfrm>
          <a:prstGeom prst="rect">
            <a:avLst/>
          </a:prstGeom>
          <a:noFill/>
        </p:spPr>
        <p:txBody>
          <a:bodyPr wrap="square">
            <a:spAutoFit/>
          </a:bodyPr>
          <a:lstStyle/>
          <a:p>
            <a:pPr>
              <a:defRPr sz="1150" b="1">
                <a:solidFill>
                  <a:srgbClr val="F8FAFC"/>
                </a:solidFill>
                <a:latin typeface="Segoe UI"/>
              </a:defRPr>
            </a:pPr>
            <a:r>
              <a:t>Computer Hardware: </a:t>
            </a:r>
            <a:r>
              <a:rPr sz="1100" b="0">
                <a:solidFill>
                  <a:srgbClr val="94A3B8"/>
                </a:solidFill>
                <a:latin typeface="Segoe UI"/>
              </a:rPr>
              <a:t>Provides basic computing resources (CPU, Memory, I/O Devices).</a:t>
            </a:r>
          </a:p>
          <a:p>
            <a:pPr>
              <a:spcBef>
                <a:spcPts val="400"/>
              </a:spcBef>
              <a:defRPr sz="1150" b="1">
                <a:solidFill>
                  <a:srgbClr val="F8FAFC"/>
                </a:solidFill>
                <a:latin typeface="Segoe UI"/>
              </a:defRPr>
            </a:pPr>
            <a:r>
              <a:t>Application Programs: </a:t>
            </a:r>
            <a:r>
              <a:rPr sz="1100" b="0">
                <a:solidFill>
                  <a:srgbClr val="94A3B8"/>
                </a:solidFill>
                <a:latin typeface="Segoe UI"/>
              </a:rPr>
              <a:t>Compilers, databases, browsers—define ways resources are used to solve user problems.</a:t>
            </a:r>
          </a:p>
          <a:p>
            <a:pPr>
              <a:spcBef>
                <a:spcPts val="400"/>
              </a:spcBef>
              <a:defRPr sz="1150" b="1">
                <a:solidFill>
                  <a:srgbClr val="F8FAFC"/>
                </a:solidFill>
                <a:latin typeface="Segoe UI"/>
              </a:defRPr>
            </a:pPr>
            <a:r>
              <a:t>The Core Abstraction: </a:t>
            </a:r>
            <a:r>
              <a:rPr sz="1100" b="0">
                <a:solidFill>
                  <a:srgbClr val="94A3B8"/>
                </a:solidFill>
                <a:latin typeface="Segoe UI"/>
              </a:rPr>
              <a:t>The OS shields users from the ugly complexities of physical hardware.</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03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Computer-System Architecture</a:t>
            </a:r>
          </a:p>
          <a:p>
            <a:pPr>
              <a:spcBef>
                <a:spcPts val="200"/>
              </a:spcBef>
              <a:defRPr sz="1200">
                <a:solidFill>
                  <a:srgbClr val="38BDF8"/>
                </a:solidFill>
                <a:latin typeface="Segoe UI"/>
              </a:defRPr>
            </a:pPr>
            <a:r>
              <a:t>Evolution: Single-Processor, Multiprocessor, and Multicore Systems</a:t>
            </a:r>
          </a:p>
        </p:txBody>
      </p:sp>
      <p:sp>
        <p:nvSpPr>
          <p:cNvPr id="6" name="Rounded Rectangle 5"/>
          <p:cNvSpPr/>
          <p:nvPr/>
        </p:nvSpPr>
        <p:spPr>
          <a:xfrm>
            <a:off x="731520" y="1645920"/>
            <a:ext cx="3383280" cy="29260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Single-Processor Systems</a:t>
            </a:r>
          </a:p>
        </p:txBody>
      </p:sp>
      <p:sp>
        <p:nvSpPr>
          <p:cNvPr id="9" name="TextBox 8"/>
          <p:cNvSpPr txBox="1"/>
          <p:nvPr/>
        </p:nvSpPr>
        <p:spPr>
          <a:xfrm>
            <a:off x="960120" y="2011680"/>
            <a:ext cx="3017520" cy="2468880"/>
          </a:xfrm>
          <a:prstGeom prst="rect">
            <a:avLst/>
          </a:prstGeom>
          <a:noFill/>
        </p:spPr>
        <p:txBody>
          <a:bodyPr wrap="square">
            <a:spAutoFit/>
          </a:bodyPr>
          <a:lstStyle/>
          <a:p>
            <a:pPr>
              <a:defRPr sz="1150" b="1">
                <a:solidFill>
                  <a:srgbClr val="38BDF8"/>
                </a:solidFill>
                <a:latin typeface="Segoe UI"/>
              </a:defRPr>
            </a:pPr>
            <a:r>
              <a:t>One Main CPU:</a:t>
            </a:r>
            <a:br/>
            <a:r>
              <a:rPr sz="1050" b="0">
                <a:solidFill>
                  <a:srgbClr val="94A3B8"/>
                </a:solidFill>
                <a:latin typeface="Segoe UI"/>
              </a:rPr>
              <a:t>Executes a general-purpose instruction set.</a:t>
            </a:r>
          </a:p>
          <a:p>
            <a:pPr>
              <a:spcBef>
                <a:spcPts val="400"/>
              </a:spcBef>
              <a:defRPr sz="1150" b="1">
                <a:solidFill>
                  <a:srgbClr val="38BDF8"/>
                </a:solidFill>
                <a:latin typeface="Segoe UI"/>
              </a:defRPr>
            </a:pPr>
            <a:r>
              <a:t>Special-Purpose Processors:</a:t>
            </a:r>
            <a:br/>
            <a:r>
              <a:rPr sz="1050" b="0">
                <a:solidFill>
                  <a:srgbClr val="94A3B8"/>
                </a:solidFill>
                <a:latin typeface="Segoe UI"/>
              </a:rPr>
              <a:t>Disk, keyboard, and graphics controllers run limited instruction sets.</a:t>
            </a:r>
          </a:p>
          <a:p>
            <a:pPr>
              <a:spcBef>
                <a:spcPts val="400"/>
              </a:spcBef>
              <a:defRPr sz="1150" b="1">
                <a:solidFill>
                  <a:srgbClr val="38BDF8"/>
                </a:solidFill>
                <a:latin typeface="Segoe UI"/>
              </a:defRPr>
            </a:pPr>
            <a:r>
              <a:t>OS Perspective:</a:t>
            </a:r>
            <a:br/>
            <a:r>
              <a:rPr sz="1050" b="0">
                <a:solidFill>
                  <a:srgbClr val="94A3B8"/>
                </a:solidFill>
                <a:latin typeface="Segoe UI"/>
              </a:rPr>
              <a:t>All user processes compete for execution on the single general-purpose CPU.</a:t>
            </a:r>
          </a:p>
        </p:txBody>
      </p:sp>
      <p:sp>
        <p:nvSpPr>
          <p:cNvPr id="10" name="Rounded Rectangle 9"/>
          <p:cNvSpPr/>
          <p:nvPr/>
        </p:nvSpPr>
        <p:spPr>
          <a:xfrm>
            <a:off x="4389120" y="1645920"/>
            <a:ext cx="3383280" cy="292608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645920"/>
            <a:ext cx="109728" cy="29260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783080"/>
            <a:ext cx="3017520" cy="365760"/>
          </a:xfrm>
          <a:prstGeom prst="rect">
            <a:avLst/>
          </a:prstGeom>
          <a:noFill/>
        </p:spPr>
        <p:txBody>
          <a:bodyPr wrap="square" lIns="0" tIns="0" rIns="0" bIns="0">
            <a:spAutoFit/>
          </a:bodyPr>
          <a:lstStyle/>
          <a:p>
            <a:pPr>
              <a:defRPr sz="1300" b="1">
                <a:solidFill>
                  <a:srgbClr val="818CF8"/>
                </a:solidFill>
                <a:latin typeface="Segoe UI"/>
              </a:defRPr>
            </a:pPr>
            <a:r>
              <a:t>Multiprocessor Systems</a:t>
            </a:r>
          </a:p>
        </p:txBody>
      </p:sp>
      <p:sp>
        <p:nvSpPr>
          <p:cNvPr id="13" name="TextBox 12"/>
          <p:cNvSpPr txBox="1"/>
          <p:nvPr/>
        </p:nvSpPr>
        <p:spPr>
          <a:xfrm>
            <a:off x="4617720" y="2011680"/>
            <a:ext cx="3017520" cy="2468880"/>
          </a:xfrm>
          <a:prstGeom prst="rect">
            <a:avLst/>
          </a:prstGeom>
          <a:noFill/>
        </p:spPr>
        <p:txBody>
          <a:bodyPr wrap="square">
            <a:spAutoFit/>
          </a:bodyPr>
          <a:lstStyle/>
          <a:p>
            <a:pPr>
              <a:defRPr sz="1150" b="1">
                <a:solidFill>
                  <a:srgbClr val="818CF8"/>
                </a:solidFill>
                <a:latin typeface="Segoe UI"/>
              </a:defRPr>
            </a:pPr>
            <a:r>
              <a:t>Parallel / Tightly Coupled:</a:t>
            </a:r>
            <a:br/>
            <a:r>
              <a:rPr sz="1050" b="0">
                <a:solidFill>
                  <a:srgbClr val="94A3B8"/>
                </a:solidFill>
                <a:latin typeface="Segoe UI"/>
              </a:rPr>
              <a:t>Two or more processors in close communication sharing bus, clock, and memory.</a:t>
            </a:r>
          </a:p>
          <a:p>
            <a:pPr>
              <a:spcBef>
                <a:spcPts val="400"/>
              </a:spcBef>
              <a:defRPr sz="1150" b="1">
                <a:solidFill>
                  <a:srgbClr val="818CF8"/>
                </a:solidFill>
                <a:latin typeface="Segoe UI"/>
              </a:defRPr>
            </a:pPr>
            <a:r>
              <a:t>Three Key Advantages:</a:t>
            </a:r>
            <a:br/>
            <a:r>
              <a:rPr sz="1050" b="0">
                <a:solidFill>
                  <a:srgbClr val="94A3B8"/>
                </a:solidFill>
                <a:latin typeface="Segoe UI"/>
              </a:rPr>
              <a:t>1. Increased Throughput
2. Economy of Scale
3. Graceful Degradation / Reliability</a:t>
            </a:r>
          </a:p>
          <a:p>
            <a:pPr>
              <a:spcBef>
                <a:spcPts val="400"/>
              </a:spcBef>
              <a:defRPr sz="1150" b="1">
                <a:solidFill>
                  <a:srgbClr val="818CF8"/>
                </a:solidFill>
                <a:latin typeface="Segoe UI"/>
              </a:defRPr>
            </a:pPr>
            <a:r>
              <a:t>Fault Tolerance:</a:t>
            </a:r>
            <a:br/>
            <a:r>
              <a:rPr sz="1050" b="0">
                <a:solidFill>
                  <a:srgbClr val="94A3B8"/>
                </a:solidFill>
                <a:latin typeface="Segoe UI"/>
              </a:rPr>
              <a:t>Failure of one processor does not halt the entire system.</a:t>
            </a:r>
          </a:p>
        </p:txBody>
      </p:sp>
      <p:sp>
        <p:nvSpPr>
          <p:cNvPr id="14" name="Rounded Rectangle 13"/>
          <p:cNvSpPr/>
          <p:nvPr/>
        </p:nvSpPr>
        <p:spPr>
          <a:xfrm>
            <a:off x="8046720" y="1645920"/>
            <a:ext cx="3383280" cy="29260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017520" cy="365760"/>
          </a:xfrm>
          <a:prstGeom prst="rect">
            <a:avLst/>
          </a:prstGeom>
          <a:noFill/>
        </p:spPr>
        <p:txBody>
          <a:bodyPr wrap="square" lIns="0" tIns="0" rIns="0" bIns="0">
            <a:spAutoFit/>
          </a:bodyPr>
          <a:lstStyle/>
          <a:p>
            <a:pPr>
              <a:defRPr sz="1300" b="1">
                <a:solidFill>
                  <a:srgbClr val="34D399"/>
                </a:solidFill>
                <a:latin typeface="Segoe UI"/>
              </a:defRPr>
            </a:pPr>
            <a:r>
              <a:t>Multicore Systems</a:t>
            </a:r>
          </a:p>
        </p:txBody>
      </p:sp>
      <p:sp>
        <p:nvSpPr>
          <p:cNvPr id="17" name="TextBox 16"/>
          <p:cNvSpPr txBox="1"/>
          <p:nvPr/>
        </p:nvSpPr>
        <p:spPr>
          <a:xfrm>
            <a:off x="8275320" y="2011680"/>
            <a:ext cx="3017520" cy="2468880"/>
          </a:xfrm>
          <a:prstGeom prst="rect">
            <a:avLst/>
          </a:prstGeom>
          <a:noFill/>
        </p:spPr>
        <p:txBody>
          <a:bodyPr wrap="square">
            <a:spAutoFit/>
          </a:bodyPr>
          <a:lstStyle/>
          <a:p>
            <a:pPr>
              <a:defRPr sz="1150" b="1">
                <a:solidFill>
                  <a:srgbClr val="34D399"/>
                </a:solidFill>
                <a:latin typeface="Segoe UI"/>
              </a:defRPr>
            </a:pPr>
            <a:r>
              <a:t>Multiple Cores on One Chip:</a:t>
            </a:r>
            <a:br/>
            <a:r>
              <a:rPr sz="1050" b="0">
                <a:solidFill>
                  <a:srgbClr val="94A3B8"/>
                </a:solidFill>
                <a:latin typeface="Segoe UI"/>
              </a:rPr>
              <a:t>Modern approach integrating multiple computing cores onto a single processor package.</a:t>
            </a:r>
          </a:p>
          <a:p>
            <a:pPr>
              <a:spcBef>
                <a:spcPts val="400"/>
              </a:spcBef>
              <a:defRPr sz="1150" b="1">
                <a:solidFill>
                  <a:srgbClr val="34D399"/>
                </a:solidFill>
                <a:latin typeface="Segoe UI"/>
              </a:defRPr>
            </a:pPr>
            <a:r>
              <a:t>Faster Communication:</a:t>
            </a:r>
            <a:br/>
            <a:r>
              <a:rPr sz="1050" b="0">
                <a:solidFill>
                  <a:srgbClr val="94A3B8"/>
                </a:solidFill>
                <a:latin typeface="Segoe UI"/>
              </a:rPr>
              <a:t>On-chip interconnects operate faster than motherboard buses.</a:t>
            </a:r>
          </a:p>
          <a:p>
            <a:pPr>
              <a:spcBef>
                <a:spcPts val="400"/>
              </a:spcBef>
              <a:defRPr sz="1150" b="1">
                <a:solidFill>
                  <a:srgbClr val="34D399"/>
                </a:solidFill>
                <a:latin typeface="Segoe UI"/>
              </a:defRPr>
            </a:pPr>
            <a:r>
              <a:t>Power Efficient:</a:t>
            </a:r>
            <a:br/>
            <a:r>
              <a:rPr sz="1050" b="0">
                <a:solidFill>
                  <a:srgbClr val="94A3B8"/>
                </a:solidFill>
                <a:latin typeface="Segoe UI"/>
              </a:rPr>
              <a:t>Consumes significantly less energy than multiple discrete chips.</a:t>
            </a:r>
          </a:p>
        </p:txBody>
      </p:sp>
      <p:sp>
        <p:nvSpPr>
          <p:cNvPr id="18" name="Rounded Rectangle 17"/>
          <p:cNvSpPr/>
          <p:nvPr/>
        </p:nvSpPr>
        <p:spPr>
          <a:xfrm>
            <a:off x="731520" y="4754880"/>
            <a:ext cx="10728655" cy="146304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4754880"/>
            <a:ext cx="109728" cy="146304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892040"/>
            <a:ext cx="10362895" cy="365760"/>
          </a:xfrm>
          <a:prstGeom prst="rect">
            <a:avLst/>
          </a:prstGeom>
          <a:noFill/>
        </p:spPr>
        <p:txBody>
          <a:bodyPr wrap="square" lIns="0" tIns="0" rIns="0" bIns="0">
            <a:spAutoFit/>
          </a:bodyPr>
          <a:lstStyle/>
          <a:p>
            <a:pPr>
              <a:defRPr sz="1300" b="1">
                <a:solidFill>
                  <a:srgbClr val="F59E0B"/>
                </a:solidFill>
                <a:latin typeface="Segoe UI"/>
              </a:defRPr>
            </a:pPr>
            <a:r>
              <a:t>Textbook Terminology (Silberschatz Definitions)</a:t>
            </a:r>
          </a:p>
        </p:txBody>
      </p:sp>
      <p:sp>
        <p:nvSpPr>
          <p:cNvPr id="21" name="TextBox 20"/>
          <p:cNvSpPr txBox="1"/>
          <p:nvPr/>
        </p:nvSpPr>
        <p:spPr>
          <a:xfrm>
            <a:off x="1005840" y="5074920"/>
            <a:ext cx="10241280" cy="1097280"/>
          </a:xfrm>
          <a:prstGeom prst="rect">
            <a:avLst/>
          </a:prstGeom>
          <a:noFill/>
        </p:spPr>
        <p:txBody>
          <a:bodyPr wrap="square">
            <a:spAutoFit/>
          </a:bodyPr>
          <a:lstStyle/>
          <a:p>
            <a:r>
              <a:rPr b="1">
                <a:solidFill>
                  <a:srgbClr val="F59E0B"/>
                </a:solidFill>
              </a:rPr>
              <a:t>CPU:</a:t>
            </a:r>
            <a:r>
              <a:rPr>
                <a:solidFill>
                  <a:srgbClr val="F8FAFC"/>
                </a:solidFill>
              </a:rPr>
              <a:t> The hardware component that executes instructions.   |   </a:t>
            </a:r>
            <a:r>
              <a:rPr b="1">
                <a:solidFill>
                  <a:srgbClr val="F59E0B"/>
                </a:solidFill>
              </a:rPr>
              <a:t>Processor:</a:t>
            </a:r>
            <a:r>
              <a:rPr>
                <a:solidFill>
                  <a:srgbClr val="F8FAFC"/>
                </a:solidFill>
              </a:rPr>
              <a:t> A physical chip containing one or more CPUs.   |   </a:t>
            </a:r>
            <a:r>
              <a:rPr b="1">
                <a:solidFill>
                  <a:srgbClr val="F59E0B"/>
                </a:solidFill>
              </a:rPr>
              <a:t>Core:</a:t>
            </a:r>
            <a:r>
              <a:rPr>
                <a:solidFill>
                  <a:srgbClr val="F8FAFC"/>
                </a:solidFill>
              </a:rPr>
              <a:t> The basic computation unit inside a CPU.   |   </a:t>
            </a:r>
          </a:p>
          <a:p>
            <a:pPr>
              <a:spcBef>
                <a:spcPts val="400"/>
              </a:spcBef>
            </a:pPr>
            <a:r>
              <a:rPr b="1">
                <a:solidFill>
                  <a:srgbClr val="F59E0B"/>
                </a:solidFill>
              </a:rPr>
              <a:t>Multicore:</a:t>
            </a:r>
            <a:r>
              <a:rPr>
                <a:solidFill>
                  <a:srgbClr val="F8FAFC"/>
                </a:solidFill>
              </a:rPr>
              <a:t> Multiple computing cores on one single CPU/chip.   |   </a:t>
            </a:r>
            <a:r>
              <a:rPr b="1">
                <a:solidFill>
                  <a:srgbClr val="F59E0B"/>
                </a:solidFill>
              </a:rPr>
              <a:t>Multiprocessor:</a:t>
            </a:r>
            <a:r>
              <a:rPr>
                <a:solidFill>
                  <a:srgbClr val="F8FAFC"/>
                </a:solidFill>
              </a:rPr>
              <a:t> A system containing multiple physical processor chips.   |   </a:t>
            </a:r>
          </a:p>
        </p:txBody>
      </p:sp>
      <p:sp>
        <p:nvSpPr>
          <p:cNvPr id="22" name="TextBox 21"/>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04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Multicore &amp; Symmetric Multiprocessing (SMP)</a:t>
            </a:r>
          </a:p>
          <a:p>
            <a:pPr>
              <a:spcBef>
                <a:spcPts val="200"/>
              </a:spcBef>
              <a:defRPr sz="1200">
                <a:solidFill>
                  <a:srgbClr val="38BDF8"/>
                </a:solidFill>
                <a:latin typeface="Segoe UI"/>
              </a:defRPr>
            </a:pPr>
            <a:r>
              <a:t>On-Chip Parallelism &amp; Resource Sharing (Silberschatz Figure 1.8)</a:t>
            </a:r>
          </a:p>
        </p:txBody>
      </p:sp>
      <p:pic>
        <p:nvPicPr>
          <p:cNvPr id="6" name="Picture 5" descr="multicore_chip.png"/>
          <p:cNvPicPr>
            <a:picLocks noChangeAspect="1"/>
          </p:cNvPicPr>
          <p:nvPr/>
        </p:nvPicPr>
        <p:blipFill>
          <a:blip r:embed="rId2"/>
          <a:stretch>
            <a:fillRect/>
          </a:stretch>
        </p:blipFill>
        <p:spPr>
          <a:xfrm>
            <a:off x="731520" y="1645920"/>
            <a:ext cx="5212080" cy="2823210"/>
          </a:xfrm>
          <a:prstGeom prst="rect">
            <a:avLst/>
          </a:prstGeom>
        </p:spPr>
      </p:pic>
      <p:sp>
        <p:nvSpPr>
          <p:cNvPr id="7" name="Rounded Rectangle 6"/>
          <p:cNvSpPr/>
          <p:nvPr/>
        </p:nvSpPr>
        <p:spPr>
          <a:xfrm>
            <a:off x="6126480" y="1645920"/>
            <a:ext cx="5303520" cy="219456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1645920"/>
            <a:ext cx="109728" cy="2194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59" cy="365760"/>
          </a:xfrm>
          <a:prstGeom prst="rect">
            <a:avLst/>
          </a:prstGeom>
          <a:noFill/>
        </p:spPr>
        <p:txBody>
          <a:bodyPr wrap="square" lIns="0" tIns="0" rIns="0" bIns="0">
            <a:spAutoFit/>
          </a:bodyPr>
          <a:lstStyle/>
          <a:p>
            <a:pPr>
              <a:defRPr sz="1300" b="1">
                <a:solidFill>
                  <a:srgbClr val="38BDF8"/>
                </a:solidFill>
                <a:latin typeface="Segoe UI"/>
              </a:defRPr>
            </a:pPr>
            <a:r>
              <a:t>Why Modern Systems Use Multicore</a:t>
            </a:r>
          </a:p>
        </p:txBody>
      </p:sp>
      <p:sp>
        <p:nvSpPr>
          <p:cNvPr id="10" name="TextBox 9"/>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On-Chip Communication: </a:t>
            </a:r>
            <a:r>
              <a:rPr sz="1050" b="0">
                <a:solidFill>
                  <a:srgbClr val="94A3B8"/>
                </a:solidFill>
                <a:latin typeface="Segoe UI"/>
              </a:rPr>
              <a:t>Significantly faster on-chip interconnects compared to inter-chip system buses.</a:t>
            </a:r>
          </a:p>
          <a:p>
            <a:pPr>
              <a:spcBef>
                <a:spcPts val="300"/>
              </a:spcBef>
              <a:defRPr sz="1100" b="1">
                <a:solidFill>
                  <a:srgbClr val="F8FAFC"/>
                </a:solidFill>
                <a:latin typeface="Segoe UI"/>
              </a:defRPr>
            </a:pPr>
            <a:r>
              <a:t>• Energy Efficiency: </a:t>
            </a:r>
            <a:r>
              <a:rPr sz="1050" b="0">
                <a:solidFill>
                  <a:srgbClr val="94A3B8"/>
                </a:solidFill>
                <a:latin typeface="Segoe UI"/>
              </a:rPr>
              <a:t>Consumes less power and produces less heat than multiple separate single-core chips.</a:t>
            </a:r>
          </a:p>
          <a:p>
            <a:pPr>
              <a:spcBef>
                <a:spcPts val="300"/>
              </a:spcBef>
              <a:defRPr sz="1100" b="1">
                <a:solidFill>
                  <a:srgbClr val="F8FAFC"/>
                </a:solidFill>
                <a:latin typeface="Segoe UI"/>
              </a:defRPr>
            </a:pPr>
            <a:r>
              <a:t>• SMP Architecture: </a:t>
            </a:r>
            <a:r>
              <a:rPr sz="1050" b="0">
                <a:solidFill>
                  <a:srgbClr val="94A3B8"/>
                </a:solidFill>
                <a:latin typeface="Segoe UI"/>
              </a:rPr>
              <a:t>All cores act as peers; each core can run all tasks including OS code and user processes.</a:t>
            </a:r>
          </a:p>
        </p:txBody>
      </p:sp>
      <p:sp>
        <p:nvSpPr>
          <p:cNvPr id="11" name="Rounded Rectangle 10"/>
          <p:cNvSpPr/>
          <p:nvPr/>
        </p:nvSpPr>
        <p:spPr>
          <a:xfrm>
            <a:off x="6126480" y="4023360"/>
            <a:ext cx="5303520" cy="219456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4023360"/>
            <a:ext cx="109728" cy="21945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160520"/>
            <a:ext cx="4937759" cy="365760"/>
          </a:xfrm>
          <a:prstGeom prst="rect">
            <a:avLst/>
          </a:prstGeom>
          <a:noFill/>
        </p:spPr>
        <p:txBody>
          <a:bodyPr wrap="square" lIns="0" tIns="0" rIns="0" bIns="0">
            <a:spAutoFit/>
          </a:bodyPr>
          <a:lstStyle/>
          <a:p>
            <a:pPr>
              <a:defRPr sz="1300" b="1">
                <a:solidFill>
                  <a:srgbClr val="818CF8"/>
                </a:solidFill>
                <a:latin typeface="Segoe UI"/>
              </a:defRPr>
            </a:pPr>
            <a:r>
              <a:t>Core Memory Organization &amp; OS View</a:t>
            </a:r>
          </a:p>
        </p:txBody>
      </p:sp>
      <p:sp>
        <p:nvSpPr>
          <p:cNvPr id="14" name="TextBox 13"/>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Private vs Shared Caches: </a:t>
            </a:r>
            <a:r>
              <a:rPr sz="1050" b="0">
                <a:solidFill>
                  <a:srgbClr val="94A3B8"/>
                </a:solidFill>
                <a:latin typeface="Segoe UI"/>
              </a:rPr>
              <a:t>Each core has dedicated registers and private L1 cache, while sharing on-chip L2/L3 cache and DRAM.</a:t>
            </a:r>
          </a:p>
          <a:p>
            <a:pPr>
              <a:spcBef>
                <a:spcPts val="300"/>
              </a:spcBef>
              <a:defRPr sz="1100" b="1">
                <a:solidFill>
                  <a:srgbClr val="F8FAFC"/>
                </a:solidFill>
                <a:latin typeface="Segoe UI"/>
              </a:defRPr>
            </a:pPr>
            <a:r>
              <a:t>• Logical CPU View: </a:t>
            </a:r>
            <a:r>
              <a:rPr sz="1050" b="0">
                <a:solidFill>
                  <a:srgbClr val="94A3B8"/>
                </a:solidFill>
                <a:latin typeface="Segoe UI"/>
              </a:rPr>
              <a:t>Operating system views each individual core as a separate logical processor unit.</a:t>
            </a:r>
          </a:p>
          <a:p>
            <a:pPr>
              <a:spcBef>
                <a:spcPts val="300"/>
              </a:spcBef>
              <a:defRPr sz="1100" b="1">
                <a:solidFill>
                  <a:srgbClr val="F8FAFC"/>
                </a:solidFill>
                <a:latin typeface="Segoe UI"/>
              </a:defRPr>
            </a:pPr>
            <a:r>
              <a:t>• Scheduling Support: </a:t>
            </a:r>
            <a:r>
              <a:rPr sz="1050" b="0">
                <a:solidFill>
                  <a:srgbClr val="94A3B8"/>
                </a:solidFill>
                <a:latin typeface="Segoe UI"/>
              </a:rPr>
              <a:t>Modern OS schedulers dynamically distribute threads across all available cores concurrently.</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 FOUNDATIONS</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05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Multiprocessor &amp; NUMA Architecture</a:t>
            </a:r>
          </a:p>
          <a:p>
            <a:pPr>
              <a:spcBef>
                <a:spcPts val="200"/>
              </a:spcBef>
              <a:defRPr sz="1200">
                <a:solidFill>
                  <a:srgbClr val="38BDF8"/>
                </a:solidFill>
                <a:latin typeface="Segoe UI"/>
              </a:defRPr>
            </a:pPr>
            <a:r>
              <a:t>Non-Uniform Memory Access for Highly Scalable Multiprocessing (Silberschatz Figure 1.9)</a:t>
            </a:r>
          </a:p>
        </p:txBody>
      </p:sp>
      <p:pic>
        <p:nvPicPr>
          <p:cNvPr id="6" name="Picture 5" descr="numa_architecture.png"/>
          <p:cNvPicPr>
            <a:picLocks noChangeAspect="1"/>
          </p:cNvPicPr>
          <p:nvPr/>
        </p:nvPicPr>
        <p:blipFill>
          <a:blip r:embed="rId2"/>
          <a:stretch>
            <a:fillRect/>
          </a:stretch>
        </p:blipFill>
        <p:spPr>
          <a:xfrm>
            <a:off x="731520" y="1645920"/>
            <a:ext cx="5212080" cy="2823210"/>
          </a:xfrm>
          <a:prstGeom prst="rect">
            <a:avLst/>
          </a:prstGeom>
        </p:spPr>
      </p:pic>
      <p:sp>
        <p:nvSpPr>
          <p:cNvPr id="7" name="Rounded Rectangle 6"/>
          <p:cNvSpPr/>
          <p:nvPr/>
        </p:nvSpPr>
        <p:spPr>
          <a:xfrm>
            <a:off x="6126480" y="1645920"/>
            <a:ext cx="5303520" cy="219456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1645920"/>
            <a:ext cx="109728" cy="21945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59" cy="365760"/>
          </a:xfrm>
          <a:prstGeom prst="rect">
            <a:avLst/>
          </a:prstGeom>
          <a:noFill/>
        </p:spPr>
        <p:txBody>
          <a:bodyPr wrap="square" lIns="0" tIns="0" rIns="0" bIns="0">
            <a:spAutoFit/>
          </a:bodyPr>
          <a:lstStyle/>
          <a:p>
            <a:pPr>
              <a:defRPr sz="1300" b="1">
                <a:solidFill>
                  <a:srgbClr val="F43F5E"/>
                </a:solidFill>
                <a:latin typeface="Segoe UI"/>
              </a:defRPr>
            </a:pPr>
            <a:r>
              <a:t>The Scaling Limit &amp; Bus Bottleneck</a:t>
            </a:r>
          </a:p>
        </p:txBody>
      </p:sp>
      <p:sp>
        <p:nvSpPr>
          <p:cNvPr id="10" name="TextBox 9"/>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Shared Bus Contention: </a:t>
            </a:r>
            <a:r>
              <a:rPr sz="1050" b="0">
                <a:solidFill>
                  <a:srgbClr val="94A3B8"/>
                </a:solidFill>
                <a:latin typeface="Segoe UI"/>
              </a:rPr>
              <a:t>When multiple CPUs share a single memory bus, memory access contention slows the entire system down.</a:t>
            </a:r>
          </a:p>
          <a:p>
            <a:pPr>
              <a:spcBef>
                <a:spcPts val="300"/>
              </a:spcBef>
              <a:defRPr sz="1100" b="1">
                <a:solidFill>
                  <a:srgbClr val="F8FAFC"/>
                </a:solidFill>
                <a:latin typeface="Segoe UI"/>
              </a:defRPr>
            </a:pPr>
            <a:r>
              <a:t>• The Bottleneck: </a:t>
            </a:r>
            <a:r>
              <a:rPr sz="1050" b="0">
                <a:solidFill>
                  <a:srgbClr val="94A3B8"/>
                </a:solidFill>
                <a:latin typeface="Segoe UI"/>
              </a:rPr>
              <a:t>Adding more processors eventually yields diminishing returns because CPUs stall waiting for bus access.</a:t>
            </a:r>
          </a:p>
          <a:p>
            <a:pPr>
              <a:spcBef>
                <a:spcPts val="300"/>
              </a:spcBef>
              <a:defRPr sz="1100" b="1">
                <a:solidFill>
                  <a:srgbClr val="F8FAFC"/>
                </a:solidFill>
                <a:latin typeface="Segoe UI"/>
              </a:defRPr>
            </a:pPr>
            <a:r>
              <a:t>• The NUMA Solution: </a:t>
            </a:r>
            <a:r>
              <a:rPr sz="1050" b="0">
                <a:solidFill>
                  <a:srgbClr val="94A3B8"/>
                </a:solidFill>
                <a:latin typeface="Segoe UI"/>
              </a:rPr>
              <a:t>Distribute memory physically across CPU clusters while maintaining a single shared address space.</a:t>
            </a:r>
          </a:p>
        </p:txBody>
      </p:sp>
      <p:sp>
        <p:nvSpPr>
          <p:cNvPr id="11" name="Rounded Rectangle 10"/>
          <p:cNvSpPr/>
          <p:nvPr/>
        </p:nvSpPr>
        <p:spPr>
          <a:xfrm>
            <a:off x="6126480" y="4023360"/>
            <a:ext cx="5303520" cy="219456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4023360"/>
            <a:ext cx="109728" cy="21945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160520"/>
            <a:ext cx="4937759" cy="365760"/>
          </a:xfrm>
          <a:prstGeom prst="rect">
            <a:avLst/>
          </a:prstGeom>
          <a:noFill/>
        </p:spPr>
        <p:txBody>
          <a:bodyPr wrap="square" lIns="0" tIns="0" rIns="0" bIns="0">
            <a:spAutoFit/>
          </a:bodyPr>
          <a:lstStyle/>
          <a:p>
            <a:pPr>
              <a:defRPr sz="1300" b="1">
                <a:solidFill>
                  <a:srgbClr val="F59E0B"/>
                </a:solidFill>
                <a:latin typeface="Segoe UI"/>
              </a:defRPr>
            </a:pPr>
            <a:r>
              <a:t>Local vs Remote Memory &amp; OS Role</a:t>
            </a:r>
          </a:p>
        </p:txBody>
      </p:sp>
      <p:sp>
        <p:nvSpPr>
          <p:cNvPr id="14" name="TextBox 13"/>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Local Memory Access: </a:t>
            </a:r>
            <a:r>
              <a:rPr sz="1050" b="0">
                <a:solidFill>
                  <a:srgbClr val="94A3B8"/>
                </a:solidFill>
                <a:latin typeface="Segoe UI"/>
              </a:rPr>
              <a:t>CPU accessing its own attached local memory is ultra-fast with zero bus contention.</a:t>
            </a:r>
          </a:p>
          <a:p>
            <a:pPr>
              <a:spcBef>
                <a:spcPts val="300"/>
              </a:spcBef>
              <a:defRPr sz="1100" b="1">
                <a:solidFill>
                  <a:srgbClr val="F8FAFC"/>
                </a:solidFill>
                <a:latin typeface="Segoe UI"/>
              </a:defRPr>
            </a:pPr>
            <a:r>
              <a:t>• Remote Memory Access: </a:t>
            </a:r>
            <a:r>
              <a:rPr sz="1050" b="0">
                <a:solidFill>
                  <a:srgbClr val="94A3B8"/>
                </a:solidFill>
                <a:latin typeface="Segoe UI"/>
              </a:rPr>
              <a:t>Accessing memory on another node traverses the system interconnect, incurring higher latency.</a:t>
            </a:r>
          </a:p>
          <a:p>
            <a:pPr>
              <a:spcBef>
                <a:spcPts val="300"/>
              </a:spcBef>
              <a:defRPr sz="1100" b="1">
                <a:solidFill>
                  <a:srgbClr val="F8FAFC"/>
                </a:solidFill>
                <a:latin typeface="Segoe UI"/>
              </a:defRPr>
            </a:pPr>
            <a:r>
              <a:t>• OS NUMA Awareness: </a:t>
            </a:r>
            <a:r>
              <a:rPr sz="1050" b="0">
                <a:solidFill>
                  <a:srgbClr val="94A3B8"/>
                </a:solidFill>
                <a:latin typeface="Segoe UI"/>
              </a:rPr>
              <a:t>Operating systems schedule processes on the CPU closest to where the process memory is allocated.</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06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How the OS Operates with Hardware</a:t>
            </a:r>
          </a:p>
          <a:p>
            <a:pPr>
              <a:spcBef>
                <a:spcPts val="200"/>
              </a:spcBef>
              <a:defRPr sz="1200">
                <a:solidFill>
                  <a:srgbClr val="38BDF8"/>
                </a:solidFill>
                <a:latin typeface="Segoe UI"/>
              </a:defRPr>
            </a:pPr>
            <a:r>
              <a:t>Maintaining Control via the Interrupt Mechanism</a:t>
            </a:r>
          </a:p>
        </p:txBody>
      </p:sp>
      <p:sp>
        <p:nvSpPr>
          <p:cNvPr id="6" name="Rounded Rectangle 5"/>
          <p:cNvSpPr/>
          <p:nvPr/>
        </p:nvSpPr>
        <p:spPr>
          <a:xfrm>
            <a:off x="731520" y="1645920"/>
            <a:ext cx="10728655" cy="118872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118872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10362895" cy="365760"/>
          </a:xfrm>
          <a:prstGeom prst="rect">
            <a:avLst/>
          </a:prstGeom>
          <a:noFill/>
        </p:spPr>
        <p:txBody>
          <a:bodyPr wrap="square" lIns="0" tIns="0" rIns="0" bIns="0">
            <a:spAutoFit/>
          </a:bodyPr>
          <a:lstStyle/>
          <a:p>
            <a:pPr>
              <a:defRPr sz="1300" b="1">
                <a:solidFill>
                  <a:srgbClr val="38BDF8"/>
                </a:solidFill>
                <a:latin typeface="Segoe UI"/>
              </a:defRPr>
            </a:pPr>
            <a:r>
              <a:t>The Hardware-to-OS Interrupt Chain</a:t>
            </a:r>
          </a:p>
        </p:txBody>
      </p:sp>
      <p:sp>
        <p:nvSpPr>
          <p:cNvPr id="9" name="TextBox 8"/>
          <p:cNvSpPr txBox="1"/>
          <p:nvPr/>
        </p:nvSpPr>
        <p:spPr>
          <a:xfrm>
            <a:off x="1005840" y="1965960"/>
            <a:ext cx="10241280" cy="731520"/>
          </a:xfrm>
          <a:prstGeom prst="rect">
            <a:avLst/>
          </a:prstGeom>
          <a:noFill/>
        </p:spPr>
        <p:txBody>
          <a:bodyPr wrap="square">
            <a:spAutoFit/>
          </a:bodyPr>
          <a:lstStyle/>
          <a:p>
            <a:r>
              <a:rPr b="1">
                <a:solidFill>
                  <a:srgbClr val="38BDF8"/>
                </a:solidFill>
              </a:rPr>
              <a:t>[1. Device Event]</a:t>
            </a:r>
            <a:r>
              <a:rPr>
                <a:solidFill>
                  <a:srgbClr val="F8FAFC"/>
                </a:solidFill>
              </a:rPr>
              <a:t> Hardware generates signal</a:t>
            </a:r>
            <a:r>
              <a:rPr b="1">
                <a:solidFill>
                  <a:srgbClr val="F59E0B"/>
                </a:solidFill>
              </a:rPr>
              <a:t>  →  </a:t>
            </a:r>
            <a:r>
              <a:rPr b="1">
                <a:solidFill>
                  <a:srgbClr val="38BDF8"/>
                </a:solidFill>
              </a:rPr>
              <a:t>[2. CPU Interrupted]</a:t>
            </a:r>
            <a:r>
              <a:rPr>
                <a:solidFill>
                  <a:srgbClr val="F8FAFC"/>
                </a:solidFill>
              </a:rPr>
              <a:t> Suspends current instruction</a:t>
            </a:r>
            <a:r>
              <a:rPr b="1">
                <a:solidFill>
                  <a:srgbClr val="F59E0B"/>
                </a:solidFill>
              </a:rPr>
              <a:t>  →  </a:t>
            </a:r>
            <a:r>
              <a:rPr b="1">
                <a:solidFill>
                  <a:srgbClr val="38BDF8"/>
                </a:solidFill>
              </a:rPr>
              <a:t>[3. State Saved]</a:t>
            </a:r>
            <a:r>
              <a:rPr>
                <a:solidFill>
                  <a:srgbClr val="F8FAFC"/>
                </a:solidFill>
              </a:rPr>
              <a:t> Saves PC &amp; Registers</a:t>
            </a:r>
            <a:r>
              <a:rPr b="1">
                <a:solidFill>
                  <a:srgbClr val="F59E0B"/>
                </a:solidFill>
              </a:rPr>
              <a:t>  →  </a:t>
            </a:r>
            <a:r>
              <a:rPr b="1">
                <a:solidFill>
                  <a:srgbClr val="38BDF8"/>
                </a:solidFill>
              </a:rPr>
              <a:t>[4. IVT Lookup]</a:t>
            </a:r>
            <a:r>
              <a:rPr>
                <a:solidFill>
                  <a:srgbClr val="F8FAFC"/>
                </a:solidFill>
              </a:rPr>
              <a:t> Fetches handler address</a:t>
            </a:r>
            <a:r>
              <a:rPr b="1">
                <a:solidFill>
                  <a:srgbClr val="F59E0B"/>
                </a:solidFill>
              </a:rPr>
              <a:t>  →  </a:t>
            </a:r>
            <a:r>
              <a:rPr b="1">
                <a:solidFill>
                  <a:srgbClr val="38BDF8"/>
                </a:solidFill>
              </a:rPr>
              <a:t>[5. ISR Executes]</a:t>
            </a:r>
            <a:r>
              <a:rPr>
                <a:solidFill>
                  <a:srgbClr val="F8FAFC"/>
                </a:solidFill>
              </a:rPr>
              <a:t> Kernel services event</a:t>
            </a:r>
            <a:r>
              <a:rPr b="1">
                <a:solidFill>
                  <a:srgbClr val="F59E0B"/>
                </a:solidFill>
              </a:rPr>
              <a:t>  →  </a:t>
            </a:r>
            <a:r>
              <a:rPr b="1">
                <a:solidFill>
                  <a:srgbClr val="38BDF8"/>
                </a:solidFill>
              </a:rPr>
              <a:t>[6. Return]</a:t>
            </a:r>
            <a:r>
              <a:rPr>
                <a:solidFill>
                  <a:srgbClr val="F8FAFC"/>
                </a:solidFill>
              </a:rPr>
              <a:t> Restores user process</a:t>
            </a:r>
          </a:p>
        </p:txBody>
      </p:sp>
      <p:sp>
        <p:nvSpPr>
          <p:cNvPr id="10" name="Rounded Rectangle 9"/>
          <p:cNvSpPr/>
          <p:nvPr/>
        </p:nvSpPr>
        <p:spPr>
          <a:xfrm>
            <a:off x="731520" y="3017520"/>
            <a:ext cx="5212080" cy="320040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3017520"/>
            <a:ext cx="109728" cy="32004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154679"/>
            <a:ext cx="4846320" cy="365760"/>
          </a:xfrm>
          <a:prstGeom prst="rect">
            <a:avLst/>
          </a:prstGeom>
          <a:noFill/>
        </p:spPr>
        <p:txBody>
          <a:bodyPr wrap="square" lIns="0" tIns="0" rIns="0" bIns="0">
            <a:spAutoFit/>
          </a:bodyPr>
          <a:lstStyle/>
          <a:p>
            <a:pPr>
              <a:defRPr sz="1300" b="1">
                <a:solidFill>
                  <a:srgbClr val="818CF8"/>
                </a:solidFill>
                <a:latin typeface="Segoe UI"/>
              </a:defRPr>
            </a:pPr>
            <a:r>
              <a:t>Event-Driven OS Operation</a:t>
            </a:r>
          </a:p>
        </p:txBody>
      </p:sp>
      <p:sp>
        <p:nvSpPr>
          <p:cNvPr id="13" name="TextBox 12"/>
          <p:cNvSpPr txBox="1"/>
          <p:nvPr/>
        </p:nvSpPr>
        <p:spPr>
          <a:xfrm>
            <a:off x="1005840" y="3383280"/>
            <a:ext cx="4754880" cy="2651760"/>
          </a:xfrm>
          <a:prstGeom prst="rect">
            <a:avLst/>
          </a:prstGeom>
          <a:noFill/>
        </p:spPr>
        <p:txBody>
          <a:bodyPr wrap="square">
            <a:spAutoFit/>
          </a:bodyPr>
          <a:lstStyle/>
          <a:p>
            <a:pPr>
              <a:defRPr sz="1100" b="1">
                <a:solidFill>
                  <a:srgbClr val="F8FAFC"/>
                </a:solidFill>
                <a:latin typeface="Segoe UI"/>
              </a:defRPr>
            </a:pPr>
            <a:r>
              <a:t>• The Control Problem:</a:t>
            </a:r>
            <a:br/>
            <a:r>
              <a:rPr sz="1050" b="0">
                <a:solidFill>
                  <a:srgbClr val="94A3B8"/>
                </a:solidFill>
                <a:latin typeface="Segoe UI"/>
              </a:rPr>
              <a:t>The operating system must maintain control over computer hardware without wasting CPU cycles constantly polling devices.</a:t>
            </a:r>
          </a:p>
          <a:p>
            <a:pPr>
              <a:spcBef>
                <a:spcPts val="400"/>
              </a:spcBef>
              <a:defRPr sz="1100" b="1">
                <a:solidFill>
                  <a:srgbClr val="F8FAFC"/>
                </a:solidFill>
                <a:latin typeface="Segoe UI"/>
              </a:defRPr>
            </a:pPr>
            <a:r>
              <a:t>• Interrupt-Driven Execution:</a:t>
            </a:r>
            <a:br/>
            <a:r>
              <a:rPr sz="1050" b="0">
                <a:solidFill>
                  <a:srgbClr val="94A3B8"/>
                </a:solidFill>
                <a:latin typeface="Segoe UI"/>
              </a:rPr>
              <a:t>Modern operating systems are event-driven. If there are no processes to execute, no I/O requests, and no user input, the OS sits idle.</a:t>
            </a:r>
          </a:p>
          <a:p>
            <a:pPr>
              <a:spcBef>
                <a:spcPts val="400"/>
              </a:spcBef>
              <a:defRPr sz="1100" b="1">
                <a:solidFill>
                  <a:srgbClr val="F8FAFC"/>
                </a:solidFill>
                <a:latin typeface="Segoe UI"/>
              </a:defRPr>
            </a:pPr>
            <a:r>
              <a:t>• Asynchronous Signaling:</a:t>
            </a:r>
            <a:br/>
            <a:r>
              <a:rPr sz="1050" b="0">
                <a:solidFill>
                  <a:srgbClr val="94A3B8"/>
                </a:solidFill>
                <a:latin typeface="Segoe UI"/>
              </a:rPr>
              <a:t>Hardware devices signal the CPU asynchronously via system bus interrupt lines whenever an operation completes.</a:t>
            </a:r>
          </a:p>
        </p:txBody>
      </p:sp>
      <p:sp>
        <p:nvSpPr>
          <p:cNvPr id="14" name="Rounded Rectangle 13"/>
          <p:cNvSpPr/>
          <p:nvPr/>
        </p:nvSpPr>
        <p:spPr>
          <a:xfrm>
            <a:off x="6217920" y="3017520"/>
            <a:ext cx="5212080" cy="320040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3017520"/>
            <a:ext cx="109728" cy="32004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3154679"/>
            <a:ext cx="4846320" cy="365760"/>
          </a:xfrm>
          <a:prstGeom prst="rect">
            <a:avLst/>
          </a:prstGeom>
          <a:noFill/>
        </p:spPr>
        <p:txBody>
          <a:bodyPr wrap="square" lIns="0" tIns="0" rIns="0" bIns="0">
            <a:spAutoFit/>
          </a:bodyPr>
          <a:lstStyle/>
          <a:p>
            <a:pPr>
              <a:defRPr sz="1300" b="1">
                <a:solidFill>
                  <a:srgbClr val="34D399"/>
                </a:solidFill>
                <a:latin typeface="Segoe UI"/>
              </a:defRPr>
            </a:pPr>
            <a:r>
              <a:t>Interrupt Handling &amp; Vector Table</a:t>
            </a:r>
          </a:p>
        </p:txBody>
      </p:sp>
      <p:sp>
        <p:nvSpPr>
          <p:cNvPr id="17" name="TextBox 16"/>
          <p:cNvSpPr txBox="1"/>
          <p:nvPr/>
        </p:nvSpPr>
        <p:spPr>
          <a:xfrm>
            <a:off x="6492240" y="3383280"/>
            <a:ext cx="4754880" cy="2651760"/>
          </a:xfrm>
          <a:prstGeom prst="rect">
            <a:avLst/>
          </a:prstGeom>
          <a:noFill/>
        </p:spPr>
        <p:txBody>
          <a:bodyPr wrap="square">
            <a:spAutoFit/>
          </a:bodyPr>
          <a:lstStyle/>
          <a:p>
            <a:pPr>
              <a:defRPr sz="1100" b="1">
                <a:solidFill>
                  <a:srgbClr val="F8FAFC"/>
                </a:solidFill>
                <a:latin typeface="Segoe UI"/>
              </a:defRPr>
            </a:pPr>
            <a:r>
              <a:t>• Interrupt Vector Table (IVT):</a:t>
            </a:r>
            <a:br/>
            <a:r>
              <a:rPr sz="1050" b="0">
                <a:solidFill>
                  <a:srgbClr val="94A3B8"/>
                </a:solidFill>
                <a:latin typeface="Segoe UI"/>
              </a:rPr>
              <a:t>An array of pointers stored in low memory containing the entry addresses of specialized Interrupt Service Routines (ISRs).</a:t>
            </a:r>
          </a:p>
          <a:p>
            <a:pPr>
              <a:spcBef>
                <a:spcPts val="400"/>
              </a:spcBef>
              <a:defRPr sz="1100" b="1">
                <a:solidFill>
                  <a:srgbClr val="F8FAFC"/>
                </a:solidFill>
                <a:latin typeface="Segoe UI"/>
              </a:defRPr>
            </a:pPr>
            <a:r>
              <a:t>• Context Preservation:</a:t>
            </a:r>
            <a:br/>
            <a:r>
              <a:rPr sz="1050" b="0">
                <a:solidFill>
                  <a:srgbClr val="94A3B8"/>
                </a:solidFill>
                <a:latin typeface="Segoe UI"/>
              </a:rPr>
              <a:t>CPU hardware automatically pushes the Program Counter (PC) and CPU status registers onto the kernel stack before branching.</a:t>
            </a:r>
          </a:p>
          <a:p>
            <a:pPr>
              <a:spcBef>
                <a:spcPts val="400"/>
              </a:spcBef>
              <a:defRPr sz="1100" b="1">
                <a:solidFill>
                  <a:srgbClr val="F8FAFC"/>
                </a:solidFill>
                <a:latin typeface="Segoe UI"/>
              </a:defRPr>
            </a:pPr>
            <a:r>
              <a:t>• Handler Execution &amp; Return:</a:t>
            </a:r>
            <a:br/>
            <a:r>
              <a:rPr sz="1050" b="0">
                <a:solidFill>
                  <a:srgbClr val="94A3B8"/>
                </a:solidFill>
                <a:latin typeface="Segoe UI"/>
              </a:rPr>
              <a:t>The OS handles the request, acknowledges the interrupt controller, and executes a return-from-interrupt instruction to resume the interrupted process seamlessly.</a:t>
            </a:r>
          </a:p>
        </p:txBody>
      </p:sp>
      <p:sp>
        <p:nvSpPr>
          <p:cNvPr id="18" name="TextBox 17"/>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07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Interrupts, Traps &amp; System Calls</a:t>
            </a:r>
          </a:p>
          <a:p>
            <a:pPr>
              <a:spcBef>
                <a:spcPts val="200"/>
              </a:spcBef>
              <a:defRPr sz="1200">
                <a:solidFill>
                  <a:srgbClr val="38BDF8"/>
                </a:solidFill>
                <a:latin typeface="Segoe UI"/>
              </a:defRPr>
            </a:pPr>
            <a:r>
              <a:t>Distinguishing Hardware Signals, Software Exceptions, and Kernel Requests</a:t>
            </a:r>
          </a:p>
        </p:txBody>
      </p:sp>
      <p:sp>
        <p:nvSpPr>
          <p:cNvPr id="6" name="Rounded Rectangle 5"/>
          <p:cNvSpPr/>
          <p:nvPr/>
        </p:nvSpPr>
        <p:spPr>
          <a:xfrm>
            <a:off x="731520" y="1645920"/>
            <a:ext cx="3383280" cy="283464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8346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Hardware Interrupt</a:t>
            </a:r>
          </a:p>
        </p:txBody>
      </p:sp>
      <p:sp>
        <p:nvSpPr>
          <p:cNvPr id="9" name="TextBox 8"/>
          <p:cNvSpPr txBox="1"/>
          <p:nvPr/>
        </p:nvSpPr>
        <p:spPr>
          <a:xfrm>
            <a:off x="960120" y="2011680"/>
            <a:ext cx="3017520" cy="2377440"/>
          </a:xfrm>
          <a:prstGeom prst="rect">
            <a:avLst/>
          </a:prstGeom>
          <a:noFill/>
        </p:spPr>
        <p:txBody>
          <a:bodyPr wrap="square">
            <a:spAutoFit/>
          </a:bodyPr>
          <a:lstStyle/>
          <a:p>
            <a:pPr>
              <a:defRPr sz="1100" b="1">
                <a:solidFill>
                  <a:srgbClr val="38BDF8"/>
                </a:solidFill>
                <a:latin typeface="Segoe UI"/>
              </a:defRPr>
            </a:pPr>
            <a:r>
              <a:t>Origin: </a:t>
            </a:r>
            <a:r>
              <a:rPr sz="1050" b="0">
                <a:solidFill>
                  <a:srgbClr val="94A3B8"/>
                </a:solidFill>
                <a:latin typeface="Segoe UI"/>
              </a:rPr>
              <a:t>Generated by physical hardware devices.</a:t>
            </a:r>
          </a:p>
          <a:p>
            <a:pPr>
              <a:spcBef>
                <a:spcPts val="300"/>
              </a:spcBef>
              <a:defRPr sz="1100" b="1">
                <a:solidFill>
                  <a:srgbClr val="38BDF8"/>
                </a:solidFill>
                <a:latin typeface="Segoe UI"/>
              </a:defRPr>
            </a:pPr>
            <a:r>
              <a:t>Timing: </a:t>
            </a:r>
            <a:r>
              <a:rPr sz="1050" b="0">
                <a:solidFill>
                  <a:srgbClr val="94A3B8"/>
                </a:solidFill>
                <a:latin typeface="Segoe UI"/>
              </a:rPr>
              <a:t>Asynchronous (can happen at any moment during instruction execution).</a:t>
            </a:r>
          </a:p>
          <a:p>
            <a:pPr>
              <a:spcBef>
                <a:spcPts val="300"/>
              </a:spcBef>
              <a:defRPr sz="1100" b="1">
                <a:solidFill>
                  <a:srgbClr val="38BDF8"/>
                </a:solidFill>
                <a:latin typeface="Segoe UI"/>
              </a:defRPr>
            </a:pPr>
            <a:r>
              <a:t>Examples: </a:t>
            </a:r>
            <a:r>
              <a:rPr sz="1050" b="0">
                <a:solidFill>
                  <a:srgbClr val="94A3B8"/>
                </a:solidFill>
                <a:latin typeface="Segoe UI"/>
              </a:rPr>
              <a:t>Timer tick, keyboard keystroke, network packet arrival, disk transfer completion.</a:t>
            </a:r>
          </a:p>
        </p:txBody>
      </p:sp>
      <p:sp>
        <p:nvSpPr>
          <p:cNvPr id="10" name="Rounded Rectangle 9"/>
          <p:cNvSpPr/>
          <p:nvPr/>
        </p:nvSpPr>
        <p:spPr>
          <a:xfrm>
            <a:off x="4389120" y="1645920"/>
            <a:ext cx="3383280" cy="283464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645920"/>
            <a:ext cx="109728" cy="283464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783080"/>
            <a:ext cx="3017520" cy="365760"/>
          </a:xfrm>
          <a:prstGeom prst="rect">
            <a:avLst/>
          </a:prstGeom>
          <a:noFill/>
        </p:spPr>
        <p:txBody>
          <a:bodyPr wrap="square" lIns="0" tIns="0" rIns="0" bIns="0">
            <a:spAutoFit/>
          </a:bodyPr>
          <a:lstStyle/>
          <a:p>
            <a:pPr>
              <a:defRPr sz="1300" b="1">
                <a:solidFill>
                  <a:srgbClr val="F59E0B"/>
                </a:solidFill>
                <a:latin typeface="Segoe UI"/>
              </a:defRPr>
            </a:pPr>
            <a:r>
              <a:t>Trap / Exception</a:t>
            </a:r>
          </a:p>
        </p:txBody>
      </p:sp>
      <p:sp>
        <p:nvSpPr>
          <p:cNvPr id="13" name="TextBox 12"/>
          <p:cNvSpPr txBox="1"/>
          <p:nvPr/>
        </p:nvSpPr>
        <p:spPr>
          <a:xfrm>
            <a:off x="4617720" y="2011680"/>
            <a:ext cx="3017520" cy="2377440"/>
          </a:xfrm>
          <a:prstGeom prst="rect">
            <a:avLst/>
          </a:prstGeom>
          <a:noFill/>
        </p:spPr>
        <p:txBody>
          <a:bodyPr wrap="square">
            <a:spAutoFit/>
          </a:bodyPr>
          <a:lstStyle/>
          <a:p>
            <a:pPr>
              <a:defRPr sz="1100" b="1">
                <a:solidFill>
                  <a:srgbClr val="F59E0B"/>
                </a:solidFill>
                <a:latin typeface="Segoe UI"/>
              </a:defRPr>
            </a:pPr>
            <a:r>
              <a:t>Origin: </a:t>
            </a:r>
            <a:r>
              <a:rPr sz="1050" b="0">
                <a:solidFill>
                  <a:srgbClr val="94A3B8"/>
                </a:solidFill>
                <a:latin typeface="Segoe UI"/>
              </a:rPr>
              <a:t>Generated by the CPU or software execution.</a:t>
            </a:r>
          </a:p>
          <a:p>
            <a:pPr>
              <a:spcBef>
                <a:spcPts val="300"/>
              </a:spcBef>
              <a:defRPr sz="1100" b="1">
                <a:solidFill>
                  <a:srgbClr val="F59E0B"/>
                </a:solidFill>
                <a:latin typeface="Segoe UI"/>
              </a:defRPr>
            </a:pPr>
            <a:r>
              <a:t>Timing: </a:t>
            </a:r>
            <a:r>
              <a:rPr sz="1050" b="0">
                <a:solidFill>
                  <a:srgbClr val="94A3B8"/>
                </a:solidFill>
                <a:latin typeface="Segoe UI"/>
              </a:rPr>
              <a:t>Synchronous (occurs exactly at the execution of a specific instruction).</a:t>
            </a:r>
          </a:p>
          <a:p>
            <a:pPr>
              <a:spcBef>
                <a:spcPts val="300"/>
              </a:spcBef>
              <a:defRPr sz="1100" b="1">
                <a:solidFill>
                  <a:srgbClr val="F59E0B"/>
                </a:solidFill>
                <a:latin typeface="Segoe UI"/>
              </a:defRPr>
            </a:pPr>
            <a:r>
              <a:t>Examples: </a:t>
            </a:r>
            <a:r>
              <a:rPr sz="1050" b="0">
                <a:solidFill>
                  <a:srgbClr val="94A3B8"/>
                </a:solidFill>
                <a:latin typeface="Segoe UI"/>
              </a:rPr>
              <a:t>Division by zero, invalid memory access (page fault), intentional software trap.</a:t>
            </a:r>
          </a:p>
        </p:txBody>
      </p:sp>
      <p:sp>
        <p:nvSpPr>
          <p:cNvPr id="14" name="Rounded Rectangle 13"/>
          <p:cNvSpPr/>
          <p:nvPr/>
        </p:nvSpPr>
        <p:spPr>
          <a:xfrm>
            <a:off x="8046720" y="1645920"/>
            <a:ext cx="3383280" cy="283464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20" y="1645920"/>
            <a:ext cx="109728" cy="28346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017520" cy="365760"/>
          </a:xfrm>
          <a:prstGeom prst="rect">
            <a:avLst/>
          </a:prstGeom>
          <a:noFill/>
        </p:spPr>
        <p:txBody>
          <a:bodyPr wrap="square" lIns="0" tIns="0" rIns="0" bIns="0">
            <a:spAutoFit/>
          </a:bodyPr>
          <a:lstStyle/>
          <a:p>
            <a:pPr>
              <a:defRPr sz="1300" b="1">
                <a:solidFill>
                  <a:srgbClr val="34D399"/>
                </a:solidFill>
                <a:latin typeface="Segoe UI"/>
              </a:defRPr>
            </a:pPr>
            <a:r>
              <a:t>System Call</a:t>
            </a:r>
          </a:p>
        </p:txBody>
      </p:sp>
      <p:sp>
        <p:nvSpPr>
          <p:cNvPr id="17" name="TextBox 16"/>
          <p:cNvSpPr txBox="1"/>
          <p:nvPr/>
        </p:nvSpPr>
        <p:spPr>
          <a:xfrm>
            <a:off x="8275320" y="2011680"/>
            <a:ext cx="3017520" cy="2377440"/>
          </a:xfrm>
          <a:prstGeom prst="rect">
            <a:avLst/>
          </a:prstGeom>
          <a:noFill/>
        </p:spPr>
        <p:txBody>
          <a:bodyPr wrap="square">
            <a:spAutoFit/>
          </a:bodyPr>
          <a:lstStyle/>
          <a:p>
            <a:pPr>
              <a:defRPr sz="1100" b="1">
                <a:solidFill>
                  <a:srgbClr val="34D399"/>
                </a:solidFill>
                <a:latin typeface="Segoe UI"/>
              </a:defRPr>
            </a:pPr>
            <a:r>
              <a:t>Origin: </a:t>
            </a:r>
            <a:r>
              <a:rPr sz="1050" b="0">
                <a:solidFill>
                  <a:srgbClr val="94A3B8"/>
                </a:solidFill>
                <a:latin typeface="Segoe UI"/>
              </a:rPr>
              <a:t>Programmatic request by user software.</a:t>
            </a:r>
          </a:p>
          <a:p>
            <a:pPr>
              <a:spcBef>
                <a:spcPts val="300"/>
              </a:spcBef>
              <a:defRPr sz="1100" b="1">
                <a:solidFill>
                  <a:srgbClr val="34D399"/>
                </a:solidFill>
                <a:latin typeface="Segoe UI"/>
              </a:defRPr>
            </a:pPr>
            <a:r>
              <a:t>Purpose: </a:t>
            </a:r>
            <a:r>
              <a:rPr sz="1050" b="0">
                <a:solidFill>
                  <a:srgbClr val="94A3B8"/>
                </a:solidFill>
                <a:latin typeface="Segoe UI"/>
              </a:rPr>
              <a:t>Allows user programs to request privileged operating system services.</a:t>
            </a:r>
          </a:p>
          <a:p>
            <a:pPr>
              <a:spcBef>
                <a:spcPts val="300"/>
              </a:spcBef>
              <a:defRPr sz="1100" b="1">
                <a:solidFill>
                  <a:srgbClr val="34D399"/>
                </a:solidFill>
                <a:latin typeface="Segoe UI"/>
              </a:defRPr>
            </a:pPr>
            <a:r>
              <a:t>Examples: </a:t>
            </a:r>
            <a:r>
              <a:rPr sz="1050" b="0">
                <a:solidFill>
                  <a:srgbClr val="94A3B8"/>
                </a:solidFill>
                <a:latin typeface="Segoe UI"/>
              </a:rPr>
              <a:t>File operations (read/write), process creation (fork/exec), network communication.</a:t>
            </a:r>
          </a:p>
        </p:txBody>
      </p:sp>
      <p:sp>
        <p:nvSpPr>
          <p:cNvPr id="18" name="Rounded Rectangle 17"/>
          <p:cNvSpPr/>
          <p:nvPr/>
        </p:nvSpPr>
        <p:spPr>
          <a:xfrm>
            <a:off x="731520" y="4663440"/>
            <a:ext cx="10728655" cy="155448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4663440"/>
            <a:ext cx="109728" cy="15544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800600"/>
            <a:ext cx="10362895" cy="365760"/>
          </a:xfrm>
          <a:prstGeom prst="rect">
            <a:avLst/>
          </a:prstGeom>
          <a:noFill/>
        </p:spPr>
        <p:txBody>
          <a:bodyPr wrap="square" lIns="0" tIns="0" rIns="0" bIns="0">
            <a:spAutoFit/>
          </a:bodyPr>
          <a:lstStyle/>
          <a:p>
            <a:pPr>
              <a:defRPr sz="1300" b="1">
                <a:solidFill>
                  <a:srgbClr val="818CF8"/>
                </a:solidFill>
                <a:latin typeface="Segoe UI"/>
              </a:defRPr>
            </a:pPr>
            <a:r>
              <a:t>The System-Call Execution Pipeline (Silberschatz Flow)</a:t>
            </a:r>
          </a:p>
        </p:txBody>
      </p:sp>
      <p:sp>
        <p:nvSpPr>
          <p:cNvPr id="21" name="TextBox 20"/>
          <p:cNvSpPr txBox="1"/>
          <p:nvPr/>
        </p:nvSpPr>
        <p:spPr>
          <a:xfrm>
            <a:off x="1005840" y="4983480"/>
            <a:ext cx="10241280" cy="1097280"/>
          </a:xfrm>
          <a:prstGeom prst="rect">
            <a:avLst/>
          </a:prstGeom>
          <a:noFill/>
        </p:spPr>
        <p:txBody>
          <a:bodyPr wrap="square">
            <a:spAutoFit/>
          </a:bodyPr>
          <a:lstStyle/>
          <a:p>
            <a:pPr>
              <a:defRPr sz="1050" b="1">
                <a:solidFill>
                  <a:srgbClr val="F8FAFC"/>
                </a:solidFill>
                <a:latin typeface="Segoe UI"/>
              </a:defRPr>
            </a:pPr>
            <a:r>
              <a:t>1. USER PROGRAM executes system call library wrapper   →   2. TRAP INSTRUCTION triggers hardware mode switch   →   3. KERNEL INDEXES Interrupt/Syscall Vector table</a:t>
            </a:r>
          </a:p>
          <a:p>
            <a:pPr>
              <a:spcBef>
                <a:spcPts val="400"/>
              </a:spcBef>
              <a:defRPr sz="1050" b="1">
                <a:solidFill>
                  <a:srgbClr val="38BDF8"/>
                </a:solidFill>
                <a:latin typeface="Segoe UI"/>
              </a:defRPr>
            </a:pPr>
            <a:r>
              <a:t>   →   4. KERNEL SERVICE ROUTINE executes privileged operation   →   5. RETURN-FROM-TRAP restores User Mode &amp; resumes application</a:t>
            </a:r>
          </a:p>
        </p:txBody>
      </p:sp>
      <p:sp>
        <p:nvSpPr>
          <p:cNvPr id="22" name="TextBox 21"/>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08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Dual-Mode CPU Operation</a:t>
            </a:r>
          </a:p>
          <a:p>
            <a:pPr>
              <a:spcBef>
                <a:spcPts val="200"/>
              </a:spcBef>
              <a:defRPr sz="1200">
                <a:solidFill>
                  <a:srgbClr val="38BDF8"/>
                </a:solidFill>
                <a:latin typeface="Segoe UI"/>
              </a:defRPr>
            </a:pPr>
            <a:r>
              <a:t>Hardware-Enforced Protection via the Mode Bit (Silberschatz Figure 1.14)</a:t>
            </a:r>
          </a:p>
        </p:txBody>
      </p:sp>
      <p:pic>
        <p:nvPicPr>
          <p:cNvPr id="6" name="Picture 5" descr="dual_mode.png"/>
          <p:cNvPicPr>
            <a:picLocks noChangeAspect="1"/>
          </p:cNvPicPr>
          <p:nvPr/>
        </p:nvPicPr>
        <p:blipFill>
          <a:blip r:embed="rId2"/>
          <a:stretch>
            <a:fillRect/>
          </a:stretch>
        </p:blipFill>
        <p:spPr>
          <a:xfrm>
            <a:off x="731520" y="1645920"/>
            <a:ext cx="5212080" cy="2823210"/>
          </a:xfrm>
          <a:prstGeom prst="rect">
            <a:avLst/>
          </a:prstGeom>
        </p:spPr>
      </p:pic>
      <p:sp>
        <p:nvSpPr>
          <p:cNvPr id="7" name="Rounded Rectangle 6"/>
          <p:cNvSpPr/>
          <p:nvPr/>
        </p:nvSpPr>
        <p:spPr>
          <a:xfrm>
            <a:off x="6126480" y="1645920"/>
            <a:ext cx="5303520" cy="219456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1645920"/>
            <a:ext cx="109728" cy="2194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59" cy="365760"/>
          </a:xfrm>
          <a:prstGeom prst="rect">
            <a:avLst/>
          </a:prstGeom>
          <a:noFill/>
        </p:spPr>
        <p:txBody>
          <a:bodyPr wrap="square" lIns="0" tIns="0" rIns="0" bIns="0">
            <a:spAutoFit/>
          </a:bodyPr>
          <a:lstStyle/>
          <a:p>
            <a:pPr>
              <a:defRPr sz="1300" b="1">
                <a:solidFill>
                  <a:srgbClr val="38BDF8"/>
                </a:solidFill>
                <a:latin typeface="Segoe UI"/>
              </a:defRPr>
            </a:pPr>
            <a:r>
              <a:t>The Mode Bit Architecture</a:t>
            </a:r>
          </a:p>
        </p:txBody>
      </p:sp>
      <p:sp>
        <p:nvSpPr>
          <p:cNvPr id="10" name="TextBox 9"/>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Hardware Mode Bit: </a:t>
            </a:r>
            <a:r>
              <a:rPr sz="1050" b="0">
                <a:solidFill>
                  <a:srgbClr val="94A3B8"/>
                </a:solidFill>
                <a:latin typeface="Segoe UI"/>
              </a:rPr>
              <a:t>A dedicated bit in the processor status register indicating current execution privilege.</a:t>
            </a:r>
          </a:p>
          <a:p>
            <a:pPr>
              <a:spcBef>
                <a:spcPts val="300"/>
              </a:spcBef>
              <a:defRPr sz="1100" b="1">
                <a:solidFill>
                  <a:srgbClr val="F8FAFC"/>
                </a:solidFill>
                <a:latin typeface="Segoe UI"/>
              </a:defRPr>
            </a:pPr>
            <a:r>
              <a:t>• User Mode (Mode Bit = 1): </a:t>
            </a:r>
            <a:r>
              <a:rPr sz="1050" b="0">
                <a:solidFill>
                  <a:srgbClr val="94A3B8"/>
                </a:solidFill>
                <a:latin typeface="Segoe UI"/>
              </a:rPr>
              <a:t>Execution done on behalf of user applications. Hardware access is strictly restricted.</a:t>
            </a:r>
          </a:p>
          <a:p>
            <a:pPr>
              <a:spcBef>
                <a:spcPts val="300"/>
              </a:spcBef>
              <a:defRPr sz="1100" b="1">
                <a:solidFill>
                  <a:srgbClr val="F8FAFC"/>
                </a:solidFill>
                <a:latin typeface="Segoe UI"/>
              </a:defRPr>
            </a:pPr>
            <a:r>
              <a:t>• Kernel Mode (Mode Bit = 0): </a:t>
            </a:r>
            <a:r>
              <a:rPr sz="1050" b="0">
                <a:solidFill>
                  <a:srgbClr val="94A3B8"/>
                </a:solidFill>
                <a:latin typeface="Segoe UI"/>
              </a:rPr>
              <a:t>Also known as Supervisor, System, or Privileged mode. Unrestricted hardware and memory access for the OS kernel.</a:t>
            </a:r>
          </a:p>
        </p:txBody>
      </p:sp>
      <p:sp>
        <p:nvSpPr>
          <p:cNvPr id="11" name="Rounded Rectangle 10"/>
          <p:cNvSpPr/>
          <p:nvPr/>
        </p:nvSpPr>
        <p:spPr>
          <a:xfrm>
            <a:off x="6126480" y="4023360"/>
            <a:ext cx="5303520" cy="219456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4023360"/>
            <a:ext cx="109728" cy="21945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160520"/>
            <a:ext cx="4937759" cy="365760"/>
          </a:xfrm>
          <a:prstGeom prst="rect">
            <a:avLst/>
          </a:prstGeom>
          <a:noFill/>
        </p:spPr>
        <p:txBody>
          <a:bodyPr wrap="square" lIns="0" tIns="0" rIns="0" bIns="0">
            <a:spAutoFit/>
          </a:bodyPr>
          <a:lstStyle/>
          <a:p>
            <a:pPr>
              <a:defRPr sz="1300" b="1">
                <a:solidFill>
                  <a:srgbClr val="F43F5E"/>
                </a:solidFill>
                <a:latin typeface="Segoe UI"/>
              </a:defRPr>
            </a:pPr>
            <a:r>
              <a:t>Why Dual-Mode is Vital for OS Security</a:t>
            </a:r>
          </a:p>
        </p:txBody>
      </p:sp>
      <p:sp>
        <p:nvSpPr>
          <p:cNvPr id="14" name="TextBox 13"/>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Fault Isolation: </a:t>
            </a:r>
            <a:r>
              <a:rPr sz="1050" b="0">
                <a:solidFill>
                  <a:srgbClr val="94A3B8"/>
                </a:solidFill>
                <a:latin typeface="Segoe UI"/>
              </a:rPr>
              <a:t>Prevents errant or malicious user programs from modifying operating system data structures or crashing other programs.</a:t>
            </a:r>
          </a:p>
          <a:p>
            <a:pPr>
              <a:spcBef>
                <a:spcPts val="300"/>
              </a:spcBef>
              <a:defRPr sz="1100" b="1">
                <a:solidFill>
                  <a:srgbClr val="F8FAFC"/>
                </a:solidFill>
                <a:latin typeface="Segoe UI"/>
              </a:defRPr>
            </a:pPr>
            <a:r>
              <a:t>• Privileged Instructions: </a:t>
            </a:r>
            <a:r>
              <a:rPr sz="1050" b="0">
                <a:solidFill>
                  <a:srgbClr val="94A3B8"/>
                </a:solidFill>
                <a:latin typeface="Segoe UI"/>
              </a:rPr>
              <a:t>Hardware permits sensitive instructions (I/O, timer, interrupt control) to execute ONLY when Mode Bit = 0.</a:t>
            </a:r>
          </a:p>
          <a:p>
            <a:pPr>
              <a:spcBef>
                <a:spcPts val="300"/>
              </a:spcBef>
              <a:defRPr sz="1100" b="1">
                <a:solidFill>
                  <a:srgbClr val="F8FAFC"/>
                </a:solidFill>
                <a:latin typeface="Segoe UI"/>
              </a:defRPr>
            </a:pPr>
            <a:r>
              <a:t>• Boot Sequence: </a:t>
            </a:r>
            <a:r>
              <a:rPr sz="1050" b="0">
                <a:solidFill>
                  <a:srgbClr val="94A3B8"/>
                </a:solidFill>
                <a:latin typeface="Segoe UI"/>
              </a:rPr>
              <a:t>System starts in Kernel Mode, loads the OS, sets Mode Bit = 1, and switches to User Mode to execute user applications.</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09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Protection &amp; Privileged Instructions</a:t>
            </a:r>
          </a:p>
          <a:p>
            <a:pPr>
              <a:spcBef>
                <a:spcPts val="200"/>
              </a:spcBef>
              <a:defRPr sz="1200">
                <a:solidFill>
                  <a:srgbClr val="38BDF8"/>
                </a:solidFill>
                <a:latin typeface="Segoe UI"/>
              </a:defRPr>
            </a:pPr>
            <a:r>
              <a:t>Hardware-Enforced Safeguards Against Illegal Operations</a:t>
            </a:r>
          </a:p>
        </p:txBody>
      </p:sp>
      <p:sp>
        <p:nvSpPr>
          <p:cNvPr id="6" name="Rounded Rectangle 5"/>
          <p:cNvSpPr/>
          <p:nvPr/>
        </p:nvSpPr>
        <p:spPr>
          <a:xfrm>
            <a:off x="731520" y="1645920"/>
            <a:ext cx="3383280" cy="29260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I/O Control Instructions</a:t>
            </a:r>
          </a:p>
        </p:txBody>
      </p:sp>
      <p:sp>
        <p:nvSpPr>
          <p:cNvPr id="9" name="TextBox 8"/>
          <p:cNvSpPr txBox="1"/>
          <p:nvPr/>
        </p:nvSpPr>
        <p:spPr>
          <a:xfrm>
            <a:off x="960120" y="2011680"/>
            <a:ext cx="3017520" cy="2468880"/>
          </a:xfrm>
          <a:prstGeom prst="rect">
            <a:avLst/>
          </a:prstGeom>
          <a:noFill/>
        </p:spPr>
        <p:txBody>
          <a:bodyPr wrap="square">
            <a:spAutoFit/>
          </a:bodyPr>
          <a:lstStyle/>
          <a:p>
            <a:pPr>
              <a:defRPr sz="1100" b="1">
                <a:solidFill>
                  <a:srgbClr val="38BDF8"/>
                </a:solidFill>
                <a:latin typeface="Segoe UI"/>
              </a:defRPr>
            </a:pPr>
            <a:r>
              <a:t>Direct Device Access: </a:t>
            </a:r>
            <a:r>
              <a:rPr sz="1050" b="0">
                <a:solidFill>
                  <a:srgbClr val="94A3B8"/>
                </a:solidFill>
                <a:latin typeface="Segoe UI"/>
              </a:rPr>
              <a:t>Instructions that communicate directly with device controllers or issue port I/O commands.</a:t>
            </a:r>
          </a:p>
          <a:p>
            <a:pPr>
              <a:spcBef>
                <a:spcPts val="300"/>
              </a:spcBef>
              <a:defRPr sz="1100" b="1">
                <a:solidFill>
                  <a:srgbClr val="38BDF8"/>
                </a:solidFill>
                <a:latin typeface="Segoe UI"/>
              </a:defRPr>
            </a:pPr>
            <a:r>
              <a:t>Protection Goal: </a:t>
            </a:r>
            <a:r>
              <a:rPr sz="1050" b="0">
                <a:solidFill>
                  <a:srgbClr val="94A3B8"/>
                </a:solidFill>
                <a:latin typeface="Segoe UI"/>
              </a:rPr>
              <a:t>Prevents user applications from directly reading raw disk sectors or tampering with other users' data.</a:t>
            </a:r>
          </a:p>
          <a:p>
            <a:pPr>
              <a:spcBef>
                <a:spcPts val="300"/>
              </a:spcBef>
              <a:defRPr sz="1100" b="1">
                <a:solidFill>
                  <a:srgbClr val="38BDF8"/>
                </a:solidFill>
                <a:latin typeface="Segoe UI"/>
              </a:defRPr>
            </a:pPr>
            <a:r>
              <a:t>Enforcement: </a:t>
            </a:r>
            <a:r>
              <a:rPr sz="1050" b="0">
                <a:solidFill>
                  <a:srgbClr val="94A3B8"/>
                </a:solidFill>
                <a:latin typeface="Segoe UI"/>
              </a:rPr>
              <a:t>All I/O must be requested through OS system calls.</a:t>
            </a:r>
          </a:p>
        </p:txBody>
      </p:sp>
      <p:sp>
        <p:nvSpPr>
          <p:cNvPr id="10" name="Rounded Rectangle 9"/>
          <p:cNvSpPr/>
          <p:nvPr/>
        </p:nvSpPr>
        <p:spPr>
          <a:xfrm>
            <a:off x="4389120" y="1645920"/>
            <a:ext cx="3383280" cy="292608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645920"/>
            <a:ext cx="109728" cy="292608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783080"/>
            <a:ext cx="3017520" cy="365760"/>
          </a:xfrm>
          <a:prstGeom prst="rect">
            <a:avLst/>
          </a:prstGeom>
          <a:noFill/>
        </p:spPr>
        <p:txBody>
          <a:bodyPr wrap="square" lIns="0" tIns="0" rIns="0" bIns="0">
            <a:spAutoFit/>
          </a:bodyPr>
          <a:lstStyle/>
          <a:p>
            <a:pPr>
              <a:defRPr sz="1300" b="1">
                <a:solidFill>
                  <a:srgbClr val="F59E0B"/>
                </a:solidFill>
                <a:latin typeface="Segoe UI"/>
              </a:defRPr>
            </a:pPr>
            <a:r>
              <a:t>Timer &amp; Clock Management</a:t>
            </a:r>
          </a:p>
        </p:txBody>
      </p:sp>
      <p:sp>
        <p:nvSpPr>
          <p:cNvPr id="13" name="TextBox 12"/>
          <p:cNvSpPr txBox="1"/>
          <p:nvPr/>
        </p:nvSpPr>
        <p:spPr>
          <a:xfrm>
            <a:off x="4617720" y="2011680"/>
            <a:ext cx="3017520" cy="2468880"/>
          </a:xfrm>
          <a:prstGeom prst="rect">
            <a:avLst/>
          </a:prstGeom>
          <a:noFill/>
        </p:spPr>
        <p:txBody>
          <a:bodyPr wrap="square">
            <a:spAutoFit/>
          </a:bodyPr>
          <a:lstStyle/>
          <a:p>
            <a:pPr>
              <a:defRPr sz="1100" b="1">
                <a:solidFill>
                  <a:srgbClr val="F59E0B"/>
                </a:solidFill>
                <a:latin typeface="Segoe UI"/>
              </a:defRPr>
            </a:pPr>
            <a:r>
              <a:t>Modifying Timers: </a:t>
            </a:r>
            <a:r>
              <a:rPr sz="1050" b="0">
                <a:solidFill>
                  <a:srgbClr val="94A3B8"/>
                </a:solidFill>
                <a:latin typeface="Segoe UI"/>
              </a:rPr>
              <a:t>Instructions that load, reset, or stop the hardware interval timer.</a:t>
            </a:r>
          </a:p>
          <a:p>
            <a:pPr>
              <a:spcBef>
                <a:spcPts val="300"/>
              </a:spcBef>
              <a:defRPr sz="1100" b="1">
                <a:solidFill>
                  <a:srgbClr val="F59E0B"/>
                </a:solidFill>
                <a:latin typeface="Segoe UI"/>
              </a:defRPr>
            </a:pPr>
            <a:r>
              <a:t>Protection Goal: </a:t>
            </a:r>
            <a:r>
              <a:rPr sz="1050" b="0">
                <a:solidFill>
                  <a:srgbClr val="94A3B8"/>
                </a:solidFill>
                <a:latin typeface="Segoe UI"/>
              </a:rPr>
              <a:t>Prevents a user process from disabling the timer and monopolizing the CPU indefinitely.</a:t>
            </a:r>
          </a:p>
          <a:p>
            <a:pPr>
              <a:spcBef>
                <a:spcPts val="300"/>
              </a:spcBef>
              <a:defRPr sz="1100" b="1">
                <a:solidFill>
                  <a:srgbClr val="F59E0B"/>
                </a:solidFill>
                <a:latin typeface="Segoe UI"/>
              </a:defRPr>
            </a:pPr>
            <a:r>
              <a:t>Enforcement: </a:t>
            </a:r>
            <a:r>
              <a:rPr sz="1050" b="0">
                <a:solidFill>
                  <a:srgbClr val="94A3B8"/>
                </a:solidFill>
                <a:latin typeface="Segoe UI"/>
              </a:rPr>
              <a:t>Only the OS scheduler can configure timer intervals.</a:t>
            </a:r>
          </a:p>
        </p:txBody>
      </p:sp>
      <p:sp>
        <p:nvSpPr>
          <p:cNvPr id="14" name="Rounded Rectangle 13"/>
          <p:cNvSpPr/>
          <p:nvPr/>
        </p:nvSpPr>
        <p:spPr>
          <a:xfrm>
            <a:off x="8046720" y="1645920"/>
            <a:ext cx="3383280" cy="292608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20" y="1645920"/>
            <a:ext cx="109728" cy="292608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017520" cy="365760"/>
          </a:xfrm>
          <a:prstGeom prst="rect">
            <a:avLst/>
          </a:prstGeom>
          <a:noFill/>
        </p:spPr>
        <p:txBody>
          <a:bodyPr wrap="square" lIns="0" tIns="0" rIns="0" bIns="0">
            <a:spAutoFit/>
          </a:bodyPr>
          <a:lstStyle/>
          <a:p>
            <a:pPr>
              <a:defRPr sz="1300" b="1">
                <a:solidFill>
                  <a:srgbClr val="F43F5E"/>
                </a:solidFill>
                <a:latin typeface="Segoe UI"/>
              </a:defRPr>
            </a:pPr>
            <a:r>
              <a:t>Interrupt &amp; Memory Control</a:t>
            </a:r>
          </a:p>
        </p:txBody>
      </p:sp>
      <p:sp>
        <p:nvSpPr>
          <p:cNvPr id="17" name="TextBox 16"/>
          <p:cNvSpPr txBox="1"/>
          <p:nvPr/>
        </p:nvSpPr>
        <p:spPr>
          <a:xfrm>
            <a:off x="8275320" y="2011680"/>
            <a:ext cx="3017520" cy="2468880"/>
          </a:xfrm>
          <a:prstGeom prst="rect">
            <a:avLst/>
          </a:prstGeom>
          <a:noFill/>
        </p:spPr>
        <p:txBody>
          <a:bodyPr wrap="square">
            <a:spAutoFit/>
          </a:bodyPr>
          <a:lstStyle/>
          <a:p>
            <a:pPr>
              <a:defRPr sz="1100" b="1">
                <a:solidFill>
                  <a:srgbClr val="F43F5E"/>
                </a:solidFill>
                <a:latin typeface="Segoe UI"/>
              </a:defRPr>
            </a:pPr>
            <a:r>
              <a:t>Altering State: </a:t>
            </a:r>
            <a:r>
              <a:rPr sz="1050" b="0">
                <a:solidFill>
                  <a:srgbClr val="94A3B8"/>
                </a:solidFill>
                <a:latin typeface="Segoe UI"/>
              </a:rPr>
              <a:t>Instructions that disable/enable interrupts or modify base/limit memory registers.</a:t>
            </a:r>
          </a:p>
          <a:p>
            <a:pPr>
              <a:spcBef>
                <a:spcPts val="300"/>
              </a:spcBef>
              <a:defRPr sz="1100" b="1">
                <a:solidFill>
                  <a:srgbClr val="F43F5E"/>
                </a:solidFill>
                <a:latin typeface="Segoe UI"/>
              </a:defRPr>
            </a:pPr>
            <a:r>
              <a:t>Protection Goal: </a:t>
            </a:r>
            <a:r>
              <a:rPr sz="1050" b="0">
                <a:solidFill>
                  <a:srgbClr val="94A3B8"/>
                </a:solidFill>
                <a:latin typeface="Segoe UI"/>
              </a:rPr>
              <a:t>Prevents user code from blinding the OS to hardware events or accessing kernel memory.</a:t>
            </a:r>
          </a:p>
          <a:p>
            <a:pPr>
              <a:spcBef>
                <a:spcPts val="300"/>
              </a:spcBef>
              <a:defRPr sz="1100" b="1">
                <a:solidFill>
                  <a:srgbClr val="F43F5E"/>
                </a:solidFill>
                <a:latin typeface="Segoe UI"/>
              </a:defRPr>
            </a:pPr>
            <a:r>
              <a:t>Enforcement: </a:t>
            </a:r>
            <a:r>
              <a:rPr sz="1050" b="0">
                <a:solidFill>
                  <a:srgbClr val="94A3B8"/>
                </a:solidFill>
                <a:latin typeface="Segoe UI"/>
              </a:rPr>
              <a:t>Attempting these in user mode causes an instant Trap.</a:t>
            </a:r>
          </a:p>
        </p:txBody>
      </p:sp>
      <p:sp>
        <p:nvSpPr>
          <p:cNvPr id="18" name="Rounded Rectangle 17"/>
          <p:cNvSpPr/>
          <p:nvPr/>
        </p:nvSpPr>
        <p:spPr>
          <a:xfrm>
            <a:off x="731520" y="4754880"/>
            <a:ext cx="10728655" cy="1463040"/>
          </a:xfrm>
          <a:prstGeom prst="roundRect">
            <a:avLst/>
          </a:prstGeom>
          <a:solidFill>
            <a:srgbClr val="1E293B"/>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4754880"/>
            <a:ext cx="109728" cy="146304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892040"/>
            <a:ext cx="10362895" cy="365760"/>
          </a:xfrm>
          <a:prstGeom prst="rect">
            <a:avLst/>
          </a:prstGeom>
          <a:noFill/>
        </p:spPr>
        <p:txBody>
          <a:bodyPr wrap="square" lIns="0" tIns="0" rIns="0" bIns="0">
            <a:spAutoFit/>
          </a:bodyPr>
          <a:lstStyle/>
          <a:p>
            <a:pPr>
              <a:defRPr sz="1300" b="1">
                <a:solidFill>
                  <a:srgbClr val="F43F5E"/>
                </a:solidFill>
                <a:latin typeface="Segoe UI"/>
              </a:defRPr>
            </a:pPr>
            <a:r>
              <a:t>What Happens When a User Program Executes an Illegal Privileged Instruction?</a:t>
            </a:r>
          </a:p>
        </p:txBody>
      </p:sp>
      <p:sp>
        <p:nvSpPr>
          <p:cNvPr id="21" name="TextBox 20"/>
          <p:cNvSpPr txBox="1"/>
          <p:nvPr/>
        </p:nvSpPr>
        <p:spPr>
          <a:xfrm>
            <a:off x="1005840" y="5074920"/>
            <a:ext cx="10241280" cy="1097280"/>
          </a:xfrm>
          <a:prstGeom prst="rect">
            <a:avLst/>
          </a:prstGeom>
          <a:noFill/>
        </p:spPr>
        <p:txBody>
          <a:bodyPr wrap="square">
            <a:spAutoFit/>
          </a:bodyPr>
          <a:lstStyle/>
          <a:p>
            <a:pPr>
              <a:defRPr sz="1100" b="1">
                <a:solidFill>
                  <a:srgbClr val="F8FAFC"/>
                </a:solidFill>
                <a:latin typeface="Segoe UI"/>
              </a:defRPr>
            </a:pPr>
            <a:r>
              <a:t>[1. USER MODE:] App executes privileged instruction (e.g. CLI, direct I/O)   →   [2. CPU HARDWARE:] Detects Mode Bit == 1 → Refuses execution</a:t>
            </a:r>
          </a:p>
          <a:p>
            <a:pPr>
              <a:spcBef>
                <a:spcPts val="400"/>
              </a:spcBef>
              <a:defRPr sz="1100" b="1">
                <a:solidFill>
                  <a:srgbClr val="F43F5E"/>
                </a:solidFill>
                <a:latin typeface="Segoe UI"/>
              </a:defRPr>
            </a:pPr>
            <a:r>
              <a:t>[3. HARDWARE TRAP:] Fires Illegal Instruction Exception to OS   →   [4. OS RESPONSE:] Kernel intercepts trap and terminates the offending process</a:t>
            </a:r>
          </a:p>
        </p:txBody>
      </p:sp>
      <p:sp>
        <p:nvSpPr>
          <p:cNvPr id="22" name="TextBox 21"/>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 OS CONTROL &amp; MEMORY</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VEDHANTH</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10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The Hardware Timer &amp; OS Control</a:t>
            </a:r>
          </a:p>
          <a:p>
            <a:pPr>
              <a:spcBef>
                <a:spcPts val="200"/>
              </a:spcBef>
              <a:defRPr sz="1200">
                <a:solidFill>
                  <a:srgbClr val="38BDF8"/>
                </a:solidFill>
                <a:latin typeface="Segoe UI"/>
              </a:defRPr>
            </a:pPr>
            <a:r>
              <a:t>Guaranteeing Operating System Preemption &amp; Preventing CPU Monopolization</a:t>
            </a:r>
          </a:p>
        </p:txBody>
      </p:sp>
      <p:sp>
        <p:nvSpPr>
          <p:cNvPr id="6" name="Rounded Rectangle 5"/>
          <p:cNvSpPr/>
          <p:nvPr/>
        </p:nvSpPr>
        <p:spPr>
          <a:xfrm>
            <a:off x="731520" y="1645920"/>
            <a:ext cx="5212080" cy="4572000"/>
          </a:xfrm>
          <a:prstGeom prst="roundRect">
            <a:avLst/>
          </a:prstGeom>
          <a:solidFill>
            <a:srgbClr val="151C2C"/>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457200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4846320" cy="365760"/>
          </a:xfrm>
          <a:prstGeom prst="rect">
            <a:avLst/>
          </a:prstGeom>
          <a:noFill/>
        </p:spPr>
        <p:txBody>
          <a:bodyPr wrap="square" lIns="0" tIns="0" rIns="0" bIns="0">
            <a:spAutoFit/>
          </a:bodyPr>
          <a:lstStyle/>
          <a:p>
            <a:pPr>
              <a:defRPr sz="1300" b="1">
                <a:solidFill>
                  <a:srgbClr val="F43F5E"/>
                </a:solidFill>
                <a:latin typeface="Segoe UI"/>
              </a:defRPr>
            </a:pPr>
            <a:r>
              <a:t>The Problem: The Infinite Loop Dilemma</a:t>
            </a:r>
          </a:p>
        </p:txBody>
      </p:sp>
      <p:sp>
        <p:nvSpPr>
          <p:cNvPr id="9" name="TextBox 8"/>
          <p:cNvSpPr txBox="1"/>
          <p:nvPr/>
        </p:nvSpPr>
        <p:spPr>
          <a:xfrm>
            <a:off x="1005840" y="2011680"/>
            <a:ext cx="4754880" cy="4023360"/>
          </a:xfrm>
          <a:prstGeom prst="rect">
            <a:avLst/>
          </a:prstGeom>
          <a:noFill/>
        </p:spPr>
        <p:txBody>
          <a:bodyPr wrap="square">
            <a:spAutoFit/>
          </a:bodyPr>
          <a:lstStyle/>
          <a:p>
            <a:pPr>
              <a:defRPr sz="1150" b="1">
                <a:solidFill>
                  <a:srgbClr val="F8FAFC"/>
                </a:solidFill>
                <a:latin typeface="Segoe UI"/>
              </a:defRPr>
            </a:pPr>
            <a:r>
              <a:t>• The Monopolization Risk:</a:t>
            </a:r>
            <a:br/>
            <a:r>
              <a:rPr sz="1100" b="0">
                <a:solidFill>
                  <a:srgbClr val="94A3B8"/>
                </a:solidFill>
                <a:latin typeface="Segoe UI"/>
              </a:rPr>
              <a:t>Once the CPU switches to User Mode to execute a program, how does the OS ensure it will ever regain control?</a:t>
            </a:r>
          </a:p>
          <a:p>
            <a:pPr>
              <a:spcBef>
                <a:spcPts val="600"/>
              </a:spcBef>
              <a:defRPr sz="1150" b="1">
                <a:solidFill>
                  <a:srgbClr val="F8FAFC"/>
                </a:solidFill>
                <a:latin typeface="Segoe UI"/>
              </a:defRPr>
            </a:pPr>
            <a:r>
              <a:t>• The Malicious or Buggy App:</a:t>
            </a:r>
            <a:br/>
            <a:r>
              <a:rPr sz="1100" b="0">
                <a:solidFill>
                  <a:srgbClr val="94A3B8"/>
                </a:solidFill>
                <a:latin typeface="Segoe UI"/>
              </a:rPr>
              <a:t>A user program might enter an infinite loop (e.g. while(true){}) or fail to invoke any system calls.</a:t>
            </a:r>
          </a:p>
          <a:p>
            <a:pPr>
              <a:spcBef>
                <a:spcPts val="600"/>
              </a:spcBef>
              <a:defRPr sz="1150" b="1">
                <a:solidFill>
                  <a:srgbClr val="F8FAFC"/>
                </a:solidFill>
                <a:latin typeface="Segoe UI"/>
              </a:defRPr>
            </a:pPr>
            <a:r>
              <a:t>• Without a Hardware Timer:</a:t>
            </a:r>
            <a:br/>
            <a:r>
              <a:rPr sz="1100" b="0">
                <a:solidFill>
                  <a:srgbClr val="94A3B8"/>
                </a:solidFill>
                <a:latin typeface="Segoe UI"/>
              </a:rPr>
              <a:t>The CPU would stay trapped in the user program forever; the OS would never regain execution, freezing the system.</a:t>
            </a:r>
          </a:p>
          <a:p>
            <a:pPr>
              <a:spcBef>
                <a:spcPts val="600"/>
              </a:spcBef>
              <a:defRPr sz="1150" b="1">
                <a:solidFill>
                  <a:srgbClr val="F8FAFC"/>
                </a:solidFill>
                <a:latin typeface="Segoe UI"/>
              </a:defRPr>
            </a:pPr>
            <a:r>
              <a:t>• Key Silberschatz Insight:</a:t>
            </a:r>
            <a:br/>
            <a:r>
              <a:rPr sz="1100" b="0">
                <a:solidFill>
                  <a:srgbClr val="94A3B8"/>
                </a:solidFill>
                <a:latin typeface="Segoe UI"/>
              </a:rPr>
              <a:t>"We must ensure that the operating system maintains control over the CPU."</a:t>
            </a:r>
          </a:p>
        </p:txBody>
      </p:sp>
      <p:sp>
        <p:nvSpPr>
          <p:cNvPr id="10" name="Rounded Rectangle 9"/>
          <p:cNvSpPr/>
          <p:nvPr/>
        </p:nvSpPr>
        <p:spPr>
          <a:xfrm>
            <a:off x="6217920" y="1645920"/>
            <a:ext cx="5212080" cy="457200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645920"/>
            <a:ext cx="109728" cy="45720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783080"/>
            <a:ext cx="4846320" cy="365760"/>
          </a:xfrm>
          <a:prstGeom prst="rect">
            <a:avLst/>
          </a:prstGeom>
          <a:noFill/>
        </p:spPr>
        <p:txBody>
          <a:bodyPr wrap="square" lIns="0" tIns="0" rIns="0" bIns="0">
            <a:spAutoFit/>
          </a:bodyPr>
          <a:lstStyle/>
          <a:p>
            <a:pPr>
              <a:defRPr sz="1300" b="1">
                <a:solidFill>
                  <a:srgbClr val="34D399"/>
                </a:solidFill>
                <a:latin typeface="Segoe UI"/>
              </a:defRPr>
            </a:pPr>
            <a:r>
              <a:t>The Solution: The Hardware Timer</a:t>
            </a:r>
          </a:p>
        </p:txBody>
      </p:sp>
      <p:sp>
        <p:nvSpPr>
          <p:cNvPr id="13" name="TextBox 12"/>
          <p:cNvSpPr txBox="1"/>
          <p:nvPr/>
        </p:nvSpPr>
        <p:spPr>
          <a:xfrm>
            <a:off x="6492240" y="2011680"/>
            <a:ext cx="4754880" cy="4023360"/>
          </a:xfrm>
          <a:prstGeom prst="rect">
            <a:avLst/>
          </a:prstGeom>
          <a:noFill/>
        </p:spPr>
        <p:txBody>
          <a:bodyPr wrap="square">
            <a:spAutoFit/>
          </a:bodyPr>
          <a:lstStyle/>
          <a:p>
            <a:pPr>
              <a:defRPr sz="1150" b="1">
                <a:solidFill>
                  <a:srgbClr val="F8FAFC"/>
                </a:solidFill>
                <a:latin typeface="Segoe UI"/>
              </a:defRPr>
            </a:pPr>
            <a:r>
              <a:t>• Hardware Interval Timer:</a:t>
            </a:r>
            <a:br/>
            <a:r>
              <a:rPr sz="1100" b="0">
                <a:solidFill>
                  <a:srgbClr val="94A3B8"/>
                </a:solidFill>
                <a:latin typeface="Segoe UI"/>
              </a:rPr>
              <a:t>A specialized clock circuit that decrements with every physical clock cycle. Can be configured only via privileged instructions.</a:t>
            </a:r>
          </a:p>
          <a:p>
            <a:pPr>
              <a:spcBef>
                <a:spcPts val="600"/>
              </a:spcBef>
              <a:defRPr sz="1150" b="1">
                <a:solidFill>
                  <a:srgbClr val="F8FAFC"/>
                </a:solidFill>
                <a:latin typeface="Segoe UI"/>
              </a:defRPr>
            </a:pPr>
            <a:r>
              <a:t>• Preemption Interrupt:</a:t>
            </a:r>
            <a:br/>
            <a:r>
              <a:rPr sz="1100" b="0">
                <a:solidFill>
                  <a:srgbClr val="94A3B8"/>
                </a:solidFill>
                <a:latin typeface="Segoe UI"/>
              </a:rPr>
              <a:t>When the counter reaches zero, the timer hardware generates an interrupt, forcing the CPU back into Kernel Mode (Mode Bit = 0).</a:t>
            </a:r>
          </a:p>
          <a:p>
            <a:pPr>
              <a:spcBef>
                <a:spcPts val="600"/>
              </a:spcBef>
              <a:defRPr sz="1150" b="1">
                <a:solidFill>
                  <a:srgbClr val="F8FAFC"/>
                </a:solidFill>
                <a:latin typeface="Segoe UI"/>
              </a:defRPr>
            </a:pPr>
            <a:r>
              <a:t>• OS Scheduler Intervention:</a:t>
            </a:r>
            <a:br/>
            <a:r>
              <a:rPr sz="1100" b="0">
                <a:solidFill>
                  <a:srgbClr val="94A3B8"/>
                </a:solidFill>
                <a:latin typeface="Segoe UI"/>
              </a:rPr>
              <a:t>The OS scheduler regains CPU control, updates process accounting, and selects the next thread to run (Time Slicing).</a:t>
            </a:r>
          </a:p>
          <a:p>
            <a:pPr>
              <a:spcBef>
                <a:spcPts val="600"/>
              </a:spcBef>
              <a:defRPr sz="1150" b="1">
                <a:solidFill>
                  <a:srgbClr val="F8FAFC"/>
                </a:solidFill>
                <a:latin typeface="Segoe UI"/>
              </a:defRPr>
            </a:pPr>
            <a:r>
              <a:t>• Guaranteed Control:</a:t>
            </a:r>
            <a:br/>
            <a:r>
              <a:rPr sz="1100" b="0">
                <a:solidFill>
                  <a:srgbClr val="94A3B8"/>
                </a:solidFill>
                <a:latin typeface="Segoe UI"/>
              </a:rPr>
              <a:t>The hardware timer guarantees that no single program can monopolize the CPU, ensuring fair multi-tasking.</a:t>
            </a:r>
          </a:p>
        </p:txBody>
      </p:sp>
      <p:sp>
        <p:nvSpPr>
          <p:cNvPr id="14" name="TextBox 13"/>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11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Memory &amp; Storage-Device Hierarchy</a:t>
            </a:r>
          </a:p>
          <a:p>
            <a:pPr>
              <a:spcBef>
                <a:spcPts val="200"/>
              </a:spcBef>
              <a:defRPr sz="1200">
                <a:solidFill>
                  <a:srgbClr val="38BDF8"/>
                </a:solidFill>
                <a:latin typeface="Segoe UI"/>
              </a:defRPr>
            </a:pPr>
            <a:r>
              <a:t>Speed, Cost, and Volatility Trade-offs (Silberschatz Figure 1.10)</a:t>
            </a:r>
          </a:p>
        </p:txBody>
      </p:sp>
      <p:pic>
        <p:nvPicPr>
          <p:cNvPr id="6" name="Picture 5" descr="storage_hierarchy.png"/>
          <p:cNvPicPr>
            <a:picLocks noChangeAspect="1"/>
          </p:cNvPicPr>
          <p:nvPr/>
        </p:nvPicPr>
        <p:blipFill>
          <a:blip r:embed="rId2"/>
          <a:stretch>
            <a:fillRect/>
          </a:stretch>
        </p:blipFill>
        <p:spPr>
          <a:xfrm>
            <a:off x="731520" y="1645920"/>
            <a:ext cx="5212080" cy="2953512"/>
          </a:xfrm>
          <a:prstGeom prst="rect">
            <a:avLst/>
          </a:prstGeom>
        </p:spPr>
      </p:pic>
      <p:sp>
        <p:nvSpPr>
          <p:cNvPr id="7" name="Rounded Rectangle 6"/>
          <p:cNvSpPr/>
          <p:nvPr/>
        </p:nvSpPr>
        <p:spPr>
          <a:xfrm>
            <a:off x="6126480" y="1645920"/>
            <a:ext cx="5303520" cy="219456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26480" y="1645920"/>
            <a:ext cx="109728" cy="21945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59" cy="365760"/>
          </a:xfrm>
          <a:prstGeom prst="rect">
            <a:avLst/>
          </a:prstGeom>
          <a:noFill/>
        </p:spPr>
        <p:txBody>
          <a:bodyPr wrap="square" lIns="0" tIns="0" rIns="0" bIns="0">
            <a:spAutoFit/>
          </a:bodyPr>
          <a:lstStyle/>
          <a:p>
            <a:pPr>
              <a:defRPr sz="1300" b="1">
                <a:solidFill>
                  <a:srgbClr val="38BDF8"/>
                </a:solidFill>
                <a:latin typeface="Segoe UI"/>
              </a:defRPr>
            </a:pPr>
            <a:r>
              <a:t>Hierarchy Organization &amp; Speed Gap</a:t>
            </a:r>
          </a:p>
        </p:txBody>
      </p:sp>
      <p:sp>
        <p:nvSpPr>
          <p:cNvPr id="10" name="TextBox 9"/>
          <p:cNvSpPr txBox="1"/>
          <p:nvPr/>
        </p:nvSpPr>
        <p:spPr>
          <a:xfrm>
            <a:off x="6400800" y="2011680"/>
            <a:ext cx="4846320" cy="1737360"/>
          </a:xfrm>
          <a:prstGeom prst="rect">
            <a:avLst/>
          </a:prstGeom>
          <a:noFill/>
        </p:spPr>
        <p:txBody>
          <a:bodyPr wrap="square">
            <a:spAutoFit/>
          </a:bodyPr>
          <a:lstStyle/>
          <a:p>
            <a:pPr>
              <a:defRPr sz="1100" b="1">
                <a:solidFill>
                  <a:srgbClr val="F8FAFC"/>
                </a:solidFill>
                <a:latin typeface="Segoe UI"/>
              </a:defRPr>
            </a:pPr>
            <a:r>
              <a:t>• Registers &amp; Caches: </a:t>
            </a:r>
            <a:r>
              <a:rPr sz="1050" b="0">
                <a:solidFill>
                  <a:srgbClr val="94A3B8"/>
                </a:solidFill>
                <a:latin typeface="Segoe UI"/>
              </a:rPr>
              <a:t>Fastest access times, smallest storage capacity, highest cost per bit, volatile (lost on power-off).</a:t>
            </a:r>
          </a:p>
          <a:p>
            <a:pPr>
              <a:spcBef>
                <a:spcPts val="300"/>
              </a:spcBef>
              <a:defRPr sz="1100" b="1">
                <a:solidFill>
                  <a:srgbClr val="F8FAFC"/>
                </a:solidFill>
                <a:latin typeface="Segoe UI"/>
              </a:defRPr>
            </a:pPr>
            <a:r>
              <a:t>• Main Memory (DRAM): </a:t>
            </a:r>
            <a:r>
              <a:rPr sz="1050" b="0">
                <a:solidFill>
                  <a:srgbClr val="94A3B8"/>
                </a:solidFill>
                <a:latin typeface="Segoe UI"/>
              </a:rPr>
              <a:t>The only large storage medium the CPU can directly address and execute instructions from. Volatile.</a:t>
            </a:r>
          </a:p>
          <a:p>
            <a:pPr>
              <a:spcBef>
                <a:spcPts val="300"/>
              </a:spcBef>
              <a:defRPr sz="1100" b="1">
                <a:solidFill>
                  <a:srgbClr val="F8FAFC"/>
                </a:solidFill>
                <a:latin typeface="Segoe UI"/>
              </a:defRPr>
            </a:pPr>
            <a:r>
              <a:t>• Nonvolatile Storage: </a:t>
            </a:r>
            <a:r>
              <a:rPr sz="1050" b="0">
                <a:solidFill>
                  <a:srgbClr val="94A3B8"/>
                </a:solidFill>
                <a:latin typeface="Segoe UI"/>
              </a:rPr>
              <a:t>Solid-State Disks (NVM) and Hard Disks retain data indefinitely; slower access, lowest cost per bit.</a:t>
            </a:r>
          </a:p>
        </p:txBody>
      </p:sp>
      <p:sp>
        <p:nvSpPr>
          <p:cNvPr id="11" name="Rounded Rectangle 10"/>
          <p:cNvSpPr/>
          <p:nvPr/>
        </p:nvSpPr>
        <p:spPr>
          <a:xfrm>
            <a:off x="6126480" y="4023360"/>
            <a:ext cx="5303520" cy="219456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126480" y="4023360"/>
            <a:ext cx="109728" cy="21945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160520"/>
            <a:ext cx="4937759" cy="365760"/>
          </a:xfrm>
          <a:prstGeom prst="rect">
            <a:avLst/>
          </a:prstGeom>
          <a:noFill/>
        </p:spPr>
        <p:txBody>
          <a:bodyPr wrap="square" lIns="0" tIns="0" rIns="0" bIns="0">
            <a:spAutoFit/>
          </a:bodyPr>
          <a:lstStyle/>
          <a:p>
            <a:pPr>
              <a:defRPr sz="1300" b="1">
                <a:solidFill>
                  <a:srgbClr val="F59E0B"/>
                </a:solidFill>
                <a:latin typeface="Segoe UI"/>
              </a:defRPr>
            </a:pPr>
            <a:r>
              <a:t>Two Fundamental Axioms (Silberschatz)</a:t>
            </a:r>
          </a:p>
        </p:txBody>
      </p:sp>
      <p:sp>
        <p:nvSpPr>
          <p:cNvPr id="14" name="TextBox 13"/>
          <p:cNvSpPr txBox="1"/>
          <p:nvPr/>
        </p:nvSpPr>
        <p:spPr>
          <a:xfrm>
            <a:off x="6400800" y="4389120"/>
            <a:ext cx="4846320" cy="1737360"/>
          </a:xfrm>
          <a:prstGeom prst="rect">
            <a:avLst/>
          </a:prstGeom>
          <a:noFill/>
        </p:spPr>
        <p:txBody>
          <a:bodyPr wrap="square">
            <a:spAutoFit/>
          </a:bodyPr>
          <a:lstStyle/>
          <a:p>
            <a:pPr>
              <a:defRPr sz="1100" b="1">
                <a:solidFill>
                  <a:srgbClr val="F8FAFC"/>
                </a:solidFill>
                <a:latin typeface="Segoe UI"/>
              </a:defRPr>
            </a:pPr>
            <a:r>
              <a:t>• Axiom 1 (Execution Requirement): </a:t>
            </a:r>
            <a:r>
              <a:rPr sz="1050" b="0">
                <a:solidFill>
                  <a:srgbClr val="94A3B8"/>
                </a:solidFill>
                <a:latin typeface="Segoe UI"/>
              </a:rPr>
              <a:t>Programs must be brought into Main Memory (RAM) to be executed by the CPU.</a:t>
            </a:r>
          </a:p>
          <a:p>
            <a:pPr>
              <a:spcBef>
                <a:spcPts val="300"/>
              </a:spcBef>
              <a:defRPr sz="1100" b="1">
                <a:solidFill>
                  <a:srgbClr val="F8FAFC"/>
                </a:solidFill>
                <a:latin typeface="Segoe UI"/>
              </a:defRPr>
            </a:pPr>
            <a:r>
              <a:t>• Axiom 2 (Speed vs Cost Trade-off): </a:t>
            </a:r>
            <a:r>
              <a:rPr sz="1050" b="0">
                <a:solidFill>
                  <a:srgbClr val="94A3B8"/>
                </a:solidFill>
                <a:latin typeface="Segoe UI"/>
              </a:rPr>
              <a:t>Higher tiers are faster and more expensive per bit; lower tiers offer massive capacity at lower cost.</a:t>
            </a:r>
          </a:p>
          <a:p>
            <a:pPr>
              <a:spcBef>
                <a:spcPts val="300"/>
              </a:spcBef>
              <a:defRPr sz="1100" b="1">
                <a:solidFill>
                  <a:srgbClr val="F8FAFC"/>
                </a:solidFill>
                <a:latin typeface="Segoe UI"/>
              </a:defRPr>
            </a:pPr>
            <a:r>
              <a:t>• The Caching Principle: </a:t>
            </a:r>
            <a:r>
              <a:rPr sz="1050" b="0">
                <a:solidFill>
                  <a:srgbClr val="94A3B8"/>
                </a:solidFill>
                <a:latin typeface="Segoe UI"/>
              </a:rPr>
              <a:t>Information is copied temporarily from slower storage to faster storage to accelerate access.</a:t>
            </a:r>
          </a:p>
        </p:txBody>
      </p:sp>
      <p:sp>
        <p:nvSpPr>
          <p:cNvPr id="15" name="TextBox 14"/>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12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I/O Structure &amp; Device Controllers</a:t>
            </a:r>
          </a:p>
          <a:p>
            <a:pPr>
              <a:spcBef>
                <a:spcPts val="200"/>
              </a:spcBef>
              <a:defRPr sz="1200">
                <a:solidFill>
                  <a:srgbClr val="38BDF8"/>
                </a:solidFill>
                <a:latin typeface="Segoe UI"/>
              </a:defRPr>
            </a:pPr>
            <a:r>
              <a:t>Bridging the Speed Gap Between CPU and Peripherals (Silberschatz Model)</a:t>
            </a:r>
          </a:p>
        </p:txBody>
      </p:sp>
      <p:sp>
        <p:nvSpPr>
          <p:cNvPr id="6" name="Rounded Rectangle 5"/>
          <p:cNvSpPr/>
          <p:nvPr/>
        </p:nvSpPr>
        <p:spPr>
          <a:xfrm>
            <a:off x="731520" y="1645920"/>
            <a:ext cx="3383280" cy="29260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9260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3017520" cy="365760"/>
          </a:xfrm>
          <a:prstGeom prst="rect">
            <a:avLst/>
          </a:prstGeom>
          <a:noFill/>
        </p:spPr>
        <p:txBody>
          <a:bodyPr wrap="square" lIns="0" tIns="0" rIns="0" bIns="0">
            <a:spAutoFit/>
          </a:bodyPr>
          <a:lstStyle/>
          <a:p>
            <a:pPr>
              <a:defRPr sz="1300" b="1">
                <a:solidFill>
                  <a:srgbClr val="38BDF8"/>
                </a:solidFill>
                <a:latin typeface="Segoe UI"/>
              </a:defRPr>
            </a:pPr>
            <a:r>
              <a:t>Device Controllers</a:t>
            </a:r>
          </a:p>
        </p:txBody>
      </p:sp>
      <p:sp>
        <p:nvSpPr>
          <p:cNvPr id="9" name="TextBox 8"/>
          <p:cNvSpPr txBox="1"/>
          <p:nvPr/>
        </p:nvSpPr>
        <p:spPr>
          <a:xfrm>
            <a:off x="960120" y="2011680"/>
            <a:ext cx="3017520" cy="2468880"/>
          </a:xfrm>
          <a:prstGeom prst="rect">
            <a:avLst/>
          </a:prstGeom>
          <a:noFill/>
        </p:spPr>
        <p:txBody>
          <a:bodyPr wrap="square">
            <a:spAutoFit/>
          </a:bodyPr>
          <a:lstStyle/>
          <a:p>
            <a:pPr>
              <a:defRPr sz="1100" b="1">
                <a:solidFill>
                  <a:srgbClr val="38BDF8"/>
                </a:solidFill>
                <a:latin typeface="Segoe UI"/>
              </a:defRPr>
            </a:pPr>
            <a:r>
              <a:t>Hardware Interface: </a:t>
            </a:r>
            <a:r>
              <a:rPr sz="1050" b="0">
                <a:solidFill>
                  <a:srgbClr val="94A3B8"/>
                </a:solidFill>
                <a:latin typeface="Segoe UI"/>
              </a:rPr>
              <a:t>Each device type is managed by a specialized controller (disk, keyboard, network).</a:t>
            </a:r>
          </a:p>
          <a:p>
            <a:pPr>
              <a:spcBef>
                <a:spcPts val="300"/>
              </a:spcBef>
              <a:defRPr sz="1100" b="1">
                <a:solidFill>
                  <a:srgbClr val="38BDF8"/>
                </a:solidFill>
                <a:latin typeface="Segoe UI"/>
              </a:defRPr>
            </a:pPr>
            <a:r>
              <a:t>Local Buffers: </a:t>
            </a:r>
            <a:r>
              <a:rPr sz="1050" b="0">
                <a:solidFill>
                  <a:srgbClr val="94A3B8"/>
                </a:solidFill>
                <a:latin typeface="Segoe UI"/>
              </a:rPr>
              <a:t>Maintains local buffer storage and control registers for data staging.</a:t>
            </a:r>
          </a:p>
          <a:p>
            <a:pPr>
              <a:spcBef>
                <a:spcPts val="300"/>
              </a:spcBef>
              <a:defRPr sz="1100" b="1">
                <a:solidFill>
                  <a:srgbClr val="38BDF8"/>
                </a:solidFill>
                <a:latin typeface="Segoe UI"/>
              </a:defRPr>
            </a:pPr>
            <a:r>
              <a:t>Autonomous Operation: </a:t>
            </a:r>
            <a:r>
              <a:rPr sz="1050" b="0">
                <a:solidFill>
                  <a:srgbClr val="94A3B8"/>
                </a:solidFill>
                <a:latin typeface="Segoe UI"/>
              </a:rPr>
              <a:t>Moves data between the peripheral device and its local buffer independently.</a:t>
            </a:r>
          </a:p>
        </p:txBody>
      </p:sp>
      <p:sp>
        <p:nvSpPr>
          <p:cNvPr id="10" name="Rounded Rectangle 9"/>
          <p:cNvSpPr/>
          <p:nvPr/>
        </p:nvSpPr>
        <p:spPr>
          <a:xfrm>
            <a:off x="4389120" y="1645920"/>
            <a:ext cx="3383280" cy="292608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645920"/>
            <a:ext cx="109728" cy="29260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783080"/>
            <a:ext cx="3017520" cy="365760"/>
          </a:xfrm>
          <a:prstGeom prst="rect">
            <a:avLst/>
          </a:prstGeom>
          <a:noFill/>
        </p:spPr>
        <p:txBody>
          <a:bodyPr wrap="square" lIns="0" tIns="0" rIns="0" bIns="0">
            <a:spAutoFit/>
          </a:bodyPr>
          <a:lstStyle/>
          <a:p>
            <a:pPr>
              <a:defRPr sz="1300" b="1">
                <a:solidFill>
                  <a:srgbClr val="818CF8"/>
                </a:solidFill>
                <a:latin typeface="Segoe UI"/>
              </a:defRPr>
            </a:pPr>
            <a:r>
              <a:t>Device Drivers</a:t>
            </a:r>
          </a:p>
        </p:txBody>
      </p:sp>
      <p:sp>
        <p:nvSpPr>
          <p:cNvPr id="13" name="TextBox 12"/>
          <p:cNvSpPr txBox="1"/>
          <p:nvPr/>
        </p:nvSpPr>
        <p:spPr>
          <a:xfrm>
            <a:off x="4617720" y="2011680"/>
            <a:ext cx="3017520" cy="2468880"/>
          </a:xfrm>
          <a:prstGeom prst="rect">
            <a:avLst/>
          </a:prstGeom>
          <a:noFill/>
        </p:spPr>
        <p:txBody>
          <a:bodyPr wrap="square">
            <a:spAutoFit/>
          </a:bodyPr>
          <a:lstStyle/>
          <a:p>
            <a:pPr>
              <a:defRPr sz="1100" b="1">
                <a:solidFill>
                  <a:srgbClr val="818CF8"/>
                </a:solidFill>
                <a:latin typeface="Segoe UI"/>
              </a:defRPr>
            </a:pPr>
            <a:r>
              <a:t>Software Interface: </a:t>
            </a:r>
            <a:r>
              <a:rPr sz="1050" b="0">
                <a:solidFill>
                  <a:srgbClr val="94A3B8"/>
                </a:solidFill>
                <a:latin typeface="Segoe UI"/>
              </a:rPr>
              <a:t>Operating system component that understands the controller's register layout.</a:t>
            </a:r>
          </a:p>
          <a:p>
            <a:pPr>
              <a:spcBef>
                <a:spcPts val="300"/>
              </a:spcBef>
              <a:defRPr sz="1100" b="1">
                <a:solidFill>
                  <a:srgbClr val="818CF8"/>
                </a:solidFill>
                <a:latin typeface="Segoe UI"/>
              </a:defRPr>
            </a:pPr>
            <a:r>
              <a:t>Uniform OS Layer: </a:t>
            </a:r>
            <a:r>
              <a:rPr sz="1050" b="0">
                <a:solidFill>
                  <a:srgbClr val="94A3B8"/>
                </a:solidFill>
                <a:latin typeface="Segoe UI"/>
              </a:rPr>
              <a:t>Provides a standard, device-independent interface to the rest of the OS kernel.</a:t>
            </a:r>
          </a:p>
          <a:p>
            <a:pPr>
              <a:spcBef>
                <a:spcPts val="300"/>
              </a:spcBef>
              <a:defRPr sz="1100" b="1">
                <a:solidFill>
                  <a:srgbClr val="818CF8"/>
                </a:solidFill>
                <a:latin typeface="Segoe UI"/>
              </a:defRPr>
            </a:pPr>
            <a:r>
              <a:t>I/O Dispatch: </a:t>
            </a:r>
            <a:r>
              <a:rPr sz="1050" b="0">
                <a:solidFill>
                  <a:srgbClr val="94A3B8"/>
                </a:solidFill>
                <a:latin typeface="Segoe UI"/>
              </a:rPr>
              <a:t>Loads controller registers to initiate physical I/O operations.</a:t>
            </a:r>
          </a:p>
        </p:txBody>
      </p:sp>
      <p:sp>
        <p:nvSpPr>
          <p:cNvPr id="14" name="Rounded Rectangle 13"/>
          <p:cNvSpPr/>
          <p:nvPr/>
        </p:nvSpPr>
        <p:spPr>
          <a:xfrm>
            <a:off x="8046720" y="1645920"/>
            <a:ext cx="3383280" cy="29260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783080"/>
            <a:ext cx="3017520" cy="365760"/>
          </a:xfrm>
          <a:prstGeom prst="rect">
            <a:avLst/>
          </a:prstGeom>
          <a:noFill/>
        </p:spPr>
        <p:txBody>
          <a:bodyPr wrap="square" lIns="0" tIns="0" rIns="0" bIns="0">
            <a:spAutoFit/>
          </a:bodyPr>
          <a:lstStyle/>
          <a:p>
            <a:pPr>
              <a:defRPr sz="1300" b="1">
                <a:solidFill>
                  <a:srgbClr val="34D399"/>
                </a:solidFill>
                <a:latin typeface="Segoe UI"/>
              </a:defRPr>
            </a:pPr>
            <a:r>
              <a:t>Direct Memory Access (DMA)</a:t>
            </a:r>
          </a:p>
        </p:txBody>
      </p:sp>
      <p:sp>
        <p:nvSpPr>
          <p:cNvPr id="17" name="TextBox 16"/>
          <p:cNvSpPr txBox="1"/>
          <p:nvPr/>
        </p:nvSpPr>
        <p:spPr>
          <a:xfrm>
            <a:off x="8275320" y="2011680"/>
            <a:ext cx="3017520" cy="2468880"/>
          </a:xfrm>
          <a:prstGeom prst="rect">
            <a:avLst/>
          </a:prstGeom>
          <a:noFill/>
        </p:spPr>
        <p:txBody>
          <a:bodyPr wrap="square">
            <a:spAutoFit/>
          </a:bodyPr>
          <a:lstStyle/>
          <a:p>
            <a:pPr>
              <a:defRPr sz="1100" b="1">
                <a:solidFill>
                  <a:srgbClr val="34D399"/>
                </a:solidFill>
                <a:latin typeface="Segoe UI"/>
              </a:defRPr>
            </a:pPr>
            <a:r>
              <a:t>High-Speed Devices: </a:t>
            </a:r>
            <a:r>
              <a:rPr sz="1050" b="0">
                <a:solidFill>
                  <a:srgbClr val="94A3B8"/>
                </a:solidFill>
                <a:latin typeface="Segoe UI"/>
              </a:rPr>
              <a:t>Used for high-throughput block devices like disk controllers and network interfaces.</a:t>
            </a:r>
          </a:p>
          <a:p>
            <a:pPr>
              <a:spcBef>
                <a:spcPts val="300"/>
              </a:spcBef>
              <a:defRPr sz="1100" b="1">
                <a:solidFill>
                  <a:srgbClr val="34D399"/>
                </a:solidFill>
                <a:latin typeface="Segoe UI"/>
              </a:defRPr>
            </a:pPr>
            <a:r>
              <a:t>Bypassing the CPU: </a:t>
            </a:r>
            <a:r>
              <a:rPr sz="1050" b="0">
                <a:solidFill>
                  <a:srgbClr val="94A3B8"/>
                </a:solidFill>
                <a:latin typeface="Segoe UI"/>
              </a:rPr>
              <a:t>Transfers entire data blocks directly between device buffers and RAM without CPU intervention.</a:t>
            </a:r>
          </a:p>
          <a:p>
            <a:pPr>
              <a:spcBef>
                <a:spcPts val="300"/>
              </a:spcBef>
              <a:defRPr sz="1100" b="1">
                <a:solidFill>
                  <a:srgbClr val="34D399"/>
                </a:solidFill>
                <a:latin typeface="Segoe UI"/>
              </a:defRPr>
            </a:pPr>
            <a:r>
              <a:t>Single Interrupt per Block: </a:t>
            </a:r>
            <a:r>
              <a:rPr sz="1050" b="0">
                <a:solidFill>
                  <a:srgbClr val="94A3B8"/>
                </a:solidFill>
                <a:latin typeface="Segoe UI"/>
              </a:rPr>
              <a:t>Interrupts the CPU only once per complete block rather than once per byte.</a:t>
            </a:r>
          </a:p>
        </p:txBody>
      </p:sp>
      <p:sp>
        <p:nvSpPr>
          <p:cNvPr id="18" name="Rounded Rectangle 17"/>
          <p:cNvSpPr/>
          <p:nvPr/>
        </p:nvSpPr>
        <p:spPr>
          <a:xfrm>
            <a:off x="731520" y="4754880"/>
            <a:ext cx="10728655" cy="146304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1520" y="4754880"/>
            <a:ext cx="109728" cy="14630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892040"/>
            <a:ext cx="10362895" cy="365760"/>
          </a:xfrm>
          <a:prstGeom prst="rect">
            <a:avLst/>
          </a:prstGeom>
          <a:noFill/>
        </p:spPr>
        <p:txBody>
          <a:bodyPr wrap="square" lIns="0" tIns="0" rIns="0" bIns="0">
            <a:spAutoFit/>
          </a:bodyPr>
          <a:lstStyle/>
          <a:p>
            <a:pPr>
              <a:defRPr sz="1300" b="1">
                <a:solidFill>
                  <a:srgbClr val="38BDF8"/>
                </a:solidFill>
                <a:latin typeface="Segoe UI"/>
              </a:defRPr>
            </a:pPr>
            <a:r>
              <a:t>The Complete I/O Execution Cycle (Silberschatz Flow)</a:t>
            </a:r>
          </a:p>
        </p:txBody>
      </p:sp>
      <p:sp>
        <p:nvSpPr>
          <p:cNvPr id="21" name="TextBox 20"/>
          <p:cNvSpPr txBox="1"/>
          <p:nvPr/>
        </p:nvSpPr>
        <p:spPr>
          <a:xfrm>
            <a:off x="1005840" y="5074920"/>
            <a:ext cx="10241280" cy="1097280"/>
          </a:xfrm>
          <a:prstGeom prst="rect">
            <a:avLst/>
          </a:prstGeom>
          <a:noFill/>
        </p:spPr>
        <p:txBody>
          <a:bodyPr wrap="square">
            <a:spAutoFit/>
          </a:bodyPr>
          <a:lstStyle/>
          <a:p>
            <a:pPr>
              <a:defRPr sz="1100" b="1">
                <a:solidFill>
                  <a:srgbClr val="F8FAFC"/>
                </a:solidFill>
                <a:latin typeface="Segoe UI"/>
              </a:defRPr>
            </a:pPr>
            <a:r>
              <a:t>1. APP calls read()/write()   →   2. DEVICE DRIVER loads controller registers   →   3. CONTROLLER transfers data to local buffer</a:t>
            </a:r>
          </a:p>
          <a:p>
            <a:pPr>
              <a:spcBef>
                <a:spcPts val="400"/>
              </a:spcBef>
              <a:defRPr sz="1100" b="1">
                <a:solidFill>
                  <a:srgbClr val="34D399"/>
                </a:solidFill>
                <a:latin typeface="Segoe UI"/>
              </a:defRPr>
            </a:pPr>
            <a:r>
              <a:t>   →   4. DMA transfers block to Main Memory   →   5. INTERRUPT signals completion to CPU/OS</a:t>
            </a:r>
          </a:p>
        </p:txBody>
      </p:sp>
      <p:sp>
        <p:nvSpPr>
          <p:cNvPr id="22" name="TextBox 21"/>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13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Multiprocessor Systems: SMP vs NUMA</a:t>
            </a:r>
          </a:p>
          <a:p>
            <a:pPr>
              <a:spcBef>
                <a:spcPts val="200"/>
              </a:spcBef>
              <a:defRPr sz="1200">
                <a:solidFill>
                  <a:srgbClr val="38BDF8"/>
                </a:solidFill>
                <a:latin typeface="Segoe UI"/>
              </a:defRPr>
            </a:pPr>
            <a:r>
              <a:t>Architectural Trade-offs in Shared-Memory Multiprocessing (Silberschatz Comparison)</a:t>
            </a:r>
          </a:p>
        </p:txBody>
      </p:sp>
      <p:sp>
        <p:nvSpPr>
          <p:cNvPr id="6" name="Rounded Rectangle 5"/>
          <p:cNvSpPr/>
          <p:nvPr/>
        </p:nvSpPr>
        <p:spPr>
          <a:xfrm>
            <a:off x="731520" y="1645920"/>
            <a:ext cx="10728655" cy="246888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24688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10362895" cy="365760"/>
          </a:xfrm>
          <a:prstGeom prst="rect">
            <a:avLst/>
          </a:prstGeom>
          <a:noFill/>
        </p:spPr>
        <p:txBody>
          <a:bodyPr wrap="square" lIns="0" tIns="0" rIns="0" bIns="0">
            <a:spAutoFit/>
          </a:bodyPr>
          <a:lstStyle/>
          <a:p>
            <a:pPr>
              <a:defRPr sz="1300" b="1">
                <a:solidFill>
                  <a:srgbClr val="38BDF8"/>
                </a:solidFill>
                <a:latin typeface="Segoe UI"/>
              </a:defRPr>
            </a:pPr>
            <a:r>
              <a:t>Direct Architectural Comparison: SMP vs NUMA</a:t>
            </a:r>
          </a:p>
        </p:txBody>
      </p:sp>
      <p:graphicFrame>
        <p:nvGraphicFramePr>
          <p:cNvPr id="9" name="Table 8"/>
          <p:cNvGraphicFramePr>
            <a:graphicFrameLocks noGrp="1"/>
          </p:cNvGraphicFramePr>
          <p:nvPr/>
        </p:nvGraphicFramePr>
        <p:xfrm>
          <a:off x="1005840" y="2011680"/>
          <a:ext cx="10149839" cy="1920240"/>
        </p:xfrm>
        <a:graphic>
          <a:graphicData uri="http://schemas.openxmlformats.org/drawingml/2006/table">
            <a:tbl>
              <a:tblPr firstRow="1" bandRow="1">
                <a:tableStyleId>{5C22544A-7EE6-4342-B048-85BDC9FD1C3A}</a:tableStyleId>
              </a:tblPr>
              <a:tblGrid>
                <a:gridCol w="2560320"/>
                <a:gridCol w="3749039"/>
                <a:gridCol w="3840480"/>
              </a:tblGrid>
              <a:tr h="480060">
                <a:tc>
                  <a:txBody>
                    <a:bodyPr/>
                    <a:lstStyle/>
                    <a:p>
                      <a:pPr>
                        <a:defRPr sz="1050" b="1">
                          <a:solidFill>
                            <a:srgbClr val="38BDF8"/>
                          </a:solidFill>
                          <a:latin typeface="Segoe UI"/>
                        </a:defRPr>
                      </a:pPr>
                      <a:r>
                        <a:t>Architectural Feature</a:t>
                      </a:r>
                    </a:p>
                  </a:txBody>
                  <a:tcPr>
                    <a:solidFill>
                      <a:srgbClr val="1E293B"/>
                    </a:solidFill>
                  </a:tcPr>
                </a:tc>
                <a:tc>
                  <a:txBody>
                    <a:bodyPr/>
                    <a:lstStyle/>
                    <a:p>
                      <a:pPr>
                        <a:defRPr sz="1050" b="1">
                          <a:solidFill>
                            <a:srgbClr val="38BDF8"/>
                          </a:solidFill>
                          <a:latin typeface="Segoe UI"/>
                        </a:defRPr>
                      </a:pPr>
                      <a:r>
                        <a:t>Symmetric Multiprocessing (SMP / UMA)</a:t>
                      </a:r>
                    </a:p>
                  </a:txBody>
                  <a:tcPr>
                    <a:solidFill>
                      <a:srgbClr val="1E293B"/>
                    </a:solidFill>
                  </a:tcPr>
                </a:tc>
                <a:tc>
                  <a:txBody>
                    <a:bodyPr/>
                    <a:lstStyle/>
                    <a:p>
                      <a:pPr>
                        <a:defRPr sz="1050" b="1">
                          <a:solidFill>
                            <a:srgbClr val="38BDF8"/>
                          </a:solidFill>
                          <a:latin typeface="Segoe UI"/>
                        </a:defRPr>
                      </a:pPr>
                      <a:r>
                        <a:t>Non-Uniform Memory Access (NUMA)</a:t>
                      </a:r>
                    </a:p>
                  </a:txBody>
                  <a:tcPr>
                    <a:solidFill>
                      <a:srgbClr val="1E293B"/>
                    </a:solidFill>
                  </a:tcPr>
                </a:tc>
              </a:tr>
              <a:tr h="480060">
                <a:tc>
                  <a:txBody>
                    <a:bodyPr/>
                    <a:lstStyle/>
                    <a:p>
                      <a:pPr>
                        <a:defRPr sz="1000" b="1">
                          <a:solidFill>
                            <a:srgbClr val="F8FAFC"/>
                          </a:solidFill>
                          <a:latin typeface="Segoe UI"/>
                        </a:defRPr>
                      </a:pPr>
                      <a:r>
                        <a:t>Memory Access Time</a:t>
                      </a:r>
                    </a:p>
                  </a:txBody>
                  <a:tcPr>
                    <a:solidFill>
                      <a:srgbClr val="111827"/>
                    </a:solidFill>
                  </a:tcPr>
                </a:tc>
                <a:tc>
                  <a:txBody>
                    <a:bodyPr/>
                    <a:lstStyle/>
                    <a:p>
                      <a:pPr>
                        <a:defRPr sz="1000" b="0">
                          <a:solidFill>
                            <a:srgbClr val="94A3B8"/>
                          </a:solidFill>
                          <a:latin typeface="Segoe UI"/>
                        </a:defRPr>
                      </a:pPr>
                      <a:r>
                        <a:t>Uniform access time across all CPUs / cores.</a:t>
                      </a:r>
                    </a:p>
                  </a:txBody>
                  <a:tcPr>
                    <a:solidFill>
                      <a:srgbClr val="111827"/>
                    </a:solidFill>
                  </a:tcPr>
                </a:tc>
                <a:tc>
                  <a:txBody>
                    <a:bodyPr/>
                    <a:lstStyle/>
                    <a:p>
                      <a:pPr>
                        <a:defRPr sz="1000" b="0">
                          <a:solidFill>
                            <a:srgbClr val="94A3B8"/>
                          </a:solidFill>
                          <a:latin typeface="Segoe UI"/>
                        </a:defRPr>
                      </a:pPr>
                      <a:r>
                        <a:t>Non-uniform: Local memory is fast; remote memory is slower.</a:t>
                      </a:r>
                    </a:p>
                  </a:txBody>
                  <a:tcPr>
                    <a:solidFill>
                      <a:srgbClr val="111827"/>
                    </a:solidFill>
                  </a:tcPr>
                </a:tc>
              </a:tr>
              <a:tr h="480060">
                <a:tc>
                  <a:txBody>
                    <a:bodyPr/>
                    <a:lstStyle/>
                    <a:p>
                      <a:pPr>
                        <a:defRPr sz="1000" b="1">
                          <a:solidFill>
                            <a:srgbClr val="F8FAFC"/>
                          </a:solidFill>
                          <a:latin typeface="Segoe UI"/>
                        </a:defRPr>
                      </a:pPr>
                      <a:r>
                        <a:t>System Interconnect</a:t>
                      </a:r>
                    </a:p>
                  </a:txBody>
                  <a:tcPr>
                    <a:solidFill>
                      <a:srgbClr val="111827"/>
                    </a:solidFill>
                  </a:tcPr>
                </a:tc>
                <a:tc>
                  <a:txBody>
                    <a:bodyPr/>
                    <a:lstStyle/>
                    <a:p>
                      <a:pPr>
                        <a:defRPr sz="1000" b="0">
                          <a:solidFill>
                            <a:srgbClr val="94A3B8"/>
                          </a:solidFill>
                          <a:latin typeface="Segoe UI"/>
                        </a:defRPr>
                      </a:pPr>
                      <a:r>
                        <a:t>Single shared system bus connecting all CPUs to RAM.</a:t>
                      </a:r>
                    </a:p>
                  </a:txBody>
                  <a:tcPr>
                    <a:solidFill>
                      <a:srgbClr val="111827"/>
                    </a:solidFill>
                  </a:tcPr>
                </a:tc>
                <a:tc>
                  <a:txBody>
                    <a:bodyPr/>
                    <a:lstStyle/>
                    <a:p>
                      <a:pPr>
                        <a:defRPr sz="1000" b="0">
                          <a:solidFill>
                            <a:srgbClr val="94A3B8"/>
                          </a:solidFill>
                          <a:latin typeface="Segoe UI"/>
                        </a:defRPr>
                      </a:pPr>
                      <a:r>
                        <a:t>Point-to-point interconnect linking distributed nodes.</a:t>
                      </a:r>
                    </a:p>
                  </a:txBody>
                  <a:tcPr>
                    <a:solidFill>
                      <a:srgbClr val="111827"/>
                    </a:solidFill>
                  </a:tcPr>
                </a:tc>
              </a:tr>
              <a:tr h="480060">
                <a:tc>
                  <a:txBody>
                    <a:bodyPr/>
                    <a:lstStyle/>
                    <a:p>
                      <a:pPr>
                        <a:defRPr sz="1000" b="1">
                          <a:solidFill>
                            <a:srgbClr val="F8FAFC"/>
                          </a:solidFill>
                          <a:latin typeface="Segoe UI"/>
                        </a:defRPr>
                      </a:pPr>
                      <a:r>
                        <a:t>Scalability &amp; OS Role</a:t>
                      </a:r>
                    </a:p>
                  </a:txBody>
                  <a:tcPr>
                    <a:solidFill>
                      <a:srgbClr val="111827"/>
                    </a:solidFill>
                  </a:tcPr>
                </a:tc>
                <a:tc>
                  <a:txBody>
                    <a:bodyPr/>
                    <a:lstStyle/>
                    <a:p>
                      <a:pPr>
                        <a:defRPr sz="1000" b="0">
                          <a:solidFill>
                            <a:srgbClr val="94A3B8"/>
                          </a:solidFill>
                          <a:latin typeface="Segoe UI"/>
                        </a:defRPr>
                      </a:pPr>
                      <a:r>
                        <a:t>Scalability limited by shared bus contention.</a:t>
                      </a:r>
                    </a:p>
                  </a:txBody>
                  <a:tcPr>
                    <a:solidFill>
                      <a:srgbClr val="111827"/>
                    </a:solidFill>
                  </a:tcPr>
                </a:tc>
                <a:tc>
                  <a:txBody>
                    <a:bodyPr/>
                    <a:lstStyle/>
                    <a:p>
                      <a:pPr>
                        <a:defRPr sz="1000" b="0">
                          <a:solidFill>
                            <a:srgbClr val="94A3B8"/>
                          </a:solidFill>
                          <a:latin typeface="Segoe UI"/>
                        </a:defRPr>
                      </a:pPr>
                      <a:r>
                        <a:t>Highly scalable; OS must optimize thread memory locality.</a:t>
                      </a:r>
                    </a:p>
                  </a:txBody>
                  <a:tcPr>
                    <a:solidFill>
                      <a:srgbClr val="111827"/>
                    </a:solidFill>
                  </a:tcPr>
                </a:tc>
              </a:tr>
            </a:tbl>
          </a:graphicData>
        </a:graphic>
      </p:graphicFrame>
      <p:sp>
        <p:nvSpPr>
          <p:cNvPr id="10" name="Rounded Rectangle 9"/>
          <p:cNvSpPr/>
          <p:nvPr/>
        </p:nvSpPr>
        <p:spPr>
          <a:xfrm>
            <a:off x="731520" y="4297680"/>
            <a:ext cx="5212080" cy="2011680"/>
          </a:xfrm>
          <a:prstGeom prst="roundRect">
            <a:avLst/>
          </a:prstGeom>
          <a:solidFill>
            <a:srgbClr val="151C2C"/>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4297680"/>
            <a:ext cx="109728" cy="201168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4434840"/>
            <a:ext cx="4846320" cy="365760"/>
          </a:xfrm>
          <a:prstGeom prst="rect">
            <a:avLst/>
          </a:prstGeom>
          <a:noFill/>
        </p:spPr>
        <p:txBody>
          <a:bodyPr wrap="square" lIns="0" tIns="0" rIns="0" bIns="0">
            <a:spAutoFit/>
          </a:bodyPr>
          <a:lstStyle/>
          <a:p>
            <a:pPr>
              <a:defRPr sz="1300" b="1">
                <a:solidFill>
                  <a:srgbClr val="F59E0B"/>
                </a:solidFill>
                <a:latin typeface="Segoe UI"/>
              </a:defRPr>
            </a:pPr>
            <a:r>
              <a:t>The NUMA Latency Trade-Off</a:t>
            </a:r>
          </a:p>
        </p:txBody>
      </p:sp>
      <p:sp>
        <p:nvSpPr>
          <p:cNvPr id="13" name="TextBox 12"/>
          <p:cNvSpPr txBox="1"/>
          <p:nvPr/>
        </p:nvSpPr>
        <p:spPr>
          <a:xfrm>
            <a:off x="1005840" y="4617720"/>
            <a:ext cx="4754880" cy="1554480"/>
          </a:xfrm>
          <a:prstGeom prst="rect">
            <a:avLst/>
          </a:prstGeom>
          <a:noFill/>
        </p:spPr>
        <p:txBody>
          <a:bodyPr wrap="square">
            <a:spAutoFit/>
          </a:bodyPr>
          <a:lstStyle/>
          <a:p>
            <a:pPr>
              <a:defRPr sz="1100" b="1">
                <a:solidFill>
                  <a:srgbClr val="F8FAFC"/>
                </a:solidFill>
                <a:latin typeface="Segoe UI"/>
              </a:defRPr>
            </a:pPr>
            <a:r>
              <a:t>• Local Memory Access: </a:t>
            </a:r>
            <a:r>
              <a:rPr sz="1050" b="0">
                <a:solidFill>
                  <a:srgbClr val="94A3B8"/>
                </a:solidFill>
                <a:latin typeface="Segoe UI"/>
              </a:rPr>
              <a:t>CPU directly accesses its own attached memory channel at minimum latency.</a:t>
            </a:r>
          </a:p>
          <a:p>
            <a:pPr>
              <a:spcBef>
                <a:spcPts val="300"/>
              </a:spcBef>
              <a:defRPr sz="1100" b="1">
                <a:solidFill>
                  <a:srgbClr val="F8FAFC"/>
                </a:solidFill>
                <a:latin typeface="Segoe UI"/>
              </a:defRPr>
            </a:pPr>
            <a:r>
              <a:t>• Remote Memory Access: </a:t>
            </a:r>
            <a:r>
              <a:rPr sz="1050" b="0">
                <a:solidFill>
                  <a:srgbClr val="94A3B8"/>
                </a:solidFill>
                <a:latin typeface="Segoe UI"/>
              </a:rPr>
              <a:t>Accessing memory on another node incurs interconnect delays and increases penalty.</a:t>
            </a:r>
          </a:p>
        </p:txBody>
      </p:sp>
      <p:sp>
        <p:nvSpPr>
          <p:cNvPr id="14" name="Rounded Rectangle 13"/>
          <p:cNvSpPr/>
          <p:nvPr/>
        </p:nvSpPr>
        <p:spPr>
          <a:xfrm>
            <a:off x="6217920" y="4297680"/>
            <a:ext cx="5212080" cy="20116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4297680"/>
            <a:ext cx="109728" cy="20116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434840"/>
            <a:ext cx="4846320" cy="365760"/>
          </a:xfrm>
          <a:prstGeom prst="rect">
            <a:avLst/>
          </a:prstGeom>
          <a:noFill/>
        </p:spPr>
        <p:txBody>
          <a:bodyPr wrap="square" lIns="0" tIns="0" rIns="0" bIns="0">
            <a:spAutoFit/>
          </a:bodyPr>
          <a:lstStyle/>
          <a:p>
            <a:pPr>
              <a:defRPr sz="1300" b="1">
                <a:solidFill>
                  <a:srgbClr val="34D399"/>
                </a:solidFill>
                <a:latin typeface="Segoe UI"/>
              </a:defRPr>
            </a:pPr>
            <a:r>
              <a:t>OS NUMA Memory &amp; Thread Scheduling</a:t>
            </a:r>
          </a:p>
        </p:txBody>
      </p:sp>
      <p:sp>
        <p:nvSpPr>
          <p:cNvPr id="17" name="TextBox 16"/>
          <p:cNvSpPr txBox="1"/>
          <p:nvPr/>
        </p:nvSpPr>
        <p:spPr>
          <a:xfrm>
            <a:off x="6492240" y="4617720"/>
            <a:ext cx="4754880" cy="1554480"/>
          </a:xfrm>
          <a:prstGeom prst="rect">
            <a:avLst/>
          </a:prstGeom>
          <a:noFill/>
        </p:spPr>
        <p:txBody>
          <a:bodyPr wrap="square">
            <a:spAutoFit/>
          </a:bodyPr>
          <a:lstStyle/>
          <a:p>
            <a:pPr>
              <a:defRPr sz="1100" b="1">
                <a:solidFill>
                  <a:srgbClr val="F8FAFC"/>
                </a:solidFill>
                <a:latin typeface="Segoe UI"/>
              </a:defRPr>
            </a:pPr>
            <a:r>
              <a:t>• Thread Affinity: </a:t>
            </a:r>
            <a:r>
              <a:rPr sz="1050" b="0">
                <a:solidFill>
                  <a:srgbClr val="94A3B8"/>
                </a:solidFill>
                <a:latin typeface="Segoe UI"/>
              </a:rPr>
              <a:t>The OS scheduler binds threads to CPU cores physically close to the thread's allocated memory.</a:t>
            </a:r>
          </a:p>
          <a:p>
            <a:pPr>
              <a:spcBef>
                <a:spcPts val="300"/>
              </a:spcBef>
              <a:defRPr sz="1100" b="1">
                <a:solidFill>
                  <a:srgbClr val="F8FAFC"/>
                </a:solidFill>
                <a:latin typeface="Segoe UI"/>
              </a:defRPr>
            </a:pPr>
            <a:r>
              <a:t>• Locality-Aware Allocation: </a:t>
            </a:r>
            <a:r>
              <a:rPr sz="1050" b="0">
                <a:solidFill>
                  <a:srgbClr val="94A3B8"/>
                </a:solidFill>
                <a:latin typeface="Segoe UI"/>
              </a:rPr>
              <a:t>Memory managers prioritize allocating physical frames from the local NUMA node.</a:t>
            </a:r>
          </a:p>
        </p:txBody>
      </p:sp>
      <p:sp>
        <p:nvSpPr>
          <p:cNvPr id="18" name="TextBox 17"/>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ACT III: MULTIPROCESSORS, I/O &amp; ARCHITECTURE</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14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Clustered Systems &amp; Computing Environments</a:t>
            </a:r>
          </a:p>
          <a:p>
            <a:pPr>
              <a:spcBef>
                <a:spcPts val="200"/>
              </a:spcBef>
              <a:defRPr sz="1200">
                <a:solidFill>
                  <a:srgbClr val="38BDF8"/>
                </a:solidFill>
                <a:latin typeface="Segoe UI"/>
              </a:defRPr>
            </a:pPr>
            <a:r>
              <a:t>Loosely Coupled Systems &amp; Operating System Environments (Silberschatz Overview)</a:t>
            </a:r>
          </a:p>
        </p:txBody>
      </p:sp>
      <p:sp>
        <p:nvSpPr>
          <p:cNvPr id="6" name="Rounded Rectangle 5"/>
          <p:cNvSpPr/>
          <p:nvPr/>
        </p:nvSpPr>
        <p:spPr>
          <a:xfrm>
            <a:off x="731520" y="1645920"/>
            <a:ext cx="5212080" cy="457200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45720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4846320" cy="365760"/>
          </a:xfrm>
          <a:prstGeom prst="rect">
            <a:avLst/>
          </a:prstGeom>
          <a:noFill/>
        </p:spPr>
        <p:txBody>
          <a:bodyPr wrap="square" lIns="0" tIns="0" rIns="0" bIns="0">
            <a:spAutoFit/>
          </a:bodyPr>
          <a:lstStyle/>
          <a:p>
            <a:pPr>
              <a:defRPr sz="1300" b="1">
                <a:solidFill>
                  <a:srgbClr val="38BDF8"/>
                </a:solidFill>
                <a:latin typeface="Segoe UI"/>
              </a:defRPr>
            </a:pPr>
            <a:r>
              <a:t>Clustered Systems (Silberschatz Definition)</a:t>
            </a:r>
          </a:p>
        </p:txBody>
      </p:sp>
      <p:sp>
        <p:nvSpPr>
          <p:cNvPr id="9" name="TextBox 8"/>
          <p:cNvSpPr txBox="1"/>
          <p:nvPr/>
        </p:nvSpPr>
        <p:spPr>
          <a:xfrm>
            <a:off x="1005840" y="2011680"/>
            <a:ext cx="4754880" cy="4023360"/>
          </a:xfrm>
          <a:prstGeom prst="rect">
            <a:avLst/>
          </a:prstGeom>
          <a:noFill/>
        </p:spPr>
        <p:txBody>
          <a:bodyPr wrap="square">
            <a:spAutoFit/>
          </a:bodyPr>
          <a:lstStyle/>
          <a:p>
            <a:pPr>
              <a:defRPr sz="1100" b="1">
                <a:solidFill>
                  <a:srgbClr val="F8FAFC"/>
                </a:solidFill>
                <a:latin typeface="Segoe UI"/>
              </a:defRPr>
            </a:pPr>
            <a:r>
              <a:t>• Loosely Coupled Nodes:</a:t>
            </a:r>
            <a:br/>
            <a:r>
              <a:rPr sz="1050" b="0">
                <a:solidFill>
                  <a:srgbClr val="94A3B8"/>
                </a:solidFill>
                <a:latin typeface="Segoe UI"/>
              </a:rPr>
              <a:t>Two or more individual computer systems/nodes connected via a high-speed network or LAN.</a:t>
            </a:r>
          </a:p>
          <a:p>
            <a:pPr>
              <a:spcBef>
                <a:spcPts val="400"/>
              </a:spcBef>
              <a:defRPr sz="1100" b="1">
                <a:solidFill>
                  <a:srgbClr val="F8FAFC"/>
                </a:solidFill>
                <a:latin typeface="Segoe UI"/>
              </a:defRPr>
            </a:pPr>
            <a:r>
              <a:t>• Shared Storage (SAN):</a:t>
            </a:r>
            <a:br/>
            <a:r>
              <a:rPr sz="1050" b="0">
                <a:solidFill>
                  <a:srgbClr val="94A3B8"/>
                </a:solidFill>
                <a:latin typeface="Segoe UI"/>
              </a:rPr>
              <a:t>Nodes typically share data across a Storage Area Network, providing uniform data access.</a:t>
            </a:r>
          </a:p>
          <a:p>
            <a:pPr>
              <a:spcBef>
                <a:spcPts val="400"/>
              </a:spcBef>
              <a:defRPr sz="1100" b="1">
                <a:solidFill>
                  <a:srgbClr val="F8FAFC"/>
                </a:solidFill>
                <a:latin typeface="Segoe UI"/>
              </a:defRPr>
            </a:pPr>
            <a:r>
              <a:t>• High Availability &amp; Fault Tolerance:</a:t>
            </a:r>
            <a:br/>
            <a:r>
              <a:rPr sz="1050" b="0">
                <a:solidFill>
                  <a:srgbClr val="94A3B8"/>
                </a:solidFill>
                <a:latin typeface="Segoe UI"/>
              </a:rPr>
              <a:t>Failure of any individual node does not interrupt service; remaining nodes take over the workload.</a:t>
            </a:r>
          </a:p>
          <a:p>
            <a:pPr>
              <a:spcBef>
                <a:spcPts val="400"/>
              </a:spcBef>
              <a:defRPr sz="1100" b="1">
                <a:solidFill>
                  <a:srgbClr val="F8FAFC"/>
                </a:solidFill>
                <a:latin typeface="Segoe UI"/>
              </a:defRPr>
            </a:pPr>
            <a:r>
              <a:t>• Asymmetric Clustering:</a:t>
            </a:r>
            <a:br/>
            <a:r>
              <a:rPr sz="1050" b="0">
                <a:solidFill>
                  <a:srgbClr val="94A3B8"/>
                </a:solidFill>
                <a:latin typeface="Segoe UI"/>
              </a:rPr>
              <a:t>One machine runs applications while another remains in hot-standby mode monitoring the active server.</a:t>
            </a:r>
          </a:p>
          <a:p>
            <a:pPr>
              <a:spcBef>
                <a:spcPts val="400"/>
              </a:spcBef>
              <a:defRPr sz="1100" b="1">
                <a:solidFill>
                  <a:srgbClr val="F8FAFC"/>
                </a:solidFill>
                <a:latin typeface="Segoe UI"/>
              </a:defRPr>
            </a:pPr>
            <a:r>
              <a:t>• Symmetric Clustering:</a:t>
            </a:r>
            <a:br/>
            <a:r>
              <a:rPr sz="1050" b="0">
                <a:solidFill>
                  <a:srgbClr val="94A3B8"/>
                </a:solidFill>
                <a:latin typeface="Segoe UI"/>
              </a:rPr>
              <a:t>Multiple nodes run applications concurrently while monitoring each other for failure.</a:t>
            </a:r>
          </a:p>
        </p:txBody>
      </p:sp>
      <p:sp>
        <p:nvSpPr>
          <p:cNvPr id="10" name="Rounded Rectangle 9"/>
          <p:cNvSpPr/>
          <p:nvPr/>
        </p:nvSpPr>
        <p:spPr>
          <a:xfrm>
            <a:off x="6217920" y="1645920"/>
            <a:ext cx="5212080" cy="4572000"/>
          </a:xfrm>
          <a:prstGeom prst="roundRect">
            <a:avLst/>
          </a:prstGeom>
          <a:solidFill>
            <a:srgbClr val="151C2C"/>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645920"/>
            <a:ext cx="109728" cy="45720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783080"/>
            <a:ext cx="4846320" cy="365760"/>
          </a:xfrm>
          <a:prstGeom prst="rect">
            <a:avLst/>
          </a:prstGeom>
          <a:noFill/>
        </p:spPr>
        <p:txBody>
          <a:bodyPr wrap="square" lIns="0" tIns="0" rIns="0" bIns="0">
            <a:spAutoFit/>
          </a:bodyPr>
          <a:lstStyle/>
          <a:p>
            <a:pPr>
              <a:defRPr sz="1300" b="1">
                <a:solidFill>
                  <a:srgbClr val="818CF8"/>
                </a:solidFill>
                <a:latin typeface="Segoe UI"/>
              </a:defRPr>
            </a:pPr>
            <a:r>
              <a:t>Diverse Computing Environments</a:t>
            </a:r>
          </a:p>
        </p:txBody>
      </p:sp>
      <p:sp>
        <p:nvSpPr>
          <p:cNvPr id="13" name="TextBox 12"/>
          <p:cNvSpPr txBox="1"/>
          <p:nvPr/>
        </p:nvSpPr>
        <p:spPr>
          <a:xfrm>
            <a:off x="6492240" y="2011680"/>
            <a:ext cx="4754880" cy="4023360"/>
          </a:xfrm>
          <a:prstGeom prst="rect">
            <a:avLst/>
          </a:prstGeom>
          <a:noFill/>
        </p:spPr>
        <p:txBody>
          <a:bodyPr wrap="square">
            <a:spAutoFit/>
          </a:bodyPr>
          <a:lstStyle/>
          <a:p>
            <a:pPr>
              <a:defRPr sz="1100" b="1">
                <a:solidFill>
                  <a:srgbClr val="F8FAFC"/>
                </a:solidFill>
                <a:latin typeface="Segoe UI"/>
              </a:defRPr>
            </a:pPr>
            <a:r>
              <a:t>• Traditional / Desktop Computing:</a:t>
            </a:r>
            <a:br/>
            <a:r>
              <a:rPr sz="1050" b="0">
                <a:solidFill>
                  <a:srgbClr val="94A3B8"/>
                </a:solidFill>
                <a:latin typeface="Segoe UI"/>
              </a:rPr>
              <a:t>Stand-alone PCs, laptops, and dedicated web/file servers running general-purpose multitasking OSes.</a:t>
            </a:r>
          </a:p>
          <a:p>
            <a:pPr>
              <a:spcBef>
                <a:spcPts val="400"/>
              </a:spcBef>
              <a:defRPr sz="1100" b="1">
                <a:solidFill>
                  <a:srgbClr val="F8FAFC"/>
                </a:solidFill>
                <a:latin typeface="Segoe UI"/>
              </a:defRPr>
            </a:pPr>
            <a:r>
              <a:t>• Mobile Computing:</a:t>
            </a:r>
            <a:br/>
            <a:r>
              <a:rPr sz="1050" b="0">
                <a:solidFill>
                  <a:srgbClr val="94A3B8"/>
                </a:solidFill>
                <a:latin typeface="Segoe UI"/>
              </a:rPr>
              <a:t>Smartphones and tablets with power-aware OSes (iOS/Android), wireless radios, and touch/sensor interfaces.</a:t>
            </a:r>
          </a:p>
          <a:p>
            <a:pPr>
              <a:spcBef>
                <a:spcPts val="400"/>
              </a:spcBef>
              <a:defRPr sz="1100" b="1">
                <a:solidFill>
                  <a:srgbClr val="F8FAFC"/>
                </a:solidFill>
                <a:latin typeface="Segoe UI"/>
              </a:defRPr>
            </a:pPr>
            <a:r>
              <a:t>• Distributed Systems:</a:t>
            </a:r>
            <a:br/>
            <a:r>
              <a:rPr sz="1050" b="0">
                <a:solidFill>
                  <a:srgbClr val="94A3B8"/>
                </a:solidFill>
                <a:latin typeface="Segoe UI"/>
              </a:rPr>
              <a:t>Networked collection of physically separate computational nodes presenting a unified system view.</a:t>
            </a:r>
          </a:p>
          <a:p>
            <a:pPr>
              <a:spcBef>
                <a:spcPts val="400"/>
              </a:spcBef>
              <a:defRPr sz="1100" b="1">
                <a:solidFill>
                  <a:srgbClr val="F8FAFC"/>
                </a:solidFill>
                <a:latin typeface="Segoe UI"/>
              </a:defRPr>
            </a:pPr>
            <a:r>
              <a:t>• Cloud Computing:</a:t>
            </a:r>
            <a:br/>
            <a:r>
              <a:rPr sz="1050" b="0">
                <a:solidFill>
                  <a:srgbClr val="94A3B8"/>
                </a:solidFill>
                <a:latin typeface="Segoe UI"/>
              </a:rPr>
              <a:t>Delivers computation, storage, and networking as an on-demand utility via virtualization across server clusters.</a:t>
            </a:r>
          </a:p>
          <a:p>
            <a:pPr>
              <a:spcBef>
                <a:spcPts val="400"/>
              </a:spcBef>
              <a:defRPr sz="1100" b="1">
                <a:solidFill>
                  <a:srgbClr val="F8FAFC"/>
                </a:solidFill>
                <a:latin typeface="Segoe UI"/>
              </a:defRPr>
            </a:pPr>
            <a:r>
              <a:t>• Embedded &amp; Real-Time Systems:</a:t>
            </a:r>
            <a:br/>
            <a:r>
              <a:rPr sz="1050" b="0">
                <a:solidFill>
                  <a:srgbClr val="94A3B8"/>
                </a:solidFill>
                <a:latin typeface="Segoe UI"/>
              </a:rPr>
              <a:t>Specialized hardware (automotive, IoT, medical) where tasks must execute within rigid timing constraints.</a:t>
            </a:r>
          </a:p>
        </p:txBody>
      </p:sp>
      <p:sp>
        <p:nvSpPr>
          <p:cNvPr id="14" name="TextBox 13"/>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ounded Rectangle 1"/>
          <p:cNvSpPr/>
          <p:nvPr/>
        </p:nvSpPr>
        <p:spPr>
          <a:xfrm>
            <a:off x="731520" y="365760"/>
            <a:ext cx="2560320" cy="347472"/>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38BDF8"/>
                </a:solidFill>
                <a:latin typeface="Segoe UI"/>
              </a:defRPr>
            </a:pPr>
            <a:r>
              <a:t>SYNTHESIS &amp; CONCLUSION</a:t>
            </a:r>
          </a:p>
        </p:txBody>
      </p:sp>
      <p:sp>
        <p:nvSpPr>
          <p:cNvPr id="3" name="Rounded Rectangle 2"/>
          <p:cNvSpPr/>
          <p:nvPr/>
        </p:nvSpPr>
        <p:spPr>
          <a:xfrm>
            <a:off x="7863840" y="365760"/>
            <a:ext cx="2468880" cy="347472"/>
          </a:xfrm>
          <a:prstGeom prst="roundRect">
            <a:avLst/>
          </a:prstGeom>
          <a:solidFill>
            <a:srgbClr val="1E293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18CF8"/>
                </a:solidFill>
                <a:latin typeface="Segoe UI"/>
              </a:defRPr>
            </a:pPr>
            <a:r>
              <a:t>SPEAKER: V. RAM CHARAN · VEDHANTH · LOCHAN</a:t>
            </a:r>
          </a:p>
        </p:txBody>
      </p:sp>
      <p:sp>
        <p:nvSpPr>
          <p:cNvPr id="4" name="Rounded Rectangle 3"/>
          <p:cNvSpPr/>
          <p:nvPr/>
        </p:nvSpPr>
        <p:spPr>
          <a:xfrm>
            <a:off x="10469880" y="365760"/>
            <a:ext cx="1005840" cy="347472"/>
          </a:xfrm>
          <a:prstGeom prst="roundRect">
            <a:avLst/>
          </a:prstGeom>
          <a:solidFill>
            <a:srgbClr val="1E293B"/>
          </a:solidFill>
          <a:ln w="12700">
            <a:solidFill>
              <a:srgbClr val="2A36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94A3B8"/>
                </a:solidFill>
                <a:latin typeface="Segoe UI"/>
              </a:defRPr>
            </a:pPr>
            <a:r>
              <a:t>15 / 15</a:t>
            </a:r>
          </a:p>
        </p:txBody>
      </p:sp>
      <p:sp>
        <p:nvSpPr>
          <p:cNvPr id="5" name="TextBox 4"/>
          <p:cNvSpPr txBox="1"/>
          <p:nvPr/>
        </p:nvSpPr>
        <p:spPr>
          <a:xfrm>
            <a:off x="731520" y="777240"/>
            <a:ext cx="10728655" cy="731520"/>
          </a:xfrm>
          <a:prstGeom prst="rect">
            <a:avLst/>
          </a:prstGeom>
          <a:noFill/>
        </p:spPr>
        <p:txBody>
          <a:bodyPr wrap="square" lIns="0" tIns="0" rIns="0" bIns="0">
            <a:spAutoFit/>
          </a:bodyPr>
          <a:lstStyle/>
          <a:p>
            <a:pPr>
              <a:defRPr sz="2200" b="1">
                <a:solidFill>
                  <a:srgbClr val="F8FAFC"/>
                </a:solidFill>
                <a:latin typeface="Segoe UI"/>
              </a:defRPr>
            </a:pPr>
            <a:r>
              <a:t>Complete Architecture &amp; Key Takeaways</a:t>
            </a:r>
          </a:p>
          <a:p>
            <a:pPr>
              <a:spcBef>
                <a:spcPts val="200"/>
              </a:spcBef>
              <a:defRPr sz="1200">
                <a:solidFill>
                  <a:srgbClr val="38BDF8"/>
                </a:solidFill>
                <a:latin typeface="Segoe UI"/>
              </a:defRPr>
            </a:pPr>
            <a:r>
              <a:t>The Grand Synthesis &amp; Interactive Discussion (Silberschatz Chapter 1 Summary)</a:t>
            </a:r>
          </a:p>
        </p:txBody>
      </p:sp>
      <p:sp>
        <p:nvSpPr>
          <p:cNvPr id="6" name="Rounded Rectangle 5"/>
          <p:cNvSpPr/>
          <p:nvPr/>
        </p:nvSpPr>
        <p:spPr>
          <a:xfrm>
            <a:off x="731520" y="1645920"/>
            <a:ext cx="5212080" cy="4572000"/>
          </a:xfrm>
          <a:prstGeom prst="roundRect">
            <a:avLst/>
          </a:prstGeom>
          <a:solidFill>
            <a:srgbClr val="151C2C"/>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645920"/>
            <a:ext cx="109728" cy="45720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83080"/>
            <a:ext cx="4846320" cy="365760"/>
          </a:xfrm>
          <a:prstGeom prst="rect">
            <a:avLst/>
          </a:prstGeom>
          <a:noFill/>
        </p:spPr>
        <p:txBody>
          <a:bodyPr wrap="square" lIns="0" tIns="0" rIns="0" bIns="0">
            <a:spAutoFit/>
          </a:bodyPr>
          <a:lstStyle/>
          <a:p>
            <a:pPr>
              <a:defRPr sz="1300" b="1">
                <a:solidFill>
                  <a:srgbClr val="38BDF8"/>
                </a:solidFill>
                <a:latin typeface="Segoe UI"/>
              </a:defRPr>
            </a:pPr>
            <a:r>
              <a:t>The Complete Computer-System Stack</a:t>
            </a:r>
          </a:p>
        </p:txBody>
      </p:sp>
      <p:sp>
        <p:nvSpPr>
          <p:cNvPr id="9" name="TextBox 8"/>
          <p:cNvSpPr txBox="1"/>
          <p:nvPr/>
        </p:nvSpPr>
        <p:spPr>
          <a:xfrm>
            <a:off x="1005840" y="2011680"/>
            <a:ext cx="4754880" cy="4023360"/>
          </a:xfrm>
          <a:prstGeom prst="rect">
            <a:avLst/>
          </a:prstGeom>
          <a:noFill/>
        </p:spPr>
        <p:txBody>
          <a:bodyPr wrap="square">
            <a:spAutoFit/>
          </a:bodyPr>
          <a:lstStyle/>
          <a:p>
            <a:pPr>
              <a:defRPr sz="1150" b="1">
                <a:solidFill>
                  <a:srgbClr val="38BDF8"/>
                </a:solidFill>
                <a:latin typeface="Segoe UI"/>
              </a:defRPr>
            </a:pPr>
            <a:r>
              <a:t>▼ USERS</a:t>
            </a:r>
            <a:br/>
            <a:r>
              <a:rPr sz="1050" b="0">
                <a:solidFill>
                  <a:srgbClr val="94A3B8"/>
                </a:solidFill>
                <a:latin typeface="Segoe UI"/>
              </a:rPr>
              <a:t>People, programs, and machines requesting computation</a:t>
            </a:r>
          </a:p>
          <a:p>
            <a:pPr>
              <a:spcBef>
                <a:spcPts val="600"/>
              </a:spcBef>
              <a:defRPr sz="1150" b="1">
                <a:solidFill>
                  <a:srgbClr val="818CF8"/>
                </a:solidFill>
                <a:latin typeface="Segoe UI"/>
              </a:defRPr>
            </a:pPr>
            <a:r>
              <a:t>▼ APPLICATION PROGRAMS</a:t>
            </a:r>
            <a:br/>
            <a:r>
              <a:rPr sz="1050" b="0">
                <a:solidFill>
                  <a:srgbClr val="94A3B8"/>
                </a:solidFill>
                <a:latin typeface="Segoe UI"/>
              </a:rPr>
              <a:t>Compilers, DBMS, Browsers solving user problems</a:t>
            </a:r>
          </a:p>
          <a:p>
            <a:pPr>
              <a:spcBef>
                <a:spcPts val="600"/>
              </a:spcBef>
              <a:defRPr sz="1150" b="1">
                <a:solidFill>
                  <a:srgbClr val="34D399"/>
                </a:solidFill>
                <a:latin typeface="Segoe UI"/>
              </a:defRPr>
            </a:pPr>
            <a:r>
              <a:t>▼ OPERATING SYSTEM</a:t>
            </a:r>
            <a:br/>
            <a:r>
              <a:rPr sz="1050" b="0">
                <a:solidFill>
                  <a:srgbClr val="94A3B8"/>
                </a:solidFill>
                <a:latin typeface="Segoe UI"/>
              </a:rPr>
              <a:t>Process Management | Memory Management
I/O Subsystem | Resource Allocation &amp; Control</a:t>
            </a:r>
          </a:p>
          <a:p>
            <a:pPr>
              <a:spcBef>
                <a:spcPts val="600"/>
              </a:spcBef>
              <a:defRPr sz="1150" b="1">
                <a:solidFill>
                  <a:srgbClr val="F59E0B"/>
                </a:solidFill>
                <a:latin typeface="Segoe UI"/>
              </a:defRPr>
            </a:pPr>
            <a:r>
              <a:t>▼ COMPUTER HARDWARE</a:t>
            </a:r>
            <a:br/>
            <a:r>
              <a:rPr sz="1050" b="0">
                <a:solidFill>
                  <a:srgbClr val="94A3B8"/>
                </a:solidFill>
                <a:latin typeface="Segoe UI"/>
              </a:rPr>
              <a:t>CPU / Multicore Cores | Main Memory (RAM)
Storage Devices | I/O Controllers &amp; Buses</a:t>
            </a:r>
          </a:p>
        </p:txBody>
      </p:sp>
      <p:sp>
        <p:nvSpPr>
          <p:cNvPr id="10" name="Rounded Rectangle 9"/>
          <p:cNvSpPr/>
          <p:nvPr/>
        </p:nvSpPr>
        <p:spPr>
          <a:xfrm>
            <a:off x="6217920" y="1645920"/>
            <a:ext cx="5212080" cy="2926080"/>
          </a:xfrm>
          <a:prstGeom prst="roundRect">
            <a:avLst/>
          </a:prstGeom>
          <a:solidFill>
            <a:srgbClr val="151C2C"/>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783080"/>
            <a:ext cx="4846320" cy="365760"/>
          </a:xfrm>
          <a:prstGeom prst="rect">
            <a:avLst/>
          </a:prstGeom>
          <a:noFill/>
        </p:spPr>
        <p:txBody>
          <a:bodyPr wrap="square" lIns="0" tIns="0" rIns="0" bIns="0">
            <a:spAutoFit/>
          </a:bodyPr>
          <a:lstStyle/>
          <a:p>
            <a:pPr>
              <a:defRPr sz="1300" b="1">
                <a:solidFill>
                  <a:srgbClr val="34D399"/>
                </a:solidFill>
                <a:latin typeface="Segoe UI"/>
              </a:defRPr>
            </a:pPr>
            <a:r>
              <a:t>Four Fundamental Takeaways</a:t>
            </a:r>
          </a:p>
        </p:txBody>
      </p:sp>
      <p:sp>
        <p:nvSpPr>
          <p:cNvPr id="13" name="TextBox 12"/>
          <p:cNvSpPr txBox="1"/>
          <p:nvPr/>
        </p:nvSpPr>
        <p:spPr>
          <a:xfrm>
            <a:off x="6492240" y="2011680"/>
            <a:ext cx="4754880" cy="2468880"/>
          </a:xfrm>
          <a:prstGeom prst="rect">
            <a:avLst/>
          </a:prstGeom>
          <a:noFill/>
        </p:spPr>
        <p:txBody>
          <a:bodyPr wrap="square">
            <a:spAutoFit/>
          </a:bodyPr>
          <a:lstStyle/>
          <a:p>
            <a:pPr>
              <a:defRPr sz="1050" b="1">
                <a:solidFill>
                  <a:srgbClr val="F8FAFC"/>
                </a:solidFill>
                <a:latin typeface="Segoe UI"/>
              </a:defRPr>
            </a:pPr>
            <a:r>
              <a:t>1. Hardware Provides Resources: </a:t>
            </a:r>
            <a:r>
              <a:rPr sz="1000" b="0">
                <a:solidFill>
                  <a:srgbClr val="94A3B8"/>
                </a:solidFill>
                <a:latin typeface="Segoe UI"/>
              </a:rPr>
              <a:t>CPU executes instructions; Memory holds active state; I/O connects peripherals.</a:t>
            </a:r>
          </a:p>
          <a:p>
            <a:pPr>
              <a:spcBef>
                <a:spcPts val="300"/>
              </a:spcBef>
              <a:defRPr sz="1050" b="1">
                <a:solidFill>
                  <a:srgbClr val="F8FAFC"/>
                </a:solidFill>
                <a:latin typeface="Segoe UI"/>
              </a:defRPr>
            </a:pPr>
            <a:r>
              <a:t>2. The OS Coordinates &amp; Controls: </a:t>
            </a:r>
            <a:r>
              <a:rPr sz="1000" b="0">
                <a:solidFill>
                  <a:srgbClr val="94A3B8"/>
                </a:solidFill>
                <a:latin typeface="Segoe UI"/>
              </a:rPr>
              <a:t>Acts as Resource Allocator (fairness/efficiency) and Control Program (safety).</a:t>
            </a:r>
          </a:p>
          <a:p>
            <a:pPr>
              <a:spcBef>
                <a:spcPts val="300"/>
              </a:spcBef>
              <a:defRPr sz="1050" b="1">
                <a:solidFill>
                  <a:srgbClr val="F8FAFC"/>
                </a:solidFill>
                <a:latin typeface="Segoe UI"/>
              </a:defRPr>
            </a:pPr>
            <a:r>
              <a:t>3. Interrupts &amp; Syscalls Bridge Layers: </a:t>
            </a:r>
            <a:r>
              <a:rPr sz="1000" b="0">
                <a:solidFill>
                  <a:srgbClr val="94A3B8"/>
                </a:solidFill>
                <a:latin typeface="Segoe UI"/>
              </a:rPr>
              <a:t>Hardware interrupts signal devices; traps and syscalls allow safe kernel access.</a:t>
            </a:r>
          </a:p>
          <a:p>
            <a:pPr>
              <a:spcBef>
                <a:spcPts val="300"/>
              </a:spcBef>
              <a:defRPr sz="1050" b="1">
                <a:solidFill>
                  <a:srgbClr val="F8FAFC"/>
                </a:solidFill>
                <a:latin typeface="Segoe UI"/>
              </a:defRPr>
            </a:pPr>
            <a:r>
              <a:t>4. Dual-Mode Protection Enforces Safety: </a:t>
            </a:r>
            <a:r>
              <a:rPr sz="1000" b="0">
                <a:solidFill>
                  <a:srgbClr val="94A3B8"/>
                </a:solidFill>
                <a:latin typeface="Segoe UI"/>
              </a:rPr>
              <a:t>Mode Bit (0/1) and privileged instructions isolate the kernel from user errors.</a:t>
            </a:r>
          </a:p>
        </p:txBody>
      </p:sp>
      <p:sp>
        <p:nvSpPr>
          <p:cNvPr id="14" name="Rounded Rectangle 13"/>
          <p:cNvSpPr/>
          <p:nvPr/>
        </p:nvSpPr>
        <p:spPr>
          <a:xfrm>
            <a:off x="6217920" y="4663440"/>
            <a:ext cx="5212080" cy="1554480"/>
          </a:xfrm>
          <a:prstGeom prst="roundRect">
            <a:avLst/>
          </a:prstGeom>
          <a:solidFill>
            <a:srgbClr val="1E293B"/>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17920" y="4663440"/>
            <a:ext cx="109728" cy="15544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800600"/>
            <a:ext cx="4846320" cy="365760"/>
          </a:xfrm>
          <a:prstGeom prst="rect">
            <a:avLst/>
          </a:prstGeom>
          <a:noFill/>
        </p:spPr>
        <p:txBody>
          <a:bodyPr wrap="square" lIns="0" tIns="0" rIns="0" bIns="0">
            <a:spAutoFit/>
          </a:bodyPr>
          <a:lstStyle/>
          <a:p>
            <a:pPr>
              <a:defRPr sz="1300" b="1">
                <a:solidFill>
                  <a:srgbClr val="818CF8"/>
                </a:solidFill>
                <a:latin typeface="Segoe UI"/>
              </a:defRPr>
            </a:pPr>
            <a:r>
              <a:t>Thank You  •  Questions &amp; Discussion</a:t>
            </a:r>
          </a:p>
        </p:txBody>
      </p:sp>
      <p:sp>
        <p:nvSpPr>
          <p:cNvPr id="17" name="TextBox 16"/>
          <p:cNvSpPr txBox="1"/>
          <p:nvPr/>
        </p:nvSpPr>
        <p:spPr>
          <a:xfrm>
            <a:off x="6492240" y="4892040"/>
            <a:ext cx="4754880" cy="1188720"/>
          </a:xfrm>
          <a:prstGeom prst="rect">
            <a:avLst/>
          </a:prstGeom>
          <a:noFill/>
        </p:spPr>
        <p:txBody>
          <a:bodyPr wrap="square">
            <a:spAutoFit/>
          </a:bodyPr>
          <a:lstStyle/>
          <a:p>
            <a:pPr>
              <a:defRPr sz="1000" b="1">
                <a:solidFill>
                  <a:srgbClr val="38BDF8"/>
                </a:solidFill>
                <a:latin typeface="Segoe UI"/>
              </a:defRPr>
            </a:pPr>
            <a:r>
              <a:t>PRESENTED BY:</a:t>
            </a:r>
          </a:p>
          <a:p>
            <a:pPr>
              <a:spcBef>
                <a:spcPts val="200"/>
              </a:spcBef>
              <a:defRPr sz="1200" b="1">
                <a:solidFill>
                  <a:srgbClr val="F8FAFC"/>
                </a:solidFill>
                <a:latin typeface="Segoe UI"/>
              </a:defRPr>
            </a:pPr>
            <a:r>
              <a:t>V. RAM CHARAN   •   VEDHANTH   •   LOCHAN</a:t>
            </a:r>
          </a:p>
          <a:p>
            <a:pPr>
              <a:spcBef>
                <a:spcPts val="400"/>
              </a:spcBef>
              <a:defRPr sz="1050" i="1">
                <a:solidFill>
                  <a:srgbClr val="34D399"/>
                </a:solidFill>
                <a:latin typeface="Segoe UI"/>
              </a:defRPr>
            </a:pPr>
            <a:r>
              <a:t>We welcome any questions on Computer System Architecture!</a:t>
            </a:r>
          </a:p>
        </p:txBody>
      </p:sp>
      <p:sp>
        <p:nvSpPr>
          <p:cNvPr id="18" name="TextBox 17"/>
          <p:cNvSpPr txBox="1"/>
          <p:nvPr/>
        </p:nvSpPr>
        <p:spPr>
          <a:xfrm>
            <a:off x="731520" y="6446520"/>
            <a:ext cx="10728655" cy="274320"/>
          </a:xfrm>
          <a:prstGeom prst="rect">
            <a:avLst/>
          </a:prstGeom>
          <a:noFill/>
        </p:spPr>
        <p:txBody>
          <a:bodyPr wrap="square" lIns="0" tIns="0" rIns="0" bIns="0">
            <a:spAutoFit/>
          </a:bodyPr>
          <a:lstStyle/>
          <a:p>
            <a:pPr>
              <a:defRPr sz="850">
                <a:solidFill>
                  <a:srgbClr val="64748B"/>
                </a:solidFill>
                <a:latin typeface="Segoe UI"/>
              </a:defRPr>
            </a:pPr>
            <a:r>
              <a:t>Primary Reference: Silberschatz, Galvin &amp; Gagne — Operating System Concepts, 10th Edition (2018), Chapter 1</a:t>
            </a:r>
          </a:p>
        </p:txBody>
      </p:sp>
    </p:spTree>
  </p:cSld>
  <p:clrMapOvr>
    <a:masterClrMapping/>
  </p:clrMapOvr>
  <p:transition spd="med">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